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373" r:id="rId2"/>
    <p:sldId id="369" r:id="rId3"/>
    <p:sldId id="370" r:id="rId4"/>
    <p:sldId id="371" r:id="rId5"/>
    <p:sldId id="262" r:id="rId6"/>
    <p:sldId id="259" r:id="rId7"/>
    <p:sldId id="260" r:id="rId8"/>
    <p:sldId id="258" r:id="rId9"/>
    <p:sldId id="256" r:id="rId10"/>
    <p:sldId id="257" r:id="rId11"/>
    <p:sldId id="279" r:id="rId12"/>
    <p:sldId id="366" r:id="rId13"/>
    <p:sldId id="376" r:id="rId14"/>
    <p:sldId id="375" r:id="rId15"/>
    <p:sldId id="367" r:id="rId16"/>
    <p:sldId id="374" r:id="rId17"/>
    <p:sldId id="368" r:id="rId18"/>
    <p:sldId id="377" r:id="rId19"/>
    <p:sldId id="378" r:id="rId20"/>
    <p:sldId id="379" r:id="rId21"/>
    <p:sldId id="391" r:id="rId22"/>
    <p:sldId id="384" r:id="rId23"/>
    <p:sldId id="392" r:id="rId24"/>
    <p:sldId id="380" r:id="rId25"/>
    <p:sldId id="393" r:id="rId26"/>
    <p:sldId id="382" r:id="rId27"/>
    <p:sldId id="383" r:id="rId28"/>
    <p:sldId id="390" r:id="rId29"/>
    <p:sldId id="385" r:id="rId30"/>
    <p:sldId id="386" r:id="rId31"/>
    <p:sldId id="387" r:id="rId32"/>
    <p:sldId id="388" r:id="rId33"/>
    <p:sldId id="389" r:id="rId34"/>
  </p:sldIdLst>
  <p:sldSz cx="12192000" cy="6858000"/>
  <p:notesSz cx="6858000" cy="9144000"/>
  <p:defaultTextStyle>
    <a:defPPr>
      <a:defRPr lang="en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30"/>
    <p:restoredTop sz="94626"/>
  </p:normalViewPr>
  <p:slideViewPr>
    <p:cSldViewPr snapToGrid="0">
      <p:cViewPr varScale="1">
        <p:scale>
          <a:sx n="121" d="100"/>
          <a:sy n="121" d="100"/>
        </p:scale>
        <p:origin x="4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D07B51-EC01-C440-867B-64CF1E03224C}" type="datetimeFigureOut">
              <a:rPr lang="en-TR" smtClean="0"/>
              <a:t>27.02.2026</a:t>
            </a:fld>
            <a:endParaRPr lang="en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2BD2D4-E231-6446-9499-717DB20DD641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228905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D0849-3C54-9070-3EA7-D2A71EF7FD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858AB8-B0B7-33A9-9800-CEEE558D6D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9FA04-32D2-AFD6-188B-11A25D84E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77B6D-058E-294A-80A2-8E2039B821F0}" type="datetimeFigureOut">
              <a:rPr lang="en-TR" smtClean="0"/>
              <a:t>27.02.2026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CCEE9-556F-002D-3AA2-A03B7BF6F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9C9DF-5143-D4CE-A2F8-371D734C9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27D26-8615-4E43-8445-B6ED8235692C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896352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265A8-AD37-D7F6-1C21-322DF3910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06459-013A-BAFE-09D8-4A897D986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02BDE-94CD-A42D-0D2A-7FAE035E5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77B6D-058E-294A-80A2-8E2039B821F0}" type="datetimeFigureOut">
              <a:rPr lang="en-TR" smtClean="0"/>
              <a:t>27.02.2026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4110E-8619-D687-6231-D79922557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DF31D-B31D-09A5-FF59-86697270F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27D26-8615-4E43-8445-B6ED8235692C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2120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50546-3B82-3FE9-D79D-C32911F11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B8CFC-242D-50B0-79C4-1483259E76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F5A14-203F-083B-62A7-E564BF1AF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77B6D-058E-294A-80A2-8E2039B821F0}" type="datetimeFigureOut">
              <a:rPr lang="en-TR" smtClean="0"/>
              <a:t>27.02.2026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74655-5195-38A8-B7B5-65FD03CC2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DC8B5-8891-424F-8F26-02CD83DCB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27D26-8615-4E43-8445-B6ED8235692C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965574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5456A-672B-C087-DFDB-4E4EE679F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9B378-AF16-7DB3-335A-64746DB68B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32CCF1-46AD-2C36-C478-A396CB26F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8CEB87-5A96-EEF9-11F0-35AD87092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77B6D-058E-294A-80A2-8E2039B821F0}" type="datetimeFigureOut">
              <a:rPr lang="en-TR" smtClean="0"/>
              <a:t>27.02.2026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7D748-77C5-BC20-90FB-63F734B87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2455C7-D8BB-E8EC-6A0B-582E8EC65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27D26-8615-4E43-8445-B6ED8235692C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142017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09FF3-6218-2278-84CD-B6576CDDE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BD827-6FDB-379F-6FBE-4FF4ED184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CF199-76BB-1CB4-CDCD-5FFF95C48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1CF59B-485B-B1FC-F0A4-532C6F7D8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B96F6-E1F6-2C4B-BC84-BB3E6B1138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5D5341-A57F-A170-F9EA-00D984E43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77B6D-058E-294A-80A2-8E2039B821F0}" type="datetimeFigureOut">
              <a:rPr lang="en-TR" smtClean="0"/>
              <a:t>27.02.2026</a:t>
            </a:fld>
            <a:endParaRPr lang="en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F6ACD-059A-EA05-9F63-DE5A12EF3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B23BE9-7ABD-77A0-9A4F-7A2A9DD69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27D26-8615-4E43-8445-B6ED8235692C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106340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381A5-8C6A-2A52-772F-A6199EA9E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29A040-5A82-F2A8-14FE-7991AAC64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77B6D-058E-294A-80A2-8E2039B821F0}" type="datetimeFigureOut">
              <a:rPr lang="en-TR" smtClean="0"/>
              <a:t>27.02.2026</a:t>
            </a:fld>
            <a:endParaRPr lang="en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CFCA32-9B5E-29E4-1C1B-0D876D734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50D1A4-9BEB-C5A1-0467-45BEFCBD4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27D26-8615-4E43-8445-B6ED8235692C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450472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74B224-ABDA-990D-2CD3-CB286F06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77B6D-058E-294A-80A2-8E2039B821F0}" type="datetimeFigureOut">
              <a:rPr lang="en-TR" smtClean="0"/>
              <a:t>27.02.2026</a:t>
            </a:fld>
            <a:endParaRPr lang="en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A26667-36A7-B97C-4D57-264E468BD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4AD36-7BA2-F727-6189-F0C25949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27D26-8615-4E43-8445-B6ED8235692C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515621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EBC70-8126-8B23-4602-5F827276B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40B1F-F845-0361-85BD-906C56C7E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C5EABE-3302-D080-479F-E366FC7B87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0184B-FD92-567E-8B4F-B8107E390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77B6D-058E-294A-80A2-8E2039B821F0}" type="datetimeFigureOut">
              <a:rPr lang="en-TR" smtClean="0"/>
              <a:t>27.02.2026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32D819-746E-70EE-0B05-497E9C2E7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B77FB-1E3B-8258-0864-5C90EA73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27D26-8615-4E43-8445-B6ED8235692C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673314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BD032-4553-50D6-F29C-2D1B3FE31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36CEAD-A166-D44C-B9EC-60B2E9DC6A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3F9C70-86AE-BA64-CF5F-0F33D53029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CAD99-F137-0707-B238-1B503BF99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77B6D-058E-294A-80A2-8E2039B821F0}" type="datetimeFigureOut">
              <a:rPr lang="en-TR" smtClean="0"/>
              <a:t>27.02.2026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1D443B-E8B8-478A-653C-741E34173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23FE5E-37A3-8FF9-403A-1F17603BA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27D26-8615-4E43-8445-B6ED8235692C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571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76179-7AD9-AB67-233D-D38145759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200DF9-B5B3-A4B6-FB1D-39AC2221C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03425-413E-64CD-A5F4-59F736E42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77B6D-058E-294A-80A2-8E2039B821F0}" type="datetimeFigureOut">
              <a:rPr lang="en-TR" smtClean="0"/>
              <a:t>27.02.2026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A116F-920A-9015-CAC6-3D7D67803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F215C-A049-118B-9FFB-97D2FE191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27D26-8615-4E43-8445-B6ED8235692C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308634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B2B06B-089F-4740-AC03-C1A34E0B10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68474D-C4AE-6940-5BDF-D678BB90A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150B9-4E25-57B7-D562-5C459C365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77B6D-058E-294A-80A2-8E2039B821F0}" type="datetimeFigureOut">
              <a:rPr lang="en-TR" smtClean="0"/>
              <a:t>27.02.2026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C83DB-5DED-1B3F-13D3-43A3F29BA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C5BA3-0F39-040D-B58E-233A95A1E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27D26-8615-4E43-8445-B6ED8235692C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552283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753DEB-9A48-08D6-90D2-7BD6474F6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9854B2-F599-6443-5A30-3EE354372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6A24C-4347-9089-7F50-B57CA8954F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77B6D-058E-294A-80A2-8E2039B821F0}" type="datetimeFigureOut">
              <a:rPr lang="en-TR" smtClean="0"/>
              <a:t>27.02.2026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BE34E-50A1-78FF-F6FF-4121D1C30A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13B8F-26BD-FAF5-E9C7-12D2A34BAB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927D26-8615-4E43-8445-B6ED8235692C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188488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C0C6-A3EF-4B37-8CE2-CD2CE56199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0883" y="3257141"/>
            <a:ext cx="9890234" cy="2387600"/>
          </a:xfrm>
        </p:spPr>
        <p:txBody>
          <a:bodyPr>
            <a:normAutofit fontScale="90000"/>
          </a:bodyPr>
          <a:lstStyle/>
          <a:p>
            <a:r>
              <a:rPr lang="en-TR" dirty="0"/>
              <a:t>BGK 601- </a:t>
            </a:r>
            <a:r>
              <a:rPr lang="en-US" dirty="0"/>
              <a:t>Bilgi </a:t>
            </a:r>
            <a:r>
              <a:rPr lang="en-US" dirty="0" err="1"/>
              <a:t>Güvenliği</a:t>
            </a:r>
            <a:r>
              <a:rPr lang="en-US" dirty="0"/>
              <a:t> </a:t>
            </a:r>
            <a:r>
              <a:rPr lang="en-US" dirty="0" err="1"/>
              <a:t>alanında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r>
              <a:rPr lang="en-US" dirty="0"/>
              <a:t> </a:t>
            </a:r>
            <a:r>
              <a:rPr lang="en-US" dirty="0" err="1"/>
              <a:t>Yöntemleri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veya</a:t>
            </a:r>
            <a:br>
              <a:rPr lang="en-US" dirty="0"/>
            </a:br>
            <a:br>
              <a:rPr lang="en-US" dirty="0"/>
            </a:br>
            <a:r>
              <a:rPr lang="en-TR" dirty="0"/>
              <a:t>Yapay Zeka Mühendisliği</a:t>
            </a:r>
            <a:br>
              <a:rPr lang="en-TR" dirty="0"/>
            </a:br>
            <a:endParaRPr lang="en-T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7B61D0-7BAF-6345-8872-80116E2662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872273"/>
            <a:ext cx="9144000" cy="1655762"/>
          </a:xfrm>
        </p:spPr>
        <p:txBody>
          <a:bodyPr/>
          <a:lstStyle/>
          <a:p>
            <a:r>
              <a:rPr lang="en-TR" dirty="0"/>
              <a:t>Prof. Dr. Kemal Bıçakcı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E7DD920-FE57-2D25-A8DA-DE904EE299D9}"/>
              </a:ext>
            </a:extLst>
          </p:cNvPr>
          <p:cNvSpPr txBox="1">
            <a:spLocks/>
          </p:cNvSpPr>
          <p:nvPr/>
        </p:nvSpPr>
        <p:spPr>
          <a:xfrm>
            <a:off x="1413642" y="3029608"/>
            <a:ext cx="9890234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32405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dirty="0"/>
              <a:t>Öz </a:t>
            </a:r>
            <a:r>
              <a:rPr lang="en-US" dirty="0" err="1"/>
              <a:t>Değerlendirme</a:t>
            </a:r>
            <a:r>
              <a:rPr lang="en-US" dirty="0"/>
              <a:t> </a:t>
            </a:r>
            <a:r>
              <a:rPr lang="en-US" dirty="0" err="1"/>
              <a:t>Soruları</a:t>
            </a:r>
            <a:endParaRPr dirty="0"/>
          </a:p>
        </p:txBody>
      </p:sp>
      <p:sp>
        <p:nvSpPr>
          <p:cNvPr id="98" name="Google Shape;98;p3"/>
          <p:cNvSpPr txBox="1">
            <a:spLocks noGrp="1"/>
          </p:cNvSpPr>
          <p:nvPr>
            <p:ph type="body" idx="1"/>
          </p:nvPr>
        </p:nvSpPr>
        <p:spPr>
          <a:xfrm>
            <a:off x="838200" y="226706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 err="1"/>
              <a:t>Benim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, </a:t>
            </a:r>
            <a:r>
              <a:rPr lang="en-US" dirty="0" err="1"/>
              <a:t>neden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dersi</a:t>
            </a:r>
            <a:r>
              <a:rPr lang="en-US" dirty="0"/>
              <a:t> </a:t>
            </a:r>
            <a:r>
              <a:rPr lang="en-US" dirty="0" err="1"/>
              <a:t>veriyorum</a:t>
            </a:r>
            <a:r>
              <a:rPr lang="en-US" dirty="0"/>
              <a:t>?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Sizin </a:t>
            </a:r>
            <a:r>
              <a:rPr lang="en-US" dirty="0" err="1"/>
              <a:t>açınızdan</a:t>
            </a:r>
            <a:r>
              <a:rPr lang="en-US" dirty="0"/>
              <a:t>: Bu </a:t>
            </a:r>
            <a:r>
              <a:rPr lang="en-US" dirty="0" err="1"/>
              <a:t>dersten</a:t>
            </a:r>
            <a:r>
              <a:rPr lang="en-US" dirty="0"/>
              <a:t> </a:t>
            </a:r>
            <a:r>
              <a:rPr lang="en-US" dirty="0" err="1"/>
              <a:t>beklentileriniz</a:t>
            </a:r>
            <a:r>
              <a:rPr lang="en-US" dirty="0"/>
              <a:t> </a:t>
            </a:r>
            <a:r>
              <a:rPr lang="en-US" dirty="0" err="1"/>
              <a:t>neler</a:t>
            </a:r>
            <a:r>
              <a:rPr lang="en-US" dirty="0"/>
              <a:t> </a:t>
            </a:r>
            <a:r>
              <a:rPr lang="en-US" dirty="0" err="1"/>
              <a:t>olmalı</a:t>
            </a:r>
            <a:r>
              <a:rPr lang="en-US" dirty="0"/>
              <a:t>?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Sizin </a:t>
            </a:r>
            <a:r>
              <a:rPr lang="en-US" dirty="0" err="1"/>
              <a:t>açınızdan</a:t>
            </a:r>
            <a:r>
              <a:rPr lang="en-US" dirty="0"/>
              <a:t>: Bu </a:t>
            </a:r>
            <a:r>
              <a:rPr lang="en-US" dirty="0" err="1"/>
              <a:t>dersten</a:t>
            </a:r>
            <a:r>
              <a:rPr lang="en-US" dirty="0"/>
              <a:t> </a:t>
            </a:r>
            <a:r>
              <a:rPr lang="en-US" dirty="0" err="1"/>
              <a:t>beklentileriniz</a:t>
            </a:r>
            <a:r>
              <a:rPr lang="en-US" dirty="0"/>
              <a:t> </a:t>
            </a:r>
            <a:r>
              <a:rPr lang="en-US" dirty="0" err="1"/>
              <a:t>neler</a:t>
            </a:r>
            <a:r>
              <a:rPr lang="en-US" dirty="0"/>
              <a:t> </a:t>
            </a:r>
            <a:r>
              <a:rPr lang="en-US" dirty="0" err="1"/>
              <a:t>olmaMAlı</a:t>
            </a:r>
            <a:r>
              <a:rPr lang="en-US" dirty="0"/>
              <a:t>?</a:t>
            </a: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66756" y="0"/>
            <a:ext cx="845848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09682" y="0"/>
            <a:ext cx="51726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6"/>
          <p:cNvSpPr txBox="1"/>
          <p:nvPr/>
        </p:nvSpPr>
        <p:spPr>
          <a:xfrm>
            <a:off x="319465" y="2458606"/>
            <a:ext cx="328481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tr-TR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Daha Önce Bu Ders için Kullandığım Kitap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r-TR" dirty="0" err="1"/>
              <a:t>Contents</a:t>
            </a:r>
            <a:r>
              <a:rPr lang="tr-TR" dirty="0"/>
              <a:t> (</a:t>
            </a:r>
            <a:r>
              <a:rPr lang="tr-TR" dirty="0" err="1"/>
              <a:t>Chapters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Book</a:t>
            </a:r>
            <a:r>
              <a:rPr lang="tr-TR" dirty="0"/>
              <a:t>)</a:t>
            </a:r>
            <a:endParaRPr dirty="0"/>
          </a:p>
        </p:txBody>
      </p:sp>
      <p:sp>
        <p:nvSpPr>
          <p:cNvPr id="127" name="Google Shape;127;p7"/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tr-TR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</a:t>
            </a:r>
            <a:r>
              <a:rPr lang="tr-T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Machine Learning </a:t>
            </a:r>
            <a:r>
              <a:rPr lang="tr-TR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tr-T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Security?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tr-TR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Classifying</a:t>
            </a:r>
            <a:r>
              <a:rPr lang="tr-T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tr-TR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tr-T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Clustering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tr-TR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Anomaly</a:t>
            </a:r>
            <a:r>
              <a:rPr lang="tr-T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tr-TR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Detection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tr-TR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Malware</a:t>
            </a:r>
            <a:r>
              <a:rPr lang="tr-T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Analysis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tr-T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</a:t>
            </a:r>
            <a:r>
              <a:rPr lang="tr-TR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Traffic</a:t>
            </a:r>
            <a:r>
              <a:rPr lang="tr-T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Analysis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tr-TR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Protecting</a:t>
            </a:r>
            <a:r>
              <a:rPr lang="tr-T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tr-TR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tr-T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Consumer Web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tr-TR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Production</a:t>
            </a:r>
            <a:r>
              <a:rPr lang="tr-T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tr-TR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Systems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tr-TR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Adversarial</a:t>
            </a:r>
            <a:r>
              <a:rPr lang="tr-T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Machine Learning</a:t>
            </a:r>
            <a:endParaRPr dirty="0"/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D723E-E2E0-9340-E533-2E70580D2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49000" cy="1325563"/>
          </a:xfrm>
        </p:spPr>
        <p:txBody>
          <a:bodyPr>
            <a:normAutofit/>
          </a:bodyPr>
          <a:lstStyle/>
          <a:p>
            <a:r>
              <a:rPr lang="en-TR" sz="4800" dirty="0"/>
              <a:t>Bu Dönem?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AB1EF-3A1B-0E1E-E415-A77001D06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dirty="0"/>
              <a:t>2020 – 2026 yılları arasında ne değişti?</a:t>
            </a:r>
          </a:p>
          <a:p>
            <a:r>
              <a:rPr lang="en-TR" dirty="0"/>
              <a:t>Durum değerlendirmesi </a:t>
            </a:r>
          </a:p>
          <a:p>
            <a:pPr lvl="1"/>
            <a:r>
              <a:rPr lang="en-TR" dirty="0"/>
              <a:t>Güvenlikte Makine Öğrenme uygulamalarında zorluklar ve fırsatlar</a:t>
            </a:r>
          </a:p>
          <a:p>
            <a:pPr lvl="1"/>
            <a:r>
              <a:rPr lang="en-TR" dirty="0"/>
              <a:t>Discriminative AI’ın (Klasik ML’in) sınırları</a:t>
            </a:r>
          </a:p>
          <a:p>
            <a:pPr lvl="1"/>
            <a:r>
              <a:rPr lang="en-TR" dirty="0"/>
              <a:t>Generative AI – Temel Model (Foundation Model) tabanlı AI</a:t>
            </a:r>
          </a:p>
          <a:p>
            <a:r>
              <a:rPr lang="en-TR" dirty="0"/>
              <a:t>Ders kapsamı</a:t>
            </a:r>
          </a:p>
          <a:p>
            <a:pPr lvl="1"/>
            <a:r>
              <a:rPr lang="en-TR" dirty="0"/>
              <a:t>Makine Öğrenme – Temel Anlayış</a:t>
            </a:r>
          </a:p>
          <a:p>
            <a:pPr lvl="1"/>
            <a:r>
              <a:rPr lang="en-TR" dirty="0"/>
              <a:t>Foundation Models </a:t>
            </a:r>
          </a:p>
          <a:p>
            <a:pPr lvl="1"/>
            <a:r>
              <a:rPr lang="en-TR" dirty="0"/>
              <a:t>Güvenlik ve Yapay Zeka</a:t>
            </a:r>
          </a:p>
          <a:p>
            <a:pPr lvl="2"/>
            <a:r>
              <a:rPr lang="en-TR" dirty="0"/>
              <a:t>Akademik Makaleler / Öğrenci Sunumları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6060629-058D-0C4D-2C90-9F57A4255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5913" y="3626069"/>
            <a:ext cx="2371287" cy="3111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6710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45B93-0FAC-78A4-D48F-0F144F9A4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Notlandırma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12A8A-B9F6-BF60-DED5-A77325169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dirty="0"/>
              <a:t>Quizler: %20</a:t>
            </a:r>
          </a:p>
          <a:p>
            <a:r>
              <a:rPr lang="en-TR" dirty="0"/>
              <a:t>Sunum: %40</a:t>
            </a:r>
          </a:p>
          <a:p>
            <a:r>
              <a:rPr lang="en-TR" dirty="0"/>
              <a:t>Proje: %40</a:t>
            </a:r>
          </a:p>
        </p:txBody>
      </p:sp>
    </p:spTree>
    <p:extLst>
      <p:ext uri="{BB962C8B-B14F-4D97-AF65-F5344CB8AC3E}">
        <p14:creationId xmlns:p14="http://schemas.microsoft.com/office/powerpoint/2010/main" val="2572275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2515B-8C42-3BC9-9075-10F251229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Dersin İlk Büyük Sorusu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CC551-0FEC-C6DC-6EC8-817CD3EFE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zekâ</a:t>
            </a:r>
            <a:r>
              <a:rPr lang="en-US" dirty="0"/>
              <a:t> </a:t>
            </a:r>
            <a:r>
              <a:rPr lang="en-US" dirty="0" err="1"/>
              <a:t>neden</a:t>
            </a:r>
            <a:r>
              <a:rPr lang="en-US" dirty="0"/>
              <a:t> </a:t>
            </a:r>
            <a:r>
              <a:rPr lang="en-US" dirty="0" err="1"/>
              <a:t>siber</a:t>
            </a:r>
            <a:r>
              <a:rPr lang="en-US" dirty="0"/>
              <a:t> </a:t>
            </a:r>
            <a:r>
              <a:rPr lang="en-US" dirty="0" err="1"/>
              <a:t>güvenlikte</a:t>
            </a:r>
            <a:r>
              <a:rPr lang="en-US" dirty="0"/>
              <a:t> </a:t>
            </a:r>
            <a:r>
              <a:rPr lang="en-US" dirty="0" err="1"/>
              <a:t>beklenen</a:t>
            </a:r>
            <a:r>
              <a:rPr lang="en-US" dirty="0"/>
              <a:t> </a:t>
            </a:r>
            <a:r>
              <a:rPr lang="en-US" dirty="0" err="1"/>
              <a:t>etkiyi</a:t>
            </a:r>
            <a:r>
              <a:rPr lang="en-US" dirty="0"/>
              <a:t> </a:t>
            </a:r>
            <a:r>
              <a:rPr lang="en-US" dirty="0" err="1"/>
              <a:t>uzun</a:t>
            </a:r>
            <a:r>
              <a:rPr lang="en-US" dirty="0"/>
              <a:t> </a:t>
            </a:r>
            <a:r>
              <a:rPr lang="en-US" dirty="0" err="1"/>
              <a:t>süre</a:t>
            </a:r>
            <a:r>
              <a:rPr lang="en-US" dirty="0"/>
              <a:t> </a:t>
            </a:r>
            <a:r>
              <a:rPr lang="en-US" dirty="0" err="1"/>
              <a:t>gösteremedi</a:t>
            </a:r>
            <a:r>
              <a:rPr lang="en-US" dirty="0"/>
              <a:t>?</a:t>
            </a:r>
          </a:p>
          <a:p>
            <a:r>
              <a:rPr lang="en-US" dirty="0"/>
              <a:t>Vaka </a:t>
            </a:r>
            <a:r>
              <a:rPr lang="en-US" dirty="0" err="1"/>
              <a:t>Çalışması</a:t>
            </a:r>
            <a:r>
              <a:rPr lang="en-US" dirty="0"/>
              <a:t> (Case Study)</a:t>
            </a:r>
          </a:p>
          <a:p>
            <a:pPr lvl="1"/>
            <a:r>
              <a:rPr lang="en-US" dirty="0"/>
              <a:t>ML 1990’lardan </a:t>
            </a:r>
            <a:r>
              <a:rPr lang="en-US" dirty="0" err="1"/>
              <a:t>beri</a:t>
            </a:r>
            <a:r>
              <a:rPr lang="en-US" dirty="0"/>
              <a:t> var.</a:t>
            </a:r>
          </a:p>
          <a:p>
            <a:pPr lvl="1"/>
            <a:r>
              <a:rPr lang="en-US" dirty="0"/>
              <a:t>NIDS (</a:t>
            </a:r>
            <a:r>
              <a:rPr lang="en-US" dirty="0" err="1"/>
              <a:t>Ağ</a:t>
            </a:r>
            <a:r>
              <a:rPr lang="en-US" dirty="0"/>
              <a:t> </a:t>
            </a:r>
            <a:r>
              <a:rPr lang="en-US" dirty="0" err="1"/>
              <a:t>Tabanlı</a:t>
            </a:r>
            <a:r>
              <a:rPr lang="en-US" dirty="0"/>
              <a:t> </a:t>
            </a:r>
            <a:r>
              <a:rPr lang="en-US" dirty="0" err="1"/>
              <a:t>Saldırı</a:t>
            </a:r>
            <a:r>
              <a:rPr lang="en-US" dirty="0"/>
              <a:t> </a:t>
            </a:r>
            <a:r>
              <a:rPr lang="en-US" dirty="0" err="1"/>
              <a:t>Tespit</a:t>
            </a:r>
            <a:r>
              <a:rPr lang="en-US" dirty="0"/>
              <a:t> </a:t>
            </a:r>
            <a:r>
              <a:rPr lang="en-US" dirty="0" err="1"/>
              <a:t>Sistemleri</a:t>
            </a:r>
            <a:r>
              <a:rPr lang="en-US" dirty="0"/>
              <a:t>) </a:t>
            </a:r>
            <a:r>
              <a:rPr lang="en-US" dirty="0" err="1"/>
              <a:t>onlarca</a:t>
            </a:r>
            <a:r>
              <a:rPr lang="en-US" dirty="0"/>
              <a:t> </a:t>
            </a:r>
            <a:r>
              <a:rPr lang="en-US" dirty="0" err="1"/>
              <a:t>yıldır</a:t>
            </a:r>
            <a:r>
              <a:rPr lang="en-US" dirty="0"/>
              <a:t> </a:t>
            </a:r>
            <a:r>
              <a:rPr lang="en-US" dirty="0" err="1"/>
              <a:t>çalışılıyor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Ama NIDS </a:t>
            </a:r>
            <a:r>
              <a:rPr lang="en-US" dirty="0" err="1"/>
              <a:t>için</a:t>
            </a:r>
            <a:r>
              <a:rPr lang="en-US" dirty="0"/>
              <a:t> ML </a:t>
            </a:r>
            <a:r>
              <a:rPr lang="en-US" dirty="0" err="1"/>
              <a:t>pratikte</a:t>
            </a:r>
            <a:r>
              <a:rPr lang="en-US" dirty="0"/>
              <a:t> her </a:t>
            </a:r>
            <a:r>
              <a:rPr lang="en-US" dirty="0" err="1"/>
              <a:t>derde</a:t>
            </a:r>
            <a:r>
              <a:rPr lang="en-US" dirty="0"/>
              <a:t> deva </a:t>
            </a:r>
            <a:r>
              <a:rPr lang="en-US" dirty="0" err="1"/>
              <a:t>olmadı</a:t>
            </a:r>
            <a:r>
              <a:rPr lang="en-US" dirty="0"/>
              <a:t>.</a:t>
            </a:r>
          </a:p>
          <a:p>
            <a:r>
              <a:rPr lang="en-US" dirty="0" err="1">
                <a:solidFill>
                  <a:srgbClr val="FF0000"/>
                </a:solidFill>
              </a:rPr>
              <a:t>Tartışma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Sorusu</a:t>
            </a:r>
            <a:r>
              <a:rPr lang="en-US" dirty="0"/>
              <a:t>: </a:t>
            </a:r>
            <a:r>
              <a:rPr lang="en-TR" dirty="0"/>
              <a:t>Temel Model (Foundation Model) tabanlı AI bu durumu değiştirebilir mi?</a:t>
            </a:r>
            <a:endParaRPr lang="en-US" dirty="0"/>
          </a:p>
          <a:p>
            <a:pPr lvl="1"/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453970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9CE3F-8FB6-CD14-04D4-27221054DC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727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“</a:t>
            </a:r>
            <a:r>
              <a:rPr lang="en-US" i="1" dirty="0" err="1"/>
              <a:t>Kapalı</a:t>
            </a:r>
            <a:r>
              <a:rPr lang="en-US" i="1" dirty="0"/>
              <a:t> </a:t>
            </a:r>
            <a:r>
              <a:rPr lang="en-US" i="1" dirty="0" err="1"/>
              <a:t>Dünyanın</a:t>
            </a:r>
            <a:r>
              <a:rPr lang="en-US" i="1" dirty="0"/>
              <a:t> </a:t>
            </a:r>
            <a:r>
              <a:rPr lang="en-US" i="1" dirty="0" err="1"/>
              <a:t>Ötesinde</a:t>
            </a:r>
            <a:r>
              <a:rPr lang="en-US" i="1" dirty="0"/>
              <a:t>: </a:t>
            </a:r>
            <a:br>
              <a:rPr lang="en-US" i="1" dirty="0"/>
            </a:br>
            <a:r>
              <a:rPr lang="en-US" i="1" dirty="0" err="1"/>
              <a:t>Ağ</a:t>
            </a:r>
            <a:r>
              <a:rPr lang="en-US" i="1" dirty="0"/>
              <a:t> </a:t>
            </a:r>
            <a:r>
              <a:rPr lang="en-US" i="1" dirty="0" err="1"/>
              <a:t>Saldırı</a:t>
            </a:r>
            <a:r>
              <a:rPr lang="en-US" i="1" dirty="0"/>
              <a:t> </a:t>
            </a:r>
            <a:r>
              <a:rPr lang="en-US" i="1" dirty="0" err="1"/>
              <a:t>Tespitinde</a:t>
            </a:r>
            <a:r>
              <a:rPr lang="en-US" i="1" dirty="0"/>
              <a:t> </a:t>
            </a:r>
            <a:r>
              <a:rPr lang="en-US" i="1" dirty="0" err="1"/>
              <a:t>Makine</a:t>
            </a:r>
            <a:r>
              <a:rPr lang="en-US" i="1" dirty="0"/>
              <a:t> </a:t>
            </a:r>
            <a:r>
              <a:rPr lang="en-US" i="1" dirty="0" err="1"/>
              <a:t>Öğrenme</a:t>
            </a:r>
            <a:r>
              <a:rPr lang="en-US" i="1" dirty="0"/>
              <a:t> </a:t>
            </a:r>
            <a:r>
              <a:rPr lang="en-US" i="1" dirty="0" err="1"/>
              <a:t>Kullanımı</a:t>
            </a:r>
            <a:r>
              <a:rPr lang="en-US" i="1" dirty="0"/>
              <a:t> </a:t>
            </a:r>
            <a:r>
              <a:rPr lang="en-US" i="1" dirty="0" err="1"/>
              <a:t>Üzerine</a:t>
            </a:r>
            <a:r>
              <a:rPr lang="en-US" dirty="0"/>
              <a:t>”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Makale </a:t>
            </a:r>
            <a:r>
              <a:rPr lang="en-US" dirty="0" err="1"/>
              <a:t>İncelemesi</a:t>
            </a:r>
            <a:endParaRPr lang="en-T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A80C88-E90E-E2E2-90F0-C68498B470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16134"/>
            <a:ext cx="9144000" cy="1655762"/>
          </a:xfrm>
        </p:spPr>
        <p:txBody>
          <a:bodyPr/>
          <a:lstStyle/>
          <a:p>
            <a:r>
              <a:rPr lang="en-TR" dirty="0"/>
              <a:t>Prof. Dr. Kemal Bıçakcı</a:t>
            </a:r>
          </a:p>
        </p:txBody>
      </p:sp>
    </p:spTree>
    <p:extLst>
      <p:ext uri="{BB962C8B-B14F-4D97-AF65-F5344CB8AC3E}">
        <p14:creationId xmlns:p14="http://schemas.microsoft.com/office/powerpoint/2010/main" val="1065011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1A9E54-205E-42FD-DA6F-BF90A5C50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133" y="178054"/>
            <a:ext cx="10075287" cy="34690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E017EB-1A41-B5C6-867B-C780331B2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576" y="4394526"/>
            <a:ext cx="7772400" cy="1747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736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B7B9559-F2AD-424C-B8D9-4A77EAF6A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IDS Metodolojileri</a:t>
            </a:r>
            <a:endParaRPr lang="en-US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937C9B5C-C742-400A-8C17-782B5EE42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956" y="1690688"/>
            <a:ext cx="9029564" cy="469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235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E0BB2C0-5C60-4CF8-8F2E-4ACD233A5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IDS Yaklaşımları</a:t>
            </a:r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28DD2600-0718-4D59-81F8-5A35F8EFC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574" y="1495379"/>
            <a:ext cx="9029846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846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309D2-1108-84AE-2D00-4C4F6395F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NIDS konusunda ML uygulama zorlukları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5E0ED9C-1C43-30F8-747B-9E48C58A64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68820" y="1881199"/>
            <a:ext cx="869372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TR" altLang="en-TR" dirty="0"/>
              <a:t> Aykırı Değer Tespiti (Outlier Detection)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TR" altLang="en-T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TR" altLang="en-TR" dirty="0"/>
              <a:t> Hataların Yüksek Maliyeti (High Cost of Errors)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TR" altLang="en-T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TR" altLang="en-TR" dirty="0"/>
              <a:t> Anlamsal Boşluk (Semantic Gap)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TR" altLang="en-T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TR" altLang="en-TR" dirty="0"/>
              <a:t> Ağ Trafiğinin Çeşitliliği (Diversity of Network Traffic)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TR" altLang="en-T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TR" altLang="en-TR" dirty="0"/>
              <a:t> Değerlendirmedeki Zorluklar (Difficulties with Evaluation)</a:t>
            </a:r>
          </a:p>
        </p:txBody>
      </p:sp>
    </p:spTree>
    <p:extLst>
      <p:ext uri="{BB962C8B-B14F-4D97-AF65-F5344CB8AC3E}">
        <p14:creationId xmlns:p14="http://schemas.microsoft.com/office/powerpoint/2010/main" val="2834521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6525C-C51A-9982-6961-46F4B76D0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altLang="en-TR" dirty="0"/>
              <a:t>Aykırı Değer Tespiti vs. </a:t>
            </a:r>
            <a:r>
              <a:rPr lang="en-TR" dirty="0"/>
              <a:t>Sınıflandırma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73793-A7BD-DC44-7A33-6D1CBB13B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dirty="0"/>
              <a:t>ML Yöntemleri Sınıflandırma problemlerinde iyi çalışır.</a:t>
            </a:r>
          </a:p>
          <a:p>
            <a:r>
              <a:rPr lang="en-TR" dirty="0"/>
              <a:t>Klasik başarı örneği: Spam (çöp) posta tespiti</a:t>
            </a:r>
          </a:p>
        </p:txBody>
      </p:sp>
    </p:spTree>
    <p:extLst>
      <p:ext uri="{BB962C8B-B14F-4D97-AF65-F5344CB8AC3E}">
        <p14:creationId xmlns:p14="http://schemas.microsoft.com/office/powerpoint/2010/main" val="115492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31635-DFE1-B029-3B2C-F1D2CAF98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NIDS bir Sınıflandırma Problemi Midir?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2D58DC-695F-2959-C353-53438A8084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4227" y="1711336"/>
            <a:ext cx="847396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TR" altLang="en-TR" dirty="0"/>
              <a:t> Normal trafik vs. saldırı trafiği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TR" altLang="en-T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TR" altLang="en-TR" dirty="0"/>
              <a:t> Denetimli Öğrenme (Supervised learning)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TR" altLang="en-T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TR" altLang="en-TR" dirty="0"/>
              <a:t> Etiketli veri kümeleri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TR" altLang="en-T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TR" altLang="en-TR" dirty="0"/>
              <a:t> “Sabit” saldırı sınıfları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TR" altLang="en-T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TR" altLang="en-TR" dirty="0"/>
              <a:t>Cevap: Çoğu zaman Hayır</a:t>
            </a:r>
          </a:p>
        </p:txBody>
      </p:sp>
    </p:spTree>
    <p:extLst>
      <p:ext uri="{BB962C8B-B14F-4D97-AF65-F5344CB8AC3E}">
        <p14:creationId xmlns:p14="http://schemas.microsoft.com/office/powerpoint/2010/main" val="1211962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4734C-6E1D-BCF0-B50E-3BD63E9A0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Anomali Tespiti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502D5-3BC7-A48C-532F-35FEF4EE8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öğrenmenin</a:t>
            </a:r>
            <a:r>
              <a:rPr lang="en-US" dirty="0"/>
              <a:t> </a:t>
            </a:r>
            <a:r>
              <a:rPr lang="en-US" dirty="0" err="1"/>
              <a:t>temel</a:t>
            </a:r>
            <a:r>
              <a:rPr lang="en-US" dirty="0"/>
              <a:t> </a:t>
            </a:r>
            <a:r>
              <a:rPr lang="en-US" dirty="0" err="1"/>
              <a:t>kurallarından</a:t>
            </a:r>
            <a:r>
              <a:rPr lang="en-US" dirty="0"/>
              <a:t> </a:t>
            </a:r>
            <a:r>
              <a:rPr lang="en-US" dirty="0" err="1"/>
              <a:t>biri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sınıflara</a:t>
            </a:r>
            <a:r>
              <a:rPr lang="en-US" dirty="0"/>
              <a:t> </a:t>
            </a:r>
            <a:r>
              <a:rPr lang="en-US" dirty="0" err="1"/>
              <a:t>ait</a:t>
            </a:r>
            <a:r>
              <a:rPr lang="en-US" dirty="0"/>
              <a:t> </a:t>
            </a:r>
            <a:r>
              <a:rPr lang="en-US" dirty="0" err="1"/>
              <a:t>örneklerle</a:t>
            </a:r>
            <a:r>
              <a:rPr lang="en-US" dirty="0"/>
              <a:t> </a:t>
            </a:r>
            <a:r>
              <a:rPr lang="en-US" dirty="0" err="1"/>
              <a:t>eğitilmesi</a:t>
            </a:r>
            <a:r>
              <a:rPr lang="en-US" dirty="0"/>
              <a:t> </a:t>
            </a:r>
            <a:r>
              <a:rPr lang="en-US" dirty="0" err="1"/>
              <a:t>gerektiğidir</a:t>
            </a:r>
            <a:r>
              <a:rPr lang="en-US" dirty="0"/>
              <a:t>.</a:t>
            </a:r>
          </a:p>
          <a:p>
            <a:r>
              <a:rPr lang="en-US" dirty="0" err="1"/>
              <a:t>Eğitim</a:t>
            </a:r>
            <a:r>
              <a:rPr lang="en-US" dirty="0"/>
              <a:t> </a:t>
            </a:r>
            <a:r>
              <a:rPr lang="en-US" dirty="0" err="1"/>
              <a:t>kümesinde</a:t>
            </a:r>
            <a:r>
              <a:rPr lang="en-US" dirty="0"/>
              <a:t> her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sınıf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yer</a:t>
            </a:r>
            <a:r>
              <a:rPr lang="en-US" dirty="0"/>
              <a:t> </a:t>
            </a:r>
            <a:r>
              <a:rPr lang="en-US" dirty="0" err="1"/>
              <a:t>alan</a:t>
            </a:r>
            <a:r>
              <a:rPr lang="en-US" dirty="0"/>
              <a:t> </a:t>
            </a:r>
            <a:r>
              <a:rPr lang="en-US" dirty="0" err="1"/>
              <a:t>temsilci</a:t>
            </a:r>
            <a:r>
              <a:rPr lang="en-US" dirty="0"/>
              <a:t> </a:t>
            </a:r>
            <a:r>
              <a:rPr lang="en-US" dirty="0" err="1"/>
              <a:t>sayısının</a:t>
            </a:r>
            <a:r>
              <a:rPr lang="en-US" dirty="0"/>
              <a:t>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olması</a:t>
            </a:r>
            <a:r>
              <a:rPr lang="en-US" dirty="0"/>
              <a:t> </a:t>
            </a:r>
            <a:r>
              <a:rPr lang="en-US" dirty="0" err="1"/>
              <a:t>kritik</a:t>
            </a:r>
            <a:r>
              <a:rPr lang="en-US" dirty="0"/>
              <a:t> </a:t>
            </a:r>
            <a:r>
              <a:rPr lang="en-US" dirty="0" err="1"/>
              <a:t>öneme</a:t>
            </a:r>
            <a:r>
              <a:rPr lang="en-US" dirty="0"/>
              <a:t> </a:t>
            </a:r>
            <a:r>
              <a:rPr lang="en-US" dirty="0" err="1"/>
              <a:t>sahiptir</a:t>
            </a:r>
            <a:r>
              <a:rPr lang="en-US" dirty="0"/>
              <a:t>. </a:t>
            </a:r>
          </a:p>
          <a:p>
            <a:r>
              <a:rPr lang="en-US" dirty="0" err="1"/>
              <a:t>Ancak</a:t>
            </a:r>
            <a:r>
              <a:rPr lang="en-US" dirty="0"/>
              <a:t> yeni (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görülmemiş</a:t>
            </a:r>
            <a:r>
              <a:rPr lang="en-US" dirty="0"/>
              <a:t>) </a:t>
            </a:r>
            <a:r>
              <a:rPr lang="en-US" dirty="0" err="1"/>
              <a:t>saldırıları</a:t>
            </a:r>
            <a:r>
              <a:rPr lang="en-US" dirty="0"/>
              <a:t> </a:t>
            </a:r>
            <a:r>
              <a:rPr lang="en-US" dirty="0" err="1"/>
              <a:t>tespit</a:t>
            </a:r>
            <a:r>
              <a:rPr lang="en-US" dirty="0"/>
              <a:t> </a:t>
            </a:r>
            <a:r>
              <a:rPr lang="en-US" dirty="0" err="1"/>
              <a:t>etmeyi</a:t>
            </a:r>
            <a:r>
              <a:rPr lang="en-US" dirty="0"/>
              <a:t> </a:t>
            </a:r>
            <a:r>
              <a:rPr lang="en-US" dirty="0" err="1"/>
              <a:t>amaçlayan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anomali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tespiti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yaklaşımında</a:t>
            </a:r>
            <a:r>
              <a:rPr lang="en-US" dirty="0"/>
              <a:t> </a:t>
            </a:r>
            <a:r>
              <a:rPr lang="en-US" dirty="0" err="1"/>
              <a:t>tanım</a:t>
            </a:r>
            <a:r>
              <a:rPr lang="en-US" dirty="0"/>
              <a:t> </a:t>
            </a:r>
            <a:r>
              <a:rPr lang="en-US" dirty="0" err="1"/>
              <a:t>gereği</a:t>
            </a:r>
            <a:r>
              <a:rPr lang="en-US" dirty="0"/>
              <a:t> </a:t>
            </a:r>
            <a:r>
              <a:rPr lang="en-US" dirty="0" err="1"/>
              <a:t>ilgilenilen</a:t>
            </a:r>
            <a:r>
              <a:rPr lang="en-US" dirty="0"/>
              <a:t> </a:t>
            </a:r>
            <a:r>
              <a:rPr lang="en-US" dirty="0" err="1"/>
              <a:t>saldırılar</a:t>
            </a:r>
            <a:r>
              <a:rPr lang="en-US" dirty="0"/>
              <a:t> </a:t>
            </a:r>
            <a:r>
              <a:rPr lang="en-US" dirty="0" err="1"/>
              <a:t>üzerinde</a:t>
            </a:r>
            <a:r>
              <a:rPr lang="en-US" dirty="0"/>
              <a:t> </a:t>
            </a:r>
            <a:r>
              <a:rPr lang="en-US" dirty="0" err="1"/>
              <a:t>eğitim</a:t>
            </a:r>
            <a:r>
              <a:rPr lang="en-US" dirty="0"/>
              <a:t> </a:t>
            </a:r>
            <a:r>
              <a:rPr lang="en-US" dirty="0" err="1"/>
              <a:t>yapmak</a:t>
            </a:r>
            <a:r>
              <a:rPr lang="en-US" dirty="0"/>
              <a:t> </a:t>
            </a:r>
            <a:r>
              <a:rPr lang="en-US" dirty="0" err="1"/>
              <a:t>mümkün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; </a:t>
            </a:r>
            <a:r>
              <a:rPr lang="en-US" dirty="0" err="1"/>
              <a:t>bunun</a:t>
            </a:r>
            <a:r>
              <a:rPr lang="en-US" dirty="0"/>
              <a:t> </a:t>
            </a:r>
            <a:r>
              <a:rPr lang="en-US" dirty="0" err="1"/>
              <a:t>yerine</a:t>
            </a:r>
            <a:r>
              <a:rPr lang="en-US" dirty="0"/>
              <a:t> </a:t>
            </a:r>
            <a:r>
              <a:rPr lang="en-US" dirty="0" err="1"/>
              <a:t>yalnızca</a:t>
            </a:r>
            <a:r>
              <a:rPr lang="en-US" dirty="0"/>
              <a:t> normal </a:t>
            </a:r>
            <a:r>
              <a:rPr lang="en-US" dirty="0" err="1"/>
              <a:t>trafik</a:t>
            </a:r>
            <a:r>
              <a:rPr lang="en-US" dirty="0"/>
              <a:t> </a:t>
            </a:r>
            <a:r>
              <a:rPr lang="en-US" dirty="0" err="1"/>
              <a:t>üzerinde</a:t>
            </a:r>
            <a:r>
              <a:rPr lang="en-US" dirty="0"/>
              <a:t> </a:t>
            </a:r>
            <a:r>
              <a:rPr lang="en-US" dirty="0" err="1"/>
              <a:t>eğitim</a:t>
            </a:r>
            <a:r>
              <a:rPr lang="en-US" dirty="0"/>
              <a:t> </a:t>
            </a:r>
            <a:r>
              <a:rPr lang="en-US" dirty="0" err="1"/>
              <a:t>yapılabilir</a:t>
            </a:r>
            <a:r>
              <a:rPr lang="en-US" dirty="0"/>
              <a:t>. </a:t>
            </a:r>
          </a:p>
          <a:p>
            <a:r>
              <a:rPr lang="en-US" dirty="0"/>
              <a:t>Bu </a:t>
            </a:r>
            <a:r>
              <a:rPr lang="en-US" dirty="0" err="1"/>
              <a:t>durumda</a:t>
            </a:r>
            <a:r>
              <a:rPr lang="en-US" dirty="0"/>
              <a:t>, yeni </a:t>
            </a:r>
            <a:r>
              <a:rPr lang="en-US" dirty="0" err="1"/>
              <a:t>gözlemlenen</a:t>
            </a:r>
            <a:r>
              <a:rPr lang="en-US" dirty="0"/>
              <a:t> </a:t>
            </a:r>
            <a:r>
              <a:rPr lang="en-US" dirty="0" err="1"/>
              <a:t>faaliyetlerin</a:t>
            </a:r>
            <a:r>
              <a:rPr lang="en-US" dirty="0"/>
              <a:t> </a:t>
            </a:r>
            <a:r>
              <a:rPr lang="en-US" dirty="0" err="1"/>
              <a:t>karşılaştırılabileceği</a:t>
            </a:r>
            <a:r>
              <a:rPr lang="en-US" dirty="0"/>
              <a:t> </a:t>
            </a:r>
            <a:r>
              <a:rPr lang="en-US" dirty="0" err="1"/>
              <a:t>yalnızca</a:t>
            </a:r>
            <a:r>
              <a:rPr lang="en-US" dirty="0"/>
              <a:t> </a:t>
            </a:r>
            <a:r>
              <a:rPr lang="en-US" dirty="0" err="1"/>
              <a:t>tek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kategori</a:t>
            </a:r>
            <a:r>
              <a:rPr lang="en-US" dirty="0"/>
              <a:t> (normal </a:t>
            </a:r>
            <a:r>
              <a:rPr lang="en-US" dirty="0" err="1"/>
              <a:t>davranış</a:t>
            </a:r>
            <a:r>
              <a:rPr lang="en-US" dirty="0"/>
              <a:t>) </a:t>
            </a:r>
            <a:r>
              <a:rPr lang="en-US" dirty="0" err="1"/>
              <a:t>bulunmaktadır</a:t>
            </a:r>
            <a:r>
              <a:rPr lang="en-US" dirty="0"/>
              <a:t>.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979438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883E8-27EB-7F92-3CB5-D41D5E07D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altLang="en-TR" dirty="0"/>
              <a:t>Hataların Yüksek Maliyeti</a:t>
            </a:r>
            <a:endParaRPr lang="en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92BAD-0F09-E1DF-45CE-2F860E438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dirty="0"/>
              <a:t>Baz Oran Yanılgısı (Base Rate Fallacy)</a:t>
            </a:r>
          </a:p>
          <a:p>
            <a:r>
              <a:rPr lang="en-US" dirty="0" err="1"/>
              <a:t>Diğer</a:t>
            </a:r>
            <a:r>
              <a:rPr lang="en-US" dirty="0"/>
              <a:t> ML </a:t>
            </a:r>
            <a:r>
              <a:rPr lang="en-US" dirty="0" err="1"/>
              <a:t>uygulamaları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karşılaştırıldığında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NIDS </a:t>
            </a:r>
            <a:r>
              <a:rPr lang="en-US" dirty="0" err="1"/>
              <a:t>anomali</a:t>
            </a:r>
            <a:r>
              <a:rPr lang="en-US" dirty="0"/>
              <a:t> </a:t>
            </a:r>
            <a:r>
              <a:rPr lang="en-US" dirty="0" err="1"/>
              <a:t>tespit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tolere</a:t>
            </a:r>
            <a:r>
              <a:rPr lang="en-US" dirty="0"/>
              <a:t> </a:t>
            </a:r>
            <a:r>
              <a:rPr lang="en-US" dirty="0" err="1"/>
              <a:t>edebileceği</a:t>
            </a:r>
            <a:r>
              <a:rPr lang="en-US" dirty="0"/>
              <a:t> </a:t>
            </a:r>
            <a:r>
              <a:rPr lang="en-US" dirty="0" err="1"/>
              <a:t>hata</a:t>
            </a:r>
            <a:r>
              <a:rPr lang="en-US" dirty="0"/>
              <a:t> </a:t>
            </a:r>
            <a:r>
              <a:rPr lang="en-US" dirty="0" err="1"/>
              <a:t>sayısı</a:t>
            </a:r>
            <a:r>
              <a:rPr lang="en-US" dirty="0"/>
              <a:t> </a:t>
            </a:r>
            <a:r>
              <a:rPr lang="en-US" dirty="0" err="1"/>
              <a:t>açısından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katı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sınırla</a:t>
            </a:r>
            <a:r>
              <a:rPr lang="en-US" dirty="0"/>
              <a:t> </a:t>
            </a:r>
            <a:r>
              <a:rPr lang="en-US" dirty="0" err="1"/>
              <a:t>karşı</a:t>
            </a:r>
            <a:r>
              <a:rPr lang="en-US" dirty="0"/>
              <a:t> </a:t>
            </a:r>
            <a:r>
              <a:rPr lang="en-US" dirty="0" err="1"/>
              <a:t>karşıyadır</a:t>
            </a:r>
            <a:r>
              <a:rPr lang="en-US" dirty="0"/>
              <a:t>.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541983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C9EC4-F218-9D39-CA0E-625111E8E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Anlamsal Boşluk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E3DAD-006A-5977-BEBC-15C3D9FD5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Anomali</a:t>
            </a:r>
            <a:r>
              <a:rPr lang="en-US" dirty="0"/>
              <a:t> </a:t>
            </a:r>
            <a:r>
              <a:rPr lang="en-US" dirty="0" err="1"/>
              <a:t>tespit</a:t>
            </a:r>
            <a:r>
              <a:rPr lang="en-US" dirty="0"/>
              <a:t> </a:t>
            </a:r>
            <a:r>
              <a:rPr lang="en-US" dirty="0" err="1"/>
              <a:t>sistemleri</a:t>
            </a:r>
            <a:r>
              <a:rPr lang="en-US" dirty="0"/>
              <a:t>, </a:t>
            </a:r>
            <a:r>
              <a:rPr lang="en-US" dirty="0" err="1"/>
              <a:t>elde</a:t>
            </a:r>
            <a:r>
              <a:rPr lang="en-US" dirty="0"/>
              <a:t> </a:t>
            </a:r>
            <a:r>
              <a:rPr lang="en-US" dirty="0" err="1"/>
              <a:t>ettikleri</a:t>
            </a:r>
            <a:r>
              <a:rPr lang="en-US" dirty="0"/>
              <a:t> </a:t>
            </a:r>
            <a:r>
              <a:rPr lang="en-US" dirty="0" err="1"/>
              <a:t>sonuçları</a:t>
            </a:r>
            <a:r>
              <a:rPr lang="en-US" dirty="0"/>
              <a:t> </a:t>
            </a:r>
            <a:r>
              <a:rPr lang="en-US" dirty="0" err="1"/>
              <a:t>ağ</a:t>
            </a:r>
            <a:r>
              <a:rPr lang="en-US" dirty="0"/>
              <a:t> </a:t>
            </a:r>
            <a:r>
              <a:rPr lang="en-US" dirty="0" err="1"/>
              <a:t>operatörü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eyleme</a:t>
            </a:r>
            <a:r>
              <a:rPr lang="en-US" dirty="0"/>
              <a:t> </a:t>
            </a:r>
            <a:r>
              <a:rPr lang="en-US" dirty="0" err="1"/>
              <a:t>dönüştürülebilir</a:t>
            </a:r>
            <a:r>
              <a:rPr lang="en-US" dirty="0"/>
              <a:t> </a:t>
            </a:r>
            <a:r>
              <a:rPr lang="en-US" dirty="0" err="1"/>
              <a:t>raporlara</a:t>
            </a:r>
            <a:r>
              <a:rPr lang="en-US" dirty="0"/>
              <a:t> </a:t>
            </a:r>
            <a:r>
              <a:rPr lang="en-US" dirty="0" err="1"/>
              <a:t>aktarabilme</a:t>
            </a:r>
            <a:r>
              <a:rPr lang="en-US" dirty="0"/>
              <a:t> </a:t>
            </a:r>
            <a:r>
              <a:rPr lang="en-US" dirty="0" err="1"/>
              <a:t>konusunda</a:t>
            </a:r>
            <a:r>
              <a:rPr lang="en-US" dirty="0"/>
              <a:t> </a:t>
            </a:r>
            <a:r>
              <a:rPr lang="en-US" dirty="0" err="1"/>
              <a:t>temel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zorlukla</a:t>
            </a:r>
            <a:r>
              <a:rPr lang="en-US" dirty="0"/>
              <a:t> </a:t>
            </a:r>
            <a:r>
              <a:rPr lang="en-US" dirty="0" err="1"/>
              <a:t>karşı</a:t>
            </a:r>
            <a:r>
              <a:rPr lang="en-US" dirty="0"/>
              <a:t> </a:t>
            </a:r>
            <a:r>
              <a:rPr lang="en-US" dirty="0" err="1"/>
              <a:t>karşıyadır</a:t>
            </a:r>
            <a:r>
              <a:rPr lang="en-US" dirty="0"/>
              <a:t>.</a:t>
            </a:r>
          </a:p>
          <a:p>
            <a:r>
              <a:rPr lang="en-US" dirty="0"/>
              <a:t>Bu </a:t>
            </a:r>
            <a:r>
              <a:rPr lang="en-US" dirty="0" err="1"/>
              <a:t>tür</a:t>
            </a:r>
            <a:r>
              <a:rPr lang="en-US" dirty="0"/>
              <a:t> </a:t>
            </a:r>
            <a:r>
              <a:rPr lang="en-US" dirty="0" err="1"/>
              <a:t>sistemler</a:t>
            </a:r>
            <a:r>
              <a:rPr lang="en-US" dirty="0"/>
              <a:t>, </a:t>
            </a:r>
            <a:r>
              <a:rPr lang="en-US" dirty="0" err="1"/>
              <a:t>kötü</a:t>
            </a:r>
            <a:r>
              <a:rPr lang="en-US" dirty="0"/>
              <a:t> </a:t>
            </a:r>
            <a:r>
              <a:rPr lang="en-US" dirty="0" err="1"/>
              <a:t>niyetli</a:t>
            </a:r>
            <a:r>
              <a:rPr lang="en-US" dirty="0"/>
              <a:t> </a:t>
            </a:r>
            <a:r>
              <a:rPr lang="en-US" dirty="0" err="1"/>
              <a:t>davranışı</a:t>
            </a:r>
            <a:r>
              <a:rPr lang="en-US" dirty="0"/>
              <a:t> </a:t>
            </a:r>
            <a:r>
              <a:rPr lang="en-US" dirty="0" err="1"/>
              <a:t>tespit</a:t>
            </a:r>
            <a:r>
              <a:rPr lang="en-US" dirty="0"/>
              <a:t> </a:t>
            </a:r>
            <a:r>
              <a:rPr lang="en-US" dirty="0" err="1"/>
              <a:t>etmeyi</a:t>
            </a:r>
            <a:r>
              <a:rPr lang="en-US" dirty="0"/>
              <a:t> </a:t>
            </a:r>
            <a:r>
              <a:rPr lang="en-US" dirty="0" err="1"/>
              <a:t>hedeflemekten</a:t>
            </a:r>
            <a:r>
              <a:rPr lang="en-US" dirty="0"/>
              <a:t> </a:t>
            </a:r>
            <a:r>
              <a:rPr lang="en-US" dirty="0" err="1"/>
              <a:t>ziyade</a:t>
            </a:r>
            <a:r>
              <a:rPr lang="en-US" dirty="0"/>
              <a:t>, iyi </a:t>
            </a:r>
            <a:r>
              <a:rPr lang="en-US" dirty="0" err="1"/>
              <a:t>huylu</a:t>
            </a:r>
            <a:r>
              <a:rPr lang="en-US" dirty="0"/>
              <a:t> </a:t>
            </a:r>
            <a:r>
              <a:rPr lang="en-US" dirty="0" err="1"/>
              <a:t>olup</a:t>
            </a:r>
            <a:r>
              <a:rPr lang="en-US" dirty="0"/>
              <a:t> </a:t>
            </a:r>
            <a:r>
              <a:rPr lang="en-US" dirty="0" err="1"/>
              <a:t>olmadığına</a:t>
            </a:r>
            <a:r>
              <a:rPr lang="en-US" dirty="0"/>
              <a:t> </a:t>
            </a:r>
            <a:r>
              <a:rPr lang="en-US" dirty="0" err="1"/>
              <a:t>bakılmaksızın</a:t>
            </a:r>
            <a:r>
              <a:rPr lang="en-US" dirty="0"/>
              <a:t>,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görülmemiş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davranışları</a:t>
            </a:r>
            <a:r>
              <a:rPr lang="en-US" dirty="0"/>
              <a:t> </a:t>
            </a:r>
            <a:r>
              <a:rPr lang="en-US" dirty="0" err="1"/>
              <a:t>raporlamayı</a:t>
            </a:r>
            <a:r>
              <a:rPr lang="en-US" dirty="0"/>
              <a:t> </a:t>
            </a:r>
            <a:r>
              <a:rPr lang="en-US" dirty="0" err="1"/>
              <a:t>amaçlar</a:t>
            </a:r>
            <a:r>
              <a:rPr lang="en-US" dirty="0"/>
              <a:t>.</a:t>
            </a:r>
          </a:p>
          <a:p>
            <a:r>
              <a:rPr lang="en-US" dirty="0" err="1"/>
              <a:t>Anlamsal</a:t>
            </a:r>
            <a:r>
              <a:rPr lang="en-US" dirty="0"/>
              <a:t> </a:t>
            </a:r>
            <a:r>
              <a:rPr lang="en-US" dirty="0" err="1"/>
              <a:t>boşluk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alınırken</a:t>
            </a:r>
            <a:r>
              <a:rPr lang="en-US" dirty="0"/>
              <a:t> </a:t>
            </a:r>
            <a:r>
              <a:rPr lang="en-US" dirty="0" err="1"/>
              <a:t>dikkate</a:t>
            </a:r>
            <a:r>
              <a:rPr lang="en-US" dirty="0"/>
              <a:t> </a:t>
            </a:r>
            <a:r>
              <a:rPr lang="en-US" dirty="0" err="1"/>
              <a:t>alınması</a:t>
            </a:r>
            <a:r>
              <a:rPr lang="en-US" dirty="0"/>
              <a:t> </a:t>
            </a:r>
            <a:r>
              <a:rPr lang="en-US" dirty="0" err="1"/>
              <a:t>gereken</a:t>
            </a:r>
            <a:r>
              <a:rPr lang="en-US" dirty="0"/>
              <a:t> </a:t>
            </a:r>
            <a:r>
              <a:rPr lang="en-US" dirty="0" err="1"/>
              <a:t>hususlardan</a:t>
            </a:r>
            <a:r>
              <a:rPr lang="en-US" dirty="0"/>
              <a:t> </a:t>
            </a:r>
            <a:r>
              <a:rPr lang="en-US" dirty="0" err="1"/>
              <a:t>biri</a:t>
            </a:r>
            <a:r>
              <a:rPr lang="en-US" dirty="0"/>
              <a:t>, </a:t>
            </a:r>
            <a:r>
              <a:rPr lang="en-US" dirty="0" err="1"/>
              <a:t>yerel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güvenlik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politikalarının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dâhil</a:t>
            </a:r>
            <a:r>
              <a:rPr lang="en-US" dirty="0"/>
              <a:t> </a:t>
            </a:r>
            <a:r>
              <a:rPr lang="en-US" dirty="0" err="1"/>
              <a:t>edilmesidir</a:t>
            </a:r>
            <a:r>
              <a:rPr lang="en-US" dirty="0"/>
              <a:t>.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41291265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E8743-1242-57EC-C48A-9350CABED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altLang="en-TR" dirty="0"/>
              <a:t>Ağ Trafiğinin Çeşitliliği</a:t>
            </a:r>
            <a:endParaRPr lang="en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D3921-D292-8422-963F-DB5B07FE2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Ağ</a:t>
            </a:r>
            <a:r>
              <a:rPr lang="en-US" dirty="0"/>
              <a:t> </a:t>
            </a:r>
            <a:r>
              <a:rPr lang="en-US" dirty="0" err="1"/>
              <a:t>trafiği</a:t>
            </a:r>
            <a:r>
              <a:rPr lang="en-US" dirty="0"/>
              <a:t>, </a:t>
            </a:r>
            <a:r>
              <a:rPr lang="en-US" dirty="0" err="1"/>
              <a:t>insanların</a:t>
            </a:r>
            <a:r>
              <a:rPr lang="en-US" dirty="0"/>
              <a:t> </a:t>
            </a:r>
            <a:r>
              <a:rPr lang="en-US" dirty="0" err="1"/>
              <a:t>sezgisel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beklediğinden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fazla</a:t>
            </a:r>
            <a:r>
              <a:rPr lang="en-US" dirty="0"/>
              <a:t> </a:t>
            </a:r>
            <a:r>
              <a:rPr lang="en-US" dirty="0" err="1"/>
              <a:t>çeşitlilik</a:t>
            </a:r>
            <a:r>
              <a:rPr lang="en-US" dirty="0"/>
              <a:t> </a:t>
            </a:r>
            <a:r>
              <a:rPr lang="en-US" dirty="0" err="1"/>
              <a:t>sergiler</a:t>
            </a:r>
            <a:r>
              <a:rPr lang="en-US" dirty="0"/>
              <a:t>; </a:t>
            </a:r>
            <a:r>
              <a:rPr lang="en-US" dirty="0" err="1"/>
              <a:t>bu</a:t>
            </a:r>
            <a:r>
              <a:rPr lang="en-US" dirty="0"/>
              <a:t> durum, </a:t>
            </a:r>
            <a:r>
              <a:rPr lang="en-US" dirty="0" err="1"/>
              <a:t>anomali</a:t>
            </a:r>
            <a:r>
              <a:rPr lang="en-US" dirty="0"/>
              <a:t> </a:t>
            </a:r>
            <a:r>
              <a:rPr lang="en-US" dirty="0" err="1"/>
              <a:t>tespit</a:t>
            </a:r>
            <a:r>
              <a:rPr lang="en-US" dirty="0"/>
              <a:t> </a:t>
            </a:r>
            <a:r>
              <a:rPr lang="en-US" dirty="0" err="1"/>
              <a:t>teknolojilerinin</a:t>
            </a:r>
            <a:r>
              <a:rPr lang="en-US" dirty="0"/>
              <a:t> </a:t>
            </a:r>
            <a:r>
              <a:rPr lang="en-US" dirty="0" err="1"/>
              <a:t>operasyonel</a:t>
            </a:r>
            <a:r>
              <a:rPr lang="en-US" dirty="0"/>
              <a:t> </a:t>
            </a:r>
            <a:r>
              <a:rPr lang="en-US" dirty="0" err="1"/>
              <a:t>ortamlarda</a:t>
            </a:r>
            <a:r>
              <a:rPr lang="en-US" dirty="0"/>
              <a:t> </a:t>
            </a:r>
            <a:r>
              <a:rPr lang="en-US" dirty="0" err="1"/>
              <a:t>gerçekçi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neleri</a:t>
            </a:r>
            <a:r>
              <a:rPr lang="en-US" dirty="0"/>
              <a:t> </a:t>
            </a:r>
            <a:r>
              <a:rPr lang="en-US" dirty="0" err="1"/>
              <a:t>başarabileceği</a:t>
            </a:r>
            <a:r>
              <a:rPr lang="en-US" dirty="0"/>
              <a:t> </a:t>
            </a:r>
            <a:r>
              <a:rPr lang="en-US" dirty="0" err="1"/>
              <a:t>konusunda</a:t>
            </a:r>
            <a:r>
              <a:rPr lang="en-US" dirty="0"/>
              <a:t> </a:t>
            </a:r>
            <a:r>
              <a:rPr lang="en-US" dirty="0" err="1"/>
              <a:t>yanlış</a:t>
            </a:r>
            <a:r>
              <a:rPr lang="en-US" dirty="0"/>
              <a:t> </a:t>
            </a:r>
            <a:r>
              <a:rPr lang="en-US" dirty="0" err="1"/>
              <a:t>kanılara</a:t>
            </a:r>
            <a:r>
              <a:rPr lang="en-US" dirty="0"/>
              <a:t> </a:t>
            </a:r>
            <a:r>
              <a:rPr lang="en-US" dirty="0" err="1"/>
              <a:t>yol</a:t>
            </a:r>
            <a:r>
              <a:rPr lang="en-US" dirty="0"/>
              <a:t> </a:t>
            </a:r>
            <a:r>
              <a:rPr lang="en-US" dirty="0" err="1"/>
              <a:t>açar</a:t>
            </a:r>
            <a:r>
              <a:rPr lang="en-US" dirty="0"/>
              <a:t>. </a:t>
            </a:r>
          </a:p>
          <a:p>
            <a:r>
              <a:rPr lang="en-US" dirty="0"/>
              <a:t>Tek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ağ</a:t>
            </a:r>
            <a:r>
              <a:rPr lang="en-US" dirty="0"/>
              <a:t> </a:t>
            </a:r>
            <a:r>
              <a:rPr lang="en-US" dirty="0" err="1"/>
              <a:t>içinde</a:t>
            </a:r>
            <a:r>
              <a:rPr lang="en-US" dirty="0"/>
              <a:t> bile bant </a:t>
            </a:r>
            <a:r>
              <a:rPr lang="en-US" dirty="0" err="1"/>
              <a:t>genişliği</a:t>
            </a:r>
            <a:r>
              <a:rPr lang="en-US" dirty="0"/>
              <a:t>, </a:t>
            </a:r>
            <a:r>
              <a:rPr lang="en-US" dirty="0" err="1"/>
              <a:t>bağlantı</a:t>
            </a:r>
            <a:r>
              <a:rPr lang="en-US" dirty="0"/>
              <a:t> </a:t>
            </a:r>
            <a:r>
              <a:rPr lang="en-US" dirty="0" err="1"/>
              <a:t>süreleri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uygulama</a:t>
            </a:r>
            <a:r>
              <a:rPr lang="en-US" dirty="0"/>
              <a:t> </a:t>
            </a:r>
            <a:r>
              <a:rPr lang="en-US" dirty="0" err="1"/>
              <a:t>çeşitliliği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temel</a:t>
            </a:r>
            <a:r>
              <a:rPr lang="en-US" dirty="0"/>
              <a:t> </a:t>
            </a:r>
            <a:r>
              <a:rPr lang="en-US" dirty="0" err="1"/>
              <a:t>ağ</a:t>
            </a:r>
            <a:r>
              <a:rPr lang="en-US" dirty="0"/>
              <a:t> </a:t>
            </a:r>
            <a:r>
              <a:rPr lang="en-US" dirty="0" err="1"/>
              <a:t>özellikleri</a:t>
            </a:r>
            <a:r>
              <a:rPr lang="en-US" dirty="0"/>
              <a:t> </a:t>
            </a: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değişkenlik</a:t>
            </a:r>
            <a:r>
              <a:rPr lang="en-US" dirty="0"/>
              <a:t> </a:t>
            </a:r>
            <a:r>
              <a:rPr lang="en-US" dirty="0" err="1"/>
              <a:t>gösterebilir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özellikler</a:t>
            </a:r>
            <a:r>
              <a:rPr lang="en-US" dirty="0"/>
              <a:t> </a:t>
            </a:r>
            <a:r>
              <a:rPr lang="en-US" dirty="0" err="1"/>
              <a:t>kısa</a:t>
            </a:r>
            <a:r>
              <a:rPr lang="en-US" dirty="0"/>
              <a:t> zaman </a:t>
            </a:r>
            <a:r>
              <a:rPr lang="en-US" dirty="0" err="1"/>
              <a:t>aralıklarında</a:t>
            </a:r>
            <a:r>
              <a:rPr lang="en-US" dirty="0"/>
              <a:t> (</a:t>
            </a:r>
            <a:r>
              <a:rPr lang="en-US" dirty="0" err="1"/>
              <a:t>saniye</a:t>
            </a:r>
            <a:r>
              <a:rPr lang="en-US" dirty="0"/>
              <a:t>, </a:t>
            </a:r>
            <a:r>
              <a:rPr lang="en-US" dirty="0" err="1"/>
              <a:t>saat</a:t>
            </a:r>
            <a:r>
              <a:rPr lang="en-US" dirty="0"/>
              <a:t>) </a:t>
            </a:r>
            <a:r>
              <a:rPr lang="en-US" dirty="0" err="1"/>
              <a:t>öngörülemez</a:t>
            </a:r>
            <a:r>
              <a:rPr lang="en-US" dirty="0"/>
              <a:t> </a:t>
            </a:r>
            <a:r>
              <a:rPr lang="en-US" dirty="0" err="1"/>
              <a:t>hâle</a:t>
            </a:r>
            <a:r>
              <a:rPr lang="en-US" dirty="0"/>
              <a:t> </a:t>
            </a:r>
            <a:r>
              <a:rPr lang="en-US" dirty="0" err="1"/>
              <a:t>gelebilir</a:t>
            </a:r>
            <a:r>
              <a:rPr lang="en-US" dirty="0"/>
              <a:t>.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99454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55528-0F26-285F-9BF6-5775125CC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altLang="en-TR" dirty="0"/>
              <a:t>Değerlendirmedeki Zorluklar</a:t>
            </a:r>
            <a:endParaRPr lang="en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A68D4-B86B-9E11-8990-A592ECC70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Sağlam </a:t>
            </a:r>
            <a:r>
              <a:rPr lang="en-US" dirty="0" err="1"/>
              <a:t>değerlendirme</a:t>
            </a:r>
            <a:r>
              <a:rPr lang="en-US" dirty="0"/>
              <a:t> </a:t>
            </a:r>
            <a:r>
              <a:rPr lang="en-US" dirty="0" err="1"/>
              <a:t>yöntemleri</a:t>
            </a:r>
            <a:r>
              <a:rPr lang="en-US" dirty="0"/>
              <a:t> </a:t>
            </a:r>
            <a:r>
              <a:rPr lang="en-US" dirty="0" err="1"/>
              <a:t>geliştirmek</a:t>
            </a:r>
            <a:r>
              <a:rPr lang="en-US" dirty="0"/>
              <a:t> </a:t>
            </a:r>
            <a:r>
              <a:rPr lang="en-US" dirty="0" err="1"/>
              <a:t>kolay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; </a:t>
            </a:r>
            <a:r>
              <a:rPr lang="en-US" dirty="0" err="1"/>
              <a:t>hatta</a:t>
            </a:r>
            <a:r>
              <a:rPr lang="en-US" dirty="0"/>
              <a:t> </a:t>
            </a:r>
            <a:r>
              <a:rPr lang="en-US" dirty="0" err="1"/>
              <a:t>çoğu</a:t>
            </a:r>
            <a:r>
              <a:rPr lang="en-US" dirty="0"/>
              <a:t> </a:t>
            </a:r>
            <a:r>
              <a:rPr lang="en-US" dirty="0" err="1"/>
              <a:t>durumda</a:t>
            </a:r>
            <a:r>
              <a:rPr lang="en-US" dirty="0"/>
              <a:t> </a:t>
            </a:r>
            <a:r>
              <a:rPr lang="en-US" dirty="0" err="1"/>
              <a:t>bunun</a:t>
            </a:r>
            <a:r>
              <a:rPr lang="en-US" dirty="0"/>
              <a:t>, </a:t>
            </a:r>
            <a:r>
              <a:rPr lang="en-US" dirty="0" err="1"/>
              <a:t>dedektörün</a:t>
            </a:r>
            <a:r>
              <a:rPr lang="en-US" dirty="0"/>
              <a:t> </a:t>
            </a:r>
            <a:r>
              <a:rPr lang="en-US" dirty="0" err="1"/>
              <a:t>kendisini</a:t>
            </a:r>
            <a:r>
              <a:rPr lang="en-US" dirty="0"/>
              <a:t> </a:t>
            </a:r>
            <a:r>
              <a:rPr lang="en-US" dirty="0" err="1"/>
              <a:t>geliştirmekten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zor</a:t>
            </a:r>
            <a:r>
              <a:rPr lang="en-US" dirty="0"/>
              <a:t> </a:t>
            </a:r>
            <a:r>
              <a:rPr lang="en-US" dirty="0" err="1"/>
              <a:t>olduğu</a:t>
            </a:r>
            <a:r>
              <a:rPr lang="en-US" dirty="0"/>
              <a:t> </a:t>
            </a:r>
            <a:r>
              <a:rPr lang="en-US" dirty="0" err="1"/>
              <a:t>ortaya</a:t>
            </a:r>
            <a:r>
              <a:rPr lang="en-US" dirty="0"/>
              <a:t> </a:t>
            </a:r>
            <a:r>
              <a:rPr lang="en-US" dirty="0" err="1"/>
              <a:t>çıkmaktadır</a:t>
            </a:r>
            <a:r>
              <a:rPr lang="en-US" dirty="0"/>
              <a:t>. </a:t>
            </a:r>
          </a:p>
          <a:p>
            <a:r>
              <a:rPr lang="en-US" dirty="0"/>
              <a:t>En </a:t>
            </a:r>
            <a:r>
              <a:rPr lang="en-US" dirty="0" err="1"/>
              <a:t>önemli</a:t>
            </a:r>
            <a:r>
              <a:rPr lang="en-US" dirty="0"/>
              <a:t> </a:t>
            </a:r>
            <a:r>
              <a:rPr lang="en-US" dirty="0" err="1"/>
              <a:t>zorluklardan</a:t>
            </a:r>
            <a:r>
              <a:rPr lang="en-US" dirty="0"/>
              <a:t> </a:t>
            </a:r>
            <a:r>
              <a:rPr lang="en-US" dirty="0" err="1"/>
              <a:t>biri</a:t>
            </a:r>
            <a:r>
              <a:rPr lang="en-US" dirty="0"/>
              <a:t>, </a:t>
            </a:r>
            <a:r>
              <a:rPr lang="en-US" dirty="0" err="1"/>
              <a:t>anomali</a:t>
            </a:r>
            <a:r>
              <a:rPr lang="en-US" dirty="0"/>
              <a:t> </a:t>
            </a:r>
            <a:r>
              <a:rPr lang="en-US" dirty="0" err="1"/>
              <a:t>tespit</a:t>
            </a:r>
            <a:r>
              <a:rPr lang="en-US" dirty="0"/>
              <a:t> </a:t>
            </a:r>
            <a:r>
              <a:rPr lang="en-US" dirty="0" err="1"/>
              <a:t>sistemlerini</a:t>
            </a:r>
            <a:r>
              <a:rPr lang="en-US" dirty="0"/>
              <a:t> </a:t>
            </a:r>
            <a:r>
              <a:rPr lang="en-US" dirty="0" err="1"/>
              <a:t>değerlendirmek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uygun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herkese</a:t>
            </a:r>
            <a:r>
              <a:rPr lang="en-US" dirty="0"/>
              <a:t> </a:t>
            </a:r>
            <a:r>
              <a:rPr lang="en-US" dirty="0" err="1"/>
              <a:t>açık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kümelerinin</a:t>
            </a:r>
            <a:r>
              <a:rPr lang="en-US" dirty="0"/>
              <a:t> </a:t>
            </a:r>
            <a:r>
              <a:rPr lang="en-US" dirty="0" err="1"/>
              <a:t>eksikliğidir</a:t>
            </a:r>
            <a:r>
              <a:rPr lang="en-US" dirty="0"/>
              <a:t>. </a:t>
            </a:r>
          </a:p>
          <a:p>
            <a:r>
              <a:rPr lang="en-US" dirty="0" err="1"/>
              <a:t>Kamusal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eksikliği</a:t>
            </a:r>
            <a:r>
              <a:rPr lang="en-US" dirty="0"/>
              <a:t> </a:t>
            </a:r>
            <a:r>
              <a:rPr lang="en-US" dirty="0" err="1"/>
              <a:t>nedeniyle</a:t>
            </a:r>
            <a:r>
              <a:rPr lang="en-US" dirty="0"/>
              <a:t> </a:t>
            </a:r>
            <a:r>
              <a:rPr lang="en-US" dirty="0" err="1"/>
              <a:t>araştırmacılar</a:t>
            </a:r>
            <a:r>
              <a:rPr lang="en-US" dirty="0"/>
              <a:t>,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kümelerini</a:t>
            </a:r>
            <a:r>
              <a:rPr lang="en-US" dirty="0"/>
              <a:t> </a:t>
            </a:r>
            <a:r>
              <a:rPr lang="en-US" dirty="0" err="1"/>
              <a:t>oluşturmak</a:t>
            </a:r>
            <a:r>
              <a:rPr lang="en-US" dirty="0"/>
              <a:t> </a:t>
            </a:r>
            <a:r>
              <a:rPr lang="en-US" dirty="0" err="1"/>
              <a:t>zorunda</a:t>
            </a:r>
            <a:r>
              <a:rPr lang="en-US" dirty="0"/>
              <a:t> </a:t>
            </a:r>
            <a:r>
              <a:rPr lang="en-US" dirty="0" err="1"/>
              <a:t>kalmaktadır</a:t>
            </a:r>
            <a:r>
              <a:rPr lang="en-US" dirty="0"/>
              <a:t>. </a:t>
            </a:r>
            <a:r>
              <a:rPr lang="en-US" dirty="0" err="1"/>
              <a:t>Ancak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da </a:t>
            </a:r>
            <a:r>
              <a:rPr lang="en-US" dirty="0" err="1"/>
              <a:t>genellikle</a:t>
            </a:r>
            <a:r>
              <a:rPr lang="en-US" dirty="0"/>
              <a:t> </a:t>
            </a:r>
            <a:r>
              <a:rPr lang="en-US" dirty="0" err="1"/>
              <a:t>kolay</a:t>
            </a:r>
            <a:r>
              <a:rPr lang="en-US" dirty="0"/>
              <a:t> </a:t>
            </a:r>
            <a:r>
              <a:rPr lang="en-US" dirty="0" err="1"/>
              <a:t>değildir</a:t>
            </a:r>
            <a:r>
              <a:rPr lang="en-US" dirty="0"/>
              <a:t>; </a:t>
            </a:r>
            <a:r>
              <a:rPr lang="en-US" dirty="0" err="1"/>
              <a:t>çünkü</a:t>
            </a:r>
            <a:r>
              <a:rPr lang="en-US" dirty="0"/>
              <a:t> </a:t>
            </a:r>
            <a:r>
              <a:rPr lang="en-US" dirty="0" err="1"/>
              <a:t>çoğu</a:t>
            </a:r>
            <a:r>
              <a:rPr lang="en-US" dirty="0"/>
              <a:t> </a:t>
            </a:r>
            <a:r>
              <a:rPr lang="en-US" dirty="0" err="1"/>
              <a:t>araştırmacının</a:t>
            </a:r>
            <a:r>
              <a:rPr lang="en-US" dirty="0"/>
              <a:t> </a:t>
            </a:r>
            <a:r>
              <a:rPr lang="en-US" dirty="0" err="1"/>
              <a:t>yeterli</a:t>
            </a:r>
            <a:r>
              <a:rPr lang="en-US" dirty="0"/>
              <a:t> </a:t>
            </a:r>
            <a:r>
              <a:rPr lang="en-US" dirty="0" err="1"/>
              <a:t>büyüklükte</a:t>
            </a:r>
            <a:r>
              <a:rPr lang="en-US" dirty="0"/>
              <a:t> </a:t>
            </a:r>
            <a:r>
              <a:rPr lang="en-US" dirty="0" err="1"/>
              <a:t>ağlara</a:t>
            </a:r>
            <a:r>
              <a:rPr lang="en-US" dirty="0"/>
              <a:t> </a:t>
            </a:r>
            <a:r>
              <a:rPr lang="en-US" dirty="0" err="1"/>
              <a:t>erişimi</a:t>
            </a:r>
            <a:r>
              <a:rPr lang="en-US" dirty="0"/>
              <a:t> </a:t>
            </a:r>
            <a:r>
              <a:rPr lang="en-US" dirty="0" err="1"/>
              <a:t>bulunmamaktadır</a:t>
            </a:r>
            <a:r>
              <a:rPr lang="en-US" dirty="0"/>
              <a:t>.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9035533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323C6-C02B-8626-6D86-F214E29CE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Değerlendirme vs. Anlama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F0358-6D14-026D-7823-08C820574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Bir </a:t>
            </a:r>
            <a:r>
              <a:rPr lang="en-US" dirty="0" err="1"/>
              <a:t>anomali</a:t>
            </a:r>
            <a:r>
              <a:rPr lang="en-US" dirty="0"/>
              <a:t> </a:t>
            </a:r>
            <a:r>
              <a:rPr lang="en-US" dirty="0" err="1"/>
              <a:t>tespit</a:t>
            </a:r>
            <a:r>
              <a:rPr lang="en-US" dirty="0"/>
              <a:t>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değerlendirilirken</a:t>
            </a:r>
            <a:r>
              <a:rPr lang="en-US" dirty="0"/>
              <a:t>,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anlamsal</a:t>
            </a:r>
            <a:r>
              <a:rPr lang="en-US" dirty="0"/>
              <a:t> </a:t>
            </a:r>
            <a:r>
              <a:rPr lang="en-US" dirty="0" err="1"/>
              <a:t>özelliklerinin</a:t>
            </a:r>
            <a:r>
              <a:rPr lang="en-US" dirty="0"/>
              <a:t>— </a:t>
            </a:r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operasyonel</a:t>
            </a:r>
            <a:r>
              <a:rPr lang="en-US" dirty="0"/>
              <a:t> </a:t>
            </a:r>
            <a:r>
              <a:rPr lang="en-US" dirty="0" err="1"/>
              <a:t>açıdan</a:t>
            </a:r>
            <a:r>
              <a:rPr lang="en-US" dirty="0"/>
              <a:t> </a:t>
            </a:r>
            <a:r>
              <a:rPr lang="en-US" dirty="0" err="1"/>
              <a:t>anlamlı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hangi </a:t>
            </a:r>
            <a:r>
              <a:rPr lang="en-US" dirty="0" err="1"/>
              <a:t>faaliyetleri</a:t>
            </a:r>
            <a:r>
              <a:rPr lang="en-US" dirty="0"/>
              <a:t> </a:t>
            </a:r>
            <a:r>
              <a:rPr lang="en-US" dirty="0" err="1"/>
              <a:t>tespit</a:t>
            </a:r>
            <a:r>
              <a:rPr lang="en-US" dirty="0"/>
              <a:t> </a:t>
            </a:r>
            <a:r>
              <a:rPr lang="en-US" dirty="0" err="1"/>
              <a:t>edebildiğinin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her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kaçınılmaz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sahip</a:t>
            </a:r>
            <a:r>
              <a:rPr lang="en-US" dirty="0"/>
              <a:t> </a:t>
            </a:r>
            <a:r>
              <a:rPr lang="en-US" dirty="0" err="1"/>
              <a:t>olacağı</a:t>
            </a:r>
            <a:r>
              <a:rPr lang="en-US" dirty="0"/>
              <a:t> </a:t>
            </a:r>
            <a:r>
              <a:rPr lang="en-US" dirty="0" err="1"/>
              <a:t>kör</a:t>
            </a:r>
            <a:r>
              <a:rPr lang="en-US" dirty="0"/>
              <a:t> </a:t>
            </a:r>
            <a:r>
              <a:rPr lang="en-US" dirty="0" err="1"/>
              <a:t>noktaların</a:t>
            </a:r>
            <a:r>
              <a:rPr lang="en-US" dirty="0"/>
              <a:t>— </a:t>
            </a:r>
            <a:r>
              <a:rPr lang="en-US" dirty="0" err="1"/>
              <a:t>anlaşılması</a:t>
            </a:r>
            <a:r>
              <a:rPr lang="en-US" dirty="0"/>
              <a:t>,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belirli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girdi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iyi </a:t>
            </a:r>
            <a:r>
              <a:rPr lang="en-US" dirty="0" err="1"/>
              <a:t>çalıştığı</a:t>
            </a:r>
            <a:r>
              <a:rPr lang="en-US" dirty="0"/>
              <a:t> </a:t>
            </a:r>
            <a:r>
              <a:rPr lang="en-US" dirty="0" err="1"/>
              <a:t>somut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parametre</a:t>
            </a:r>
            <a:r>
              <a:rPr lang="en-US" dirty="0"/>
              <a:t> </a:t>
            </a:r>
            <a:r>
              <a:rPr lang="en-US" dirty="0" err="1"/>
              <a:t>kümesini</a:t>
            </a:r>
            <a:r>
              <a:rPr lang="en-US" dirty="0"/>
              <a:t> </a:t>
            </a:r>
            <a:r>
              <a:rPr lang="en-US" dirty="0" err="1"/>
              <a:t>belirlemekten</a:t>
            </a:r>
            <a:r>
              <a:rPr lang="en-US" dirty="0"/>
              <a:t> </a:t>
            </a:r>
            <a:r>
              <a:rPr lang="en-US" dirty="0" err="1"/>
              <a:t>çok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değerlidir</a:t>
            </a:r>
            <a:r>
              <a:rPr lang="en-US" dirty="0"/>
              <a:t>.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41735035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3917D-29E0-171C-935A-5923BD96B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Ne Yapılmamalı Tavsiyesi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24AB2-8C10-3A34-F5FD-06771CE55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/>
              <a:t>“The intrusion detection community does not benefit any further from yet another</a:t>
            </a:r>
            <a:r>
              <a:rPr lang="en-TR" i="1" dirty="0"/>
              <a:t> </a:t>
            </a:r>
            <a:r>
              <a:rPr lang="en-US" i="1" dirty="0"/>
              <a:t>study measuring the performance of some previously untried combination of a machine learning scheme with a particular feature set, applied to something like the DARPA dataset.”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i="1" dirty="0"/>
              <a:t>“</a:t>
            </a:r>
            <a:r>
              <a:rPr lang="en-US" i="1" dirty="0">
                <a:solidFill>
                  <a:srgbClr val="FF0000"/>
                </a:solidFill>
              </a:rPr>
              <a:t>ÖNERİLMEYEN PROJE KONUSU</a:t>
            </a:r>
            <a:r>
              <a:rPr lang="en-US" i="1" dirty="0"/>
              <a:t>: DARPA </a:t>
            </a:r>
            <a:r>
              <a:rPr lang="en-US" i="1" dirty="0" err="1"/>
              <a:t>veri</a:t>
            </a:r>
            <a:r>
              <a:rPr lang="en-US" i="1" dirty="0"/>
              <a:t> </a:t>
            </a:r>
            <a:r>
              <a:rPr lang="en-US" i="1" dirty="0" err="1"/>
              <a:t>kümesi</a:t>
            </a:r>
            <a:r>
              <a:rPr lang="en-US" i="1" dirty="0"/>
              <a:t> </a:t>
            </a:r>
            <a:r>
              <a:rPr lang="en-US" i="1" dirty="0" err="1"/>
              <a:t>gibi</a:t>
            </a:r>
            <a:r>
              <a:rPr lang="en-US" i="1" dirty="0"/>
              <a:t> </a:t>
            </a:r>
            <a:r>
              <a:rPr lang="en-US" i="1" dirty="0" err="1"/>
              <a:t>bir</a:t>
            </a:r>
            <a:r>
              <a:rPr lang="en-US" i="1" dirty="0"/>
              <a:t> </a:t>
            </a:r>
            <a:r>
              <a:rPr lang="en-US" i="1" dirty="0" err="1"/>
              <a:t>veri</a:t>
            </a:r>
            <a:r>
              <a:rPr lang="en-US" i="1" dirty="0"/>
              <a:t> </a:t>
            </a:r>
            <a:r>
              <a:rPr lang="en-US" i="1" dirty="0" err="1"/>
              <a:t>kümesi</a:t>
            </a:r>
            <a:r>
              <a:rPr lang="en-US" i="1" dirty="0"/>
              <a:t> </a:t>
            </a:r>
            <a:r>
              <a:rPr lang="en-US" i="1" dirty="0" err="1"/>
              <a:t>üzerinde</a:t>
            </a:r>
            <a:r>
              <a:rPr lang="en-US" i="1" dirty="0"/>
              <a:t>, </a:t>
            </a:r>
            <a:r>
              <a:rPr lang="en-US" i="1" dirty="0" err="1"/>
              <a:t>daha</a:t>
            </a:r>
            <a:r>
              <a:rPr lang="en-US" i="1" dirty="0"/>
              <a:t> </a:t>
            </a:r>
            <a:r>
              <a:rPr lang="en-US" i="1" dirty="0" err="1"/>
              <a:t>önce</a:t>
            </a:r>
            <a:r>
              <a:rPr lang="en-US" i="1" dirty="0"/>
              <a:t> </a:t>
            </a:r>
            <a:r>
              <a:rPr lang="en-US" i="1" dirty="0" err="1"/>
              <a:t>denenmemiş</a:t>
            </a:r>
            <a:r>
              <a:rPr lang="en-US" i="1" dirty="0"/>
              <a:t> </a:t>
            </a:r>
            <a:r>
              <a:rPr lang="en-US" i="1" dirty="0" err="1"/>
              <a:t>bir</a:t>
            </a:r>
            <a:r>
              <a:rPr lang="en-US" i="1" dirty="0"/>
              <a:t> </a:t>
            </a:r>
            <a:r>
              <a:rPr lang="en-US" i="1" dirty="0" err="1"/>
              <a:t>makine</a:t>
            </a:r>
            <a:r>
              <a:rPr lang="en-US" i="1" dirty="0"/>
              <a:t> </a:t>
            </a:r>
            <a:r>
              <a:rPr lang="en-US" i="1" dirty="0" err="1"/>
              <a:t>öğrenmesi</a:t>
            </a:r>
            <a:r>
              <a:rPr lang="en-US" i="1" dirty="0"/>
              <a:t> </a:t>
            </a:r>
            <a:r>
              <a:rPr lang="en-US" i="1" dirty="0" err="1"/>
              <a:t>yöntemi</a:t>
            </a:r>
            <a:r>
              <a:rPr lang="en-US" i="1" dirty="0"/>
              <a:t> </a:t>
            </a:r>
            <a:r>
              <a:rPr lang="en-US" i="1" dirty="0" err="1"/>
              <a:t>ile</a:t>
            </a:r>
            <a:r>
              <a:rPr lang="en-US" i="1" dirty="0"/>
              <a:t> </a:t>
            </a:r>
            <a:r>
              <a:rPr lang="en-US" i="1" dirty="0" err="1"/>
              <a:t>belirli</a:t>
            </a:r>
            <a:r>
              <a:rPr lang="en-US" i="1" dirty="0"/>
              <a:t> </a:t>
            </a:r>
            <a:r>
              <a:rPr lang="en-US" i="1" dirty="0" err="1"/>
              <a:t>bir</a:t>
            </a:r>
            <a:r>
              <a:rPr lang="en-US" i="1" dirty="0"/>
              <a:t> </a:t>
            </a:r>
            <a:r>
              <a:rPr lang="en-US" i="1" dirty="0" err="1"/>
              <a:t>özellik</a:t>
            </a:r>
            <a:r>
              <a:rPr lang="en-US" i="1" dirty="0"/>
              <a:t> </a:t>
            </a:r>
            <a:r>
              <a:rPr lang="en-US" i="1" dirty="0" err="1"/>
              <a:t>kümesinin</a:t>
            </a:r>
            <a:r>
              <a:rPr lang="en-US" i="1" dirty="0"/>
              <a:t> </a:t>
            </a:r>
            <a:r>
              <a:rPr lang="en-US" i="1" dirty="0" err="1"/>
              <a:t>birleşiminin</a:t>
            </a:r>
            <a:r>
              <a:rPr lang="en-US" i="1" dirty="0"/>
              <a:t> </a:t>
            </a:r>
            <a:r>
              <a:rPr lang="en-US" i="1" dirty="0" err="1"/>
              <a:t>performansını</a:t>
            </a:r>
            <a:r>
              <a:rPr lang="en-US" i="1" dirty="0"/>
              <a:t> </a:t>
            </a:r>
            <a:r>
              <a:rPr lang="en-US" i="1" dirty="0" err="1"/>
              <a:t>ölçen</a:t>
            </a:r>
            <a:r>
              <a:rPr lang="en-US" i="1" dirty="0"/>
              <a:t> </a:t>
            </a:r>
            <a:r>
              <a:rPr lang="en-US" i="1" dirty="0" err="1"/>
              <a:t>bir</a:t>
            </a:r>
            <a:r>
              <a:rPr lang="en-US" i="1" dirty="0"/>
              <a:t> </a:t>
            </a:r>
            <a:r>
              <a:rPr lang="en-US" i="1" dirty="0" err="1"/>
              <a:t>çalışma</a:t>
            </a:r>
            <a:r>
              <a:rPr lang="en-US" i="1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23446049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48F8B-E086-E1A3-8510-7F945FAD3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Karşıt (Adversarial) Ortam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9947C-2CAE-3569-C138-118DB2689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Saldırı</a:t>
            </a:r>
            <a:r>
              <a:rPr lang="en-US" dirty="0"/>
              <a:t> </a:t>
            </a:r>
            <a:r>
              <a:rPr lang="en-US" dirty="0" err="1"/>
              <a:t>tespit</a:t>
            </a:r>
            <a:r>
              <a:rPr lang="en-US" dirty="0"/>
              <a:t> </a:t>
            </a:r>
            <a:r>
              <a:rPr lang="en-US" dirty="0" err="1"/>
              <a:t>alanına</a:t>
            </a:r>
            <a:r>
              <a:rPr lang="en-US" dirty="0"/>
              <a:t> </a:t>
            </a:r>
            <a:r>
              <a:rPr lang="en-US" dirty="0" err="1"/>
              <a:t>özgü</a:t>
            </a:r>
            <a:r>
              <a:rPr lang="en-US" dirty="0"/>
              <a:t> son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özellik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tür</a:t>
            </a:r>
            <a:r>
              <a:rPr lang="en-US" dirty="0"/>
              <a:t> </a:t>
            </a:r>
            <a:r>
              <a:rPr lang="en-US" dirty="0" err="1"/>
              <a:t>sistemlerin</a:t>
            </a:r>
            <a:r>
              <a:rPr lang="en-US" dirty="0"/>
              <a:t> </a:t>
            </a:r>
            <a:r>
              <a:rPr lang="en-US" dirty="0" err="1"/>
              <a:t>karşıt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ortamda</a:t>
            </a:r>
            <a:r>
              <a:rPr lang="en-US" dirty="0"/>
              <a:t> </a:t>
            </a:r>
            <a:r>
              <a:rPr lang="en-US" dirty="0" err="1"/>
              <a:t>çalışıyor</a:t>
            </a:r>
            <a:r>
              <a:rPr lang="en-US" dirty="0"/>
              <a:t> </a:t>
            </a:r>
            <a:r>
              <a:rPr lang="en-US" dirty="0" err="1"/>
              <a:t>olmasıdır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Buna </a:t>
            </a:r>
            <a:r>
              <a:rPr lang="en-US" dirty="0" err="1"/>
              <a:t>karşılık</a:t>
            </a:r>
            <a:r>
              <a:rPr lang="en-US" dirty="0"/>
              <a:t>, OCR </a:t>
            </a:r>
            <a:r>
              <a:rPr lang="en-US" dirty="0" err="1"/>
              <a:t>sistemlerinin</a:t>
            </a:r>
            <a:r>
              <a:rPr lang="en-US" dirty="0"/>
              <a:t> </a:t>
            </a:r>
            <a:r>
              <a:rPr lang="en-US" dirty="0" err="1"/>
              <a:t>kullanıcıları</a:t>
            </a:r>
            <a:r>
              <a:rPr lang="en-US" dirty="0"/>
              <a:t> </a:t>
            </a:r>
            <a:r>
              <a:rPr lang="en-US" dirty="0" err="1"/>
              <a:t>girdideki</a:t>
            </a:r>
            <a:r>
              <a:rPr lang="en-US" dirty="0"/>
              <a:t> </a:t>
            </a:r>
            <a:r>
              <a:rPr lang="en-US" dirty="0" err="1"/>
              <a:t>karakterleri</a:t>
            </a:r>
            <a:r>
              <a:rPr lang="en-US" dirty="0"/>
              <a:t> </a:t>
            </a:r>
            <a:r>
              <a:rPr lang="en-US" dirty="0" err="1"/>
              <a:t>gizlemeye</a:t>
            </a:r>
            <a:r>
              <a:rPr lang="en-US" dirty="0"/>
              <a:t> </a:t>
            </a:r>
            <a:r>
              <a:rPr lang="en-US" dirty="0" err="1"/>
              <a:t>çalışmaz</a:t>
            </a:r>
            <a:r>
              <a:rPr lang="en-US" dirty="0"/>
              <a:t>; Amazon </a:t>
            </a:r>
            <a:r>
              <a:rPr lang="en-US" dirty="0" err="1"/>
              <a:t>müşterilerinin</a:t>
            </a:r>
            <a:r>
              <a:rPr lang="en-US" dirty="0"/>
              <a:t> de </a:t>
            </a:r>
            <a:r>
              <a:rPr lang="en-US" dirty="0" err="1"/>
              <a:t>şirketin</a:t>
            </a:r>
            <a:r>
              <a:rPr lang="en-US" dirty="0"/>
              <a:t> </a:t>
            </a:r>
            <a:r>
              <a:rPr lang="en-US" dirty="0" err="1"/>
              <a:t>öneri</a:t>
            </a:r>
            <a:r>
              <a:rPr lang="en-US" dirty="0"/>
              <a:t> </a:t>
            </a:r>
            <a:r>
              <a:rPr lang="en-US" dirty="0" err="1"/>
              <a:t>sistemini</a:t>
            </a:r>
            <a:r>
              <a:rPr lang="en-US" dirty="0"/>
              <a:t> </a:t>
            </a:r>
            <a:r>
              <a:rPr lang="en-US" dirty="0" err="1"/>
              <a:t>yanıltmak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güçlü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motivasyonu</a:t>
            </a:r>
            <a:r>
              <a:rPr lang="en-US" dirty="0"/>
              <a:t> (</a:t>
            </a:r>
            <a:r>
              <a:rPr lang="en-US" dirty="0" err="1"/>
              <a:t>ya</a:t>
            </a:r>
            <a:r>
              <a:rPr lang="en-US" dirty="0"/>
              <a:t> da </a:t>
            </a:r>
            <a:r>
              <a:rPr lang="en-US" dirty="0" err="1"/>
              <a:t>fırsatı</a:t>
            </a:r>
            <a:r>
              <a:rPr lang="en-US" dirty="0"/>
              <a:t>) </a:t>
            </a:r>
            <a:r>
              <a:rPr lang="en-US" dirty="0" err="1"/>
              <a:t>yoktur</a:t>
            </a:r>
            <a:r>
              <a:rPr lang="en-US" dirty="0"/>
              <a:t>.</a:t>
            </a:r>
          </a:p>
          <a:p>
            <a:r>
              <a:rPr lang="en-US" dirty="0" err="1"/>
              <a:t>Araştırma</a:t>
            </a:r>
            <a:r>
              <a:rPr lang="en-US" dirty="0"/>
              <a:t> </a:t>
            </a:r>
            <a:r>
              <a:rPr lang="en-US" dirty="0" err="1"/>
              <a:t>perspektifinden</a:t>
            </a:r>
            <a:r>
              <a:rPr lang="en-US" dirty="0"/>
              <a:t> </a:t>
            </a:r>
            <a:r>
              <a:rPr lang="en-US" dirty="0" err="1"/>
              <a:t>bakıldığında</a:t>
            </a:r>
            <a:r>
              <a:rPr lang="en-US" dirty="0"/>
              <a:t>, </a:t>
            </a:r>
            <a:r>
              <a:rPr lang="en-US" dirty="0" err="1">
                <a:solidFill>
                  <a:srgbClr val="FF0000"/>
                </a:solidFill>
              </a:rPr>
              <a:t>kaçınma</a:t>
            </a:r>
            <a:r>
              <a:rPr lang="en-US" dirty="0">
                <a:solidFill>
                  <a:srgbClr val="FF0000"/>
                </a:solidFill>
              </a:rPr>
              <a:t> (evasion) </a:t>
            </a:r>
            <a:r>
              <a:rPr lang="en-US" dirty="0" err="1">
                <a:solidFill>
                  <a:srgbClr val="FF0000"/>
                </a:solidFill>
              </a:rPr>
              <a:t>problemini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almak</a:t>
            </a:r>
            <a:r>
              <a:rPr lang="en-US" dirty="0"/>
              <a:t> </a:t>
            </a:r>
            <a:r>
              <a:rPr lang="en-US" dirty="0" err="1"/>
              <a:t>keşfedilmeye</a:t>
            </a:r>
            <a:r>
              <a:rPr lang="en-US" dirty="0"/>
              <a:t> </a:t>
            </a:r>
            <a:r>
              <a:rPr lang="en-US" dirty="0" err="1"/>
              <a:t>değer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konudur</a:t>
            </a:r>
            <a:r>
              <a:rPr lang="en-US" dirty="0"/>
              <a:t>; </a:t>
            </a:r>
            <a:r>
              <a:rPr lang="en-US" dirty="0" err="1"/>
              <a:t>kuramsal</a:t>
            </a:r>
            <a:r>
              <a:rPr lang="en-US" dirty="0"/>
              <a:t> </a:t>
            </a:r>
            <a:r>
              <a:rPr lang="en-US" dirty="0" err="1"/>
              <a:t>açıdan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özellik</a:t>
            </a:r>
            <a:r>
              <a:rPr lang="en-US" dirty="0"/>
              <a:t>, </a:t>
            </a:r>
            <a:r>
              <a:rPr lang="en-US" dirty="0" err="1"/>
              <a:t>saldırı</a:t>
            </a:r>
            <a:r>
              <a:rPr lang="en-US" dirty="0"/>
              <a:t> </a:t>
            </a:r>
            <a:r>
              <a:rPr lang="en-US" dirty="0" err="1"/>
              <a:t>tespitini</a:t>
            </a:r>
            <a:r>
              <a:rPr lang="en-US" dirty="0"/>
              <a:t> </a:t>
            </a:r>
            <a:r>
              <a:rPr lang="en-US" dirty="0" err="1"/>
              <a:t>diğer</a:t>
            </a:r>
            <a:r>
              <a:rPr lang="en-US" dirty="0"/>
              <a:t> </a:t>
            </a:r>
            <a:r>
              <a:rPr lang="en-US" dirty="0" err="1"/>
              <a:t>alanlardan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net </a:t>
            </a:r>
            <a:r>
              <a:rPr lang="en-US" dirty="0" err="1"/>
              <a:t>biçimde</a:t>
            </a:r>
            <a:r>
              <a:rPr lang="en-US" dirty="0"/>
              <a:t> </a:t>
            </a:r>
            <a:r>
              <a:rPr lang="en-US" dirty="0" err="1"/>
              <a:t>ayıran</a:t>
            </a:r>
            <a:r>
              <a:rPr lang="en-US" dirty="0"/>
              <a:t> </a:t>
            </a:r>
            <a:r>
              <a:rPr lang="en-US" dirty="0" err="1"/>
              <a:t>unsurdur</a:t>
            </a:r>
            <a:r>
              <a:rPr lang="en-US" dirty="0"/>
              <a:t>. </a:t>
            </a:r>
          </a:p>
          <a:p>
            <a:r>
              <a:rPr lang="en-US" dirty="0" err="1"/>
              <a:t>Ancak</a:t>
            </a:r>
            <a:r>
              <a:rPr lang="en-US" dirty="0"/>
              <a:t>, </a:t>
            </a:r>
            <a:r>
              <a:rPr lang="en-US" dirty="0" err="1"/>
              <a:t>pratik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bakış</a:t>
            </a:r>
            <a:r>
              <a:rPr lang="en-US" dirty="0"/>
              <a:t> </a:t>
            </a:r>
            <a:r>
              <a:rPr lang="en-US" dirty="0" err="1"/>
              <a:t>açısından</a:t>
            </a:r>
            <a:r>
              <a:rPr lang="en-US" dirty="0"/>
              <a:t>, </a:t>
            </a:r>
            <a:r>
              <a:rPr lang="en-US" dirty="0" err="1"/>
              <a:t>karşıt</a:t>
            </a:r>
            <a:r>
              <a:rPr lang="en-US" dirty="0"/>
              <a:t> </a:t>
            </a:r>
            <a:r>
              <a:rPr lang="en-US" dirty="0" err="1"/>
              <a:t>ortamın</a:t>
            </a:r>
            <a:r>
              <a:rPr lang="en-US" dirty="0"/>
              <a:t> </a:t>
            </a:r>
            <a:r>
              <a:rPr lang="en-US"/>
              <a:t>etkisi </a:t>
            </a:r>
            <a:r>
              <a:rPr lang="en-US" dirty="0"/>
              <a:t>ilk </a:t>
            </a:r>
            <a:r>
              <a:rPr lang="en-US" dirty="0" err="1"/>
              <a:t>bakışta</a:t>
            </a:r>
            <a:r>
              <a:rPr lang="en-US" dirty="0"/>
              <a:t> </a:t>
            </a:r>
            <a:r>
              <a:rPr lang="en-US" dirty="0" err="1"/>
              <a:t>düşünüldüğü</a:t>
            </a:r>
            <a:r>
              <a:rPr lang="en-US" dirty="0"/>
              <a:t> </a:t>
            </a:r>
            <a:r>
              <a:rPr lang="en-US" dirty="0" err="1"/>
              <a:t>kadar</a:t>
            </a:r>
            <a:r>
              <a:rPr lang="en-US" dirty="0"/>
              <a:t> </a:t>
            </a:r>
            <a:r>
              <a:rPr lang="en-US" dirty="0" err="1"/>
              <a:t>belirleyici</a:t>
            </a:r>
            <a:r>
              <a:rPr lang="en-US" dirty="0"/>
              <a:t> </a:t>
            </a:r>
            <a:r>
              <a:rPr lang="en-US" dirty="0" err="1"/>
              <a:t>olmayabilir</a:t>
            </a:r>
            <a:r>
              <a:rPr lang="en-US" dirty="0"/>
              <a:t>.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5395998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DFC89-1BF0-CB80-C853-C405FB60F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Tavsiyeler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A5961-3397-A696-E3E4-5AF550767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TR" dirty="0"/>
              <a:t>Tehdit Modelini Anlamak</a:t>
            </a:r>
          </a:p>
          <a:p>
            <a:r>
              <a:rPr lang="en-TR" dirty="0"/>
              <a:t>Kapsamı Daraltmak</a:t>
            </a:r>
          </a:p>
          <a:p>
            <a:r>
              <a:rPr lang="en-TR" dirty="0"/>
              <a:t>Hata Maliyetleri Düşürmek</a:t>
            </a:r>
          </a:p>
          <a:p>
            <a:pPr lvl="1"/>
            <a:r>
              <a:rPr lang="en-US" dirty="0"/>
              <a:t>Ek </a:t>
            </a:r>
            <a:r>
              <a:rPr lang="en-US" dirty="0" err="1"/>
              <a:t>bilgilerin</a:t>
            </a:r>
            <a:r>
              <a:rPr lang="en-US" dirty="0"/>
              <a:t> </a:t>
            </a:r>
            <a:r>
              <a:rPr lang="en-US" dirty="0" err="1"/>
              <a:t>desteğiyle</a:t>
            </a:r>
            <a:r>
              <a:rPr lang="en-US" dirty="0"/>
              <a:t> </a:t>
            </a:r>
            <a:r>
              <a:rPr lang="en-US" dirty="0" err="1"/>
              <a:t>yapılan</a:t>
            </a:r>
            <a:r>
              <a:rPr lang="en-US" dirty="0"/>
              <a:t> son-</a:t>
            </a:r>
            <a:r>
              <a:rPr lang="en-US" dirty="0" err="1"/>
              <a:t>işleme</a:t>
            </a:r>
            <a:r>
              <a:rPr lang="en-US" dirty="0"/>
              <a:t> (post-processing) </a:t>
            </a:r>
            <a:r>
              <a:rPr lang="en-US" dirty="0" err="1"/>
              <a:t>sayesinde</a:t>
            </a:r>
            <a:r>
              <a:rPr lang="en-US" dirty="0"/>
              <a:t> </a:t>
            </a:r>
            <a:r>
              <a:rPr lang="en-US" dirty="0" err="1"/>
              <a:t>yanlış</a:t>
            </a:r>
            <a:r>
              <a:rPr lang="en-US" dirty="0"/>
              <a:t> </a:t>
            </a:r>
            <a:r>
              <a:rPr lang="en-US" dirty="0" err="1"/>
              <a:t>pozitifler</a:t>
            </a:r>
            <a:r>
              <a:rPr lang="en-US" dirty="0"/>
              <a:t> </a:t>
            </a:r>
            <a:r>
              <a:rPr lang="en-US" dirty="0" err="1"/>
              <a:t>azaltılabilir</a:t>
            </a:r>
            <a:r>
              <a:rPr lang="en-US" dirty="0"/>
              <a:t>.</a:t>
            </a:r>
            <a:endParaRPr lang="en-TR" dirty="0"/>
          </a:p>
          <a:p>
            <a:r>
              <a:rPr lang="en-TR" dirty="0"/>
              <a:t>Değerlendirme</a:t>
            </a:r>
          </a:p>
          <a:p>
            <a:pPr lvl="1"/>
            <a:r>
              <a:rPr lang="en-US" dirty="0" err="1"/>
              <a:t>Araştırmacıların</a:t>
            </a:r>
            <a:r>
              <a:rPr lang="en-US" dirty="0"/>
              <a:t> </a:t>
            </a:r>
            <a:r>
              <a:rPr lang="en-US" dirty="0" err="1"/>
              <a:t>yanlış</a:t>
            </a:r>
            <a:r>
              <a:rPr lang="en-US" dirty="0"/>
              <a:t> </a:t>
            </a:r>
            <a:r>
              <a:rPr lang="en-US" dirty="0" err="1"/>
              <a:t>pozitifleri</a:t>
            </a:r>
            <a:r>
              <a:rPr lang="en-US" dirty="0"/>
              <a:t> </a:t>
            </a:r>
            <a:r>
              <a:rPr lang="en-US" dirty="0" err="1"/>
              <a:t>manuel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incelemesi</a:t>
            </a:r>
            <a:r>
              <a:rPr lang="en-US" dirty="0"/>
              <a:t> </a:t>
            </a:r>
            <a:r>
              <a:rPr lang="en-US" dirty="0" err="1"/>
              <a:t>gerekir</a:t>
            </a:r>
            <a:r>
              <a:rPr lang="en-US" dirty="0"/>
              <a:t>. </a:t>
            </a:r>
            <a:r>
              <a:rPr lang="en-US" dirty="0" err="1"/>
              <a:t>Eğer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inceleme</a:t>
            </a:r>
            <a:r>
              <a:rPr lang="en-US" dirty="0"/>
              <a:t> </a:t>
            </a:r>
            <a:r>
              <a:rPr lang="en-US" dirty="0" err="1"/>
              <a:t>sırasında</a:t>
            </a:r>
            <a:r>
              <a:rPr lang="en-US" dirty="0"/>
              <a:t> </a:t>
            </a:r>
            <a:r>
              <a:rPr lang="en-US" dirty="0" err="1"/>
              <a:t>sistemin</a:t>
            </a:r>
            <a:r>
              <a:rPr lang="en-US" dirty="0"/>
              <a:t> </a:t>
            </a:r>
            <a:r>
              <a:rPr lang="en-US" dirty="0" err="1"/>
              <a:t>belirli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örneği</a:t>
            </a:r>
            <a:r>
              <a:rPr lang="en-US" dirty="0"/>
              <a:t> </a:t>
            </a:r>
            <a:r>
              <a:rPr lang="en-US" dirty="0" err="1"/>
              <a:t>neden</a:t>
            </a:r>
            <a:r>
              <a:rPr lang="en-US" dirty="0"/>
              <a:t> </a:t>
            </a:r>
            <a:r>
              <a:rPr lang="en-US" dirty="0" err="1"/>
              <a:t>hatalı</a:t>
            </a:r>
            <a:r>
              <a:rPr lang="en-US" dirty="0"/>
              <a:t> </a:t>
            </a:r>
            <a:r>
              <a:rPr lang="en-US" dirty="0" err="1"/>
              <a:t>biçimde</a:t>
            </a:r>
            <a:r>
              <a:rPr lang="en-US" dirty="0"/>
              <a:t> </a:t>
            </a:r>
            <a:r>
              <a:rPr lang="en-US" dirty="0" err="1"/>
              <a:t>raporladığı</a:t>
            </a:r>
            <a:r>
              <a:rPr lang="en-US" dirty="0"/>
              <a:t> </a:t>
            </a:r>
            <a:r>
              <a:rPr lang="en-US" dirty="0" err="1"/>
              <a:t>anlaşılamıyorsa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durum </a:t>
            </a:r>
            <a:r>
              <a:rPr lang="en-US" dirty="0" err="1"/>
              <a:t>anomali</a:t>
            </a:r>
            <a:r>
              <a:rPr lang="en-US" dirty="0"/>
              <a:t> </a:t>
            </a:r>
            <a:r>
              <a:rPr lang="en-US" dirty="0" err="1"/>
              <a:t>tespit</a:t>
            </a:r>
            <a:r>
              <a:rPr lang="en-US" dirty="0"/>
              <a:t> </a:t>
            </a:r>
            <a:r>
              <a:rPr lang="en-US" dirty="0" err="1"/>
              <a:t>sisteminin</a:t>
            </a:r>
            <a:r>
              <a:rPr lang="en-US" dirty="0"/>
              <a:t> </a:t>
            </a:r>
            <a:r>
              <a:rPr lang="en-US" dirty="0" err="1"/>
              <a:t>çalışma</a:t>
            </a:r>
            <a:r>
              <a:rPr lang="en-US" dirty="0"/>
              <a:t> </a:t>
            </a:r>
            <a:r>
              <a:rPr lang="en-US" dirty="0" err="1"/>
              <a:t>biçimine</a:t>
            </a:r>
            <a:r>
              <a:rPr lang="en-US" dirty="0"/>
              <a:t> </a:t>
            </a:r>
            <a:r>
              <a:rPr lang="en-US" dirty="0" err="1"/>
              <a:t>dair</a:t>
            </a:r>
            <a:r>
              <a:rPr lang="en-US" dirty="0"/>
              <a:t> </a:t>
            </a:r>
            <a:r>
              <a:rPr lang="en-US" dirty="0" err="1"/>
              <a:t>yeterli</a:t>
            </a:r>
            <a:r>
              <a:rPr lang="en-US" dirty="0"/>
              <a:t> </a:t>
            </a:r>
            <a:r>
              <a:rPr lang="en-US" dirty="0" err="1"/>
              <a:t>içgörünün</a:t>
            </a:r>
            <a:r>
              <a:rPr lang="en-US" dirty="0"/>
              <a:t> </a:t>
            </a:r>
            <a:r>
              <a:rPr lang="en-US" dirty="0" err="1"/>
              <a:t>bulunmadığını</a:t>
            </a:r>
            <a:r>
              <a:rPr lang="en-US" dirty="0"/>
              <a:t> </a:t>
            </a:r>
            <a:r>
              <a:rPr lang="en-US" dirty="0" err="1"/>
              <a:t>gösterir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Herhangi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anomali</a:t>
            </a:r>
            <a:r>
              <a:rPr lang="en-US" dirty="0"/>
              <a:t> </a:t>
            </a:r>
            <a:r>
              <a:rPr lang="en-US" dirty="0" err="1"/>
              <a:t>tespit</a:t>
            </a:r>
            <a:r>
              <a:rPr lang="en-US" dirty="0"/>
              <a:t> </a:t>
            </a:r>
            <a:r>
              <a:rPr lang="en-US" dirty="0" err="1"/>
              <a:t>sisteminin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dünyadaki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ikna</a:t>
            </a:r>
            <a:r>
              <a:rPr lang="en-US" dirty="0"/>
              <a:t> </a:t>
            </a:r>
            <a:r>
              <a:rPr lang="en-US" dirty="0" err="1"/>
              <a:t>edici</a:t>
            </a:r>
            <a:r>
              <a:rPr lang="en-US" dirty="0"/>
              <a:t> </a:t>
            </a:r>
            <a:r>
              <a:rPr lang="en-US" dirty="0" err="1"/>
              <a:t>sınaması</a:t>
            </a:r>
            <a:r>
              <a:rPr lang="en-US" dirty="0"/>
              <a:t>, </a:t>
            </a:r>
            <a:r>
              <a:rPr lang="en-US" dirty="0" err="1"/>
              <a:t>sistemi</a:t>
            </a:r>
            <a:r>
              <a:rPr lang="en-US" dirty="0"/>
              <a:t> </a:t>
            </a:r>
            <a:r>
              <a:rPr lang="en-US" dirty="0" err="1"/>
              <a:t>kendi</a:t>
            </a:r>
            <a:r>
              <a:rPr lang="en-US" dirty="0"/>
              <a:t> </a:t>
            </a:r>
            <a:r>
              <a:rPr lang="en-US" dirty="0" err="1"/>
              <a:t>ağlarında</a:t>
            </a:r>
            <a:r>
              <a:rPr lang="en-US" dirty="0"/>
              <a:t> </a:t>
            </a:r>
            <a:r>
              <a:rPr lang="en-US" dirty="0" err="1"/>
              <a:t>çalıştıran</a:t>
            </a:r>
            <a:r>
              <a:rPr lang="en-US" dirty="0"/>
              <a:t> </a:t>
            </a:r>
            <a:r>
              <a:rPr lang="en-US" dirty="0" err="1"/>
              <a:t>operatörlerden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bildirim</a:t>
            </a:r>
            <a:r>
              <a:rPr lang="en-US" dirty="0"/>
              <a:t> </a:t>
            </a:r>
            <a:r>
              <a:rPr lang="en-US" dirty="0" err="1"/>
              <a:t>alınmasıdır</a:t>
            </a:r>
            <a:r>
              <a:rPr lang="en-US" dirty="0"/>
              <a:t>.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6869474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24422-26FD-55FE-CC30-B8C17D771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76"/>
            <a:ext cx="10515600" cy="1325563"/>
          </a:xfrm>
        </p:spPr>
        <p:txBody>
          <a:bodyPr/>
          <a:lstStyle/>
          <a:p>
            <a:r>
              <a:rPr lang="en-TR" dirty="0"/>
              <a:t>Güzel Örnek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3615E-2076-65C9-5008-A6C41B9D5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1639"/>
            <a:ext cx="10515600" cy="485895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Sağlam </a:t>
            </a:r>
            <a:r>
              <a:rPr lang="en-US" dirty="0" err="1"/>
              <a:t>anomali</a:t>
            </a:r>
            <a:r>
              <a:rPr lang="en-US" dirty="0"/>
              <a:t> </a:t>
            </a:r>
            <a:r>
              <a:rPr lang="en-US" dirty="0" err="1"/>
              <a:t>tespiti</a:t>
            </a:r>
            <a:r>
              <a:rPr lang="en-US" dirty="0"/>
              <a:t> </a:t>
            </a:r>
            <a:r>
              <a:rPr lang="en-US" dirty="0" err="1"/>
              <a:t>çalışmalarında</a:t>
            </a:r>
            <a:r>
              <a:rPr lang="en-US" dirty="0"/>
              <a:t> </a:t>
            </a:r>
            <a:r>
              <a:rPr lang="en-US" dirty="0" err="1"/>
              <a:t>hayati</a:t>
            </a:r>
            <a:r>
              <a:rPr lang="en-US" dirty="0"/>
              <a:t> </a:t>
            </a:r>
            <a:r>
              <a:rPr lang="en-US" dirty="0" err="1"/>
              <a:t>gördüğümüz</a:t>
            </a:r>
            <a:r>
              <a:rPr lang="en-US" dirty="0"/>
              <a:t> </a:t>
            </a:r>
            <a:r>
              <a:rPr lang="en-US" dirty="0" err="1"/>
              <a:t>bakış</a:t>
            </a:r>
            <a:r>
              <a:rPr lang="en-US" dirty="0"/>
              <a:t> </a:t>
            </a:r>
            <a:r>
              <a:rPr lang="en-US" dirty="0" err="1"/>
              <a:t>açısına</a:t>
            </a:r>
            <a:r>
              <a:rPr lang="en-US" dirty="0"/>
              <a:t> iyi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örnek</a:t>
            </a:r>
            <a:r>
              <a:rPr lang="en-US" dirty="0"/>
              <a:t>, Kruegel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arkadaşlarının</a:t>
            </a:r>
            <a:r>
              <a:rPr lang="en-US" dirty="0"/>
              <a:t> web </a:t>
            </a:r>
            <a:r>
              <a:rPr lang="en-US" dirty="0" err="1"/>
              <a:t>tabanlı</a:t>
            </a:r>
            <a:r>
              <a:rPr lang="en-US" dirty="0"/>
              <a:t> </a:t>
            </a:r>
            <a:r>
              <a:rPr lang="en-US" dirty="0" err="1"/>
              <a:t>saldırılar</a:t>
            </a:r>
            <a:r>
              <a:rPr lang="en-US" dirty="0"/>
              <a:t> </a:t>
            </a:r>
            <a:r>
              <a:rPr lang="en-US" dirty="0" err="1"/>
              <a:t>üzerine</a:t>
            </a:r>
            <a:r>
              <a:rPr lang="en-US" dirty="0"/>
              <a:t> </a:t>
            </a:r>
            <a:r>
              <a:rPr lang="en-US" dirty="0" err="1"/>
              <a:t>yaptığı</a:t>
            </a:r>
            <a:r>
              <a:rPr lang="en-US" dirty="0"/>
              <a:t> </a:t>
            </a:r>
            <a:r>
              <a:rPr lang="en-US" dirty="0" err="1"/>
              <a:t>çalışmadır</a:t>
            </a:r>
            <a:r>
              <a:rPr lang="en-US" dirty="0"/>
              <a:t>. </a:t>
            </a:r>
          </a:p>
          <a:p>
            <a:r>
              <a:rPr lang="en-US" dirty="0" err="1"/>
              <a:t>Yazarlar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başından</a:t>
            </a:r>
            <a:r>
              <a:rPr lang="en-US" dirty="0"/>
              <a:t> </a:t>
            </a:r>
            <a:r>
              <a:rPr lang="en-US" dirty="0" err="1"/>
              <a:t>itibaren</a:t>
            </a:r>
            <a:r>
              <a:rPr lang="en-US" dirty="0"/>
              <a:t> son </a:t>
            </a:r>
            <a:r>
              <a:rPr lang="en-US" dirty="0" err="1"/>
              <a:t>derece</a:t>
            </a:r>
            <a:r>
              <a:rPr lang="en-US" dirty="0"/>
              <a:t> </a:t>
            </a:r>
            <a:r>
              <a:rPr lang="en-US" dirty="0" err="1"/>
              <a:t>belirli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saldırı</a:t>
            </a:r>
            <a:r>
              <a:rPr lang="en-US" dirty="0"/>
              <a:t> </a:t>
            </a:r>
            <a:r>
              <a:rPr lang="en-US" dirty="0" err="1"/>
              <a:t>sınıfına</a:t>
            </a:r>
            <a:r>
              <a:rPr lang="en-US" dirty="0"/>
              <a:t> </a:t>
            </a:r>
            <a:r>
              <a:rPr lang="en-US" dirty="0" err="1"/>
              <a:t>odaklanmaktadır</a:t>
            </a:r>
            <a:r>
              <a:rPr lang="en-US" dirty="0"/>
              <a:t>: </a:t>
            </a:r>
            <a:r>
              <a:rPr lang="en-US" dirty="0" err="1"/>
              <a:t>hatalı</a:t>
            </a:r>
            <a:r>
              <a:rPr lang="en-US" dirty="0"/>
              <a:t> </a:t>
            </a:r>
            <a:r>
              <a:rPr lang="en-US" dirty="0" err="1"/>
              <a:t>biçimlendirilmiş</a:t>
            </a:r>
            <a:r>
              <a:rPr lang="en-US" dirty="0"/>
              <a:t> </a:t>
            </a:r>
            <a:r>
              <a:rPr lang="en-US" dirty="0" err="1"/>
              <a:t>sorgu</a:t>
            </a:r>
            <a:r>
              <a:rPr lang="en-US" dirty="0"/>
              <a:t> </a:t>
            </a:r>
            <a:r>
              <a:rPr lang="en-US" dirty="0" err="1"/>
              <a:t>parametreleri</a:t>
            </a:r>
            <a:r>
              <a:rPr lang="en-US" dirty="0"/>
              <a:t> </a:t>
            </a:r>
            <a:r>
              <a:rPr lang="en-US" dirty="0" err="1"/>
              <a:t>kullanılarak</a:t>
            </a:r>
            <a:r>
              <a:rPr lang="en-US" dirty="0"/>
              <a:t> web </a:t>
            </a:r>
            <a:r>
              <a:rPr lang="en-US" dirty="0" err="1"/>
              <a:t>sunucularının</a:t>
            </a:r>
            <a:r>
              <a:rPr lang="en-US" dirty="0"/>
              <a:t> </a:t>
            </a:r>
            <a:r>
              <a:rPr lang="en-US" dirty="0" err="1"/>
              <a:t>istismar</a:t>
            </a:r>
            <a:r>
              <a:rPr lang="en-US" dirty="0"/>
              <a:t> </a:t>
            </a:r>
            <a:r>
              <a:rPr lang="en-US" dirty="0" err="1"/>
              <a:t>edilmesi</a:t>
            </a:r>
            <a:r>
              <a:rPr lang="en-US" dirty="0"/>
              <a:t>. </a:t>
            </a:r>
          </a:p>
          <a:p>
            <a:r>
              <a:rPr lang="en-US" dirty="0" err="1"/>
              <a:t>Tartışma</a:t>
            </a:r>
            <a:r>
              <a:rPr lang="en-US" dirty="0"/>
              <a:t>, </a:t>
            </a:r>
            <a:r>
              <a:rPr lang="en-US" dirty="0" err="1"/>
              <a:t>anomali</a:t>
            </a:r>
            <a:r>
              <a:rPr lang="en-US" dirty="0"/>
              <a:t> </a:t>
            </a:r>
            <a:r>
              <a:rPr lang="en-US" dirty="0" err="1"/>
              <a:t>tespitine</a:t>
            </a:r>
            <a:r>
              <a:rPr lang="en-US" dirty="0"/>
              <a:t> </a:t>
            </a:r>
            <a:r>
              <a:rPr lang="en-US" dirty="0" err="1"/>
              <a:t>neden</a:t>
            </a:r>
            <a:r>
              <a:rPr lang="en-US" dirty="0"/>
              <a:t> </a:t>
            </a:r>
            <a:r>
              <a:rPr lang="en-US" dirty="0" err="1"/>
              <a:t>ihtiyaç</a:t>
            </a:r>
            <a:r>
              <a:rPr lang="en-US" dirty="0"/>
              <a:t> </a:t>
            </a:r>
            <a:r>
              <a:rPr lang="en-US" dirty="0" err="1"/>
              <a:t>duyulduğunu</a:t>
            </a:r>
            <a:r>
              <a:rPr lang="en-US" dirty="0"/>
              <a:t> </a:t>
            </a:r>
            <a:r>
              <a:rPr lang="en-US" dirty="0" err="1"/>
              <a:t>ikna</a:t>
            </a:r>
            <a:r>
              <a:rPr lang="en-US" dirty="0"/>
              <a:t> </a:t>
            </a:r>
            <a:r>
              <a:rPr lang="en-US" dirty="0" err="1"/>
              <a:t>edici</a:t>
            </a:r>
            <a:r>
              <a:rPr lang="en-US" dirty="0"/>
              <a:t> </a:t>
            </a:r>
            <a:r>
              <a:rPr lang="en-US" dirty="0" err="1"/>
              <a:t>biçimde</a:t>
            </a:r>
            <a:r>
              <a:rPr lang="en-US" dirty="0"/>
              <a:t> </a:t>
            </a:r>
            <a:r>
              <a:rPr lang="en-US" dirty="0" err="1"/>
              <a:t>ortaya</a:t>
            </a:r>
            <a:r>
              <a:rPr lang="en-US" dirty="0"/>
              <a:t> </a:t>
            </a:r>
            <a:r>
              <a:rPr lang="en-US" dirty="0" err="1"/>
              <a:t>koymaktadır</a:t>
            </a:r>
            <a:r>
              <a:rPr lang="en-US" dirty="0"/>
              <a:t> (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tür</a:t>
            </a:r>
            <a:r>
              <a:rPr lang="en-US" dirty="0"/>
              <a:t> </a:t>
            </a:r>
            <a:r>
              <a:rPr lang="en-US" dirty="0" err="1"/>
              <a:t>saldırılar</a:t>
            </a:r>
            <a:r>
              <a:rPr lang="en-US" dirty="0"/>
              <a:t> </a:t>
            </a:r>
            <a:r>
              <a:rPr lang="en-US" dirty="0" err="1"/>
              <a:t>kavramsal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benzerlikler</a:t>
            </a:r>
            <a:r>
              <a:rPr lang="en-US" dirty="0"/>
              <a:t> </a:t>
            </a:r>
            <a:r>
              <a:rPr lang="en-US" dirty="0" err="1"/>
              <a:t>taşısa</a:t>
            </a:r>
            <a:r>
              <a:rPr lang="en-US" dirty="0"/>
              <a:t> da, </a:t>
            </a:r>
            <a:r>
              <a:rPr lang="en-US" dirty="0" err="1"/>
              <a:t>ayrıntılardaki</a:t>
            </a:r>
            <a:r>
              <a:rPr lang="en-US" dirty="0"/>
              <a:t> </a:t>
            </a:r>
            <a:r>
              <a:rPr lang="en-US" dirty="0" err="1"/>
              <a:t>farklılıkları</a:t>
            </a:r>
            <a:r>
              <a:rPr lang="en-US" dirty="0"/>
              <a:t> </a:t>
            </a:r>
            <a:r>
              <a:rPr lang="en-US" dirty="0" err="1"/>
              <a:t>imza</a:t>
            </a:r>
            <a:r>
              <a:rPr lang="en-US" dirty="0"/>
              <a:t> </a:t>
            </a:r>
            <a:r>
              <a:rPr lang="en-US" dirty="0" err="1"/>
              <a:t>yazımını</a:t>
            </a:r>
            <a:r>
              <a:rPr lang="en-US" dirty="0"/>
              <a:t> </a:t>
            </a:r>
            <a:r>
              <a:rPr lang="en-US" dirty="0" err="1"/>
              <a:t>pratik</a:t>
            </a:r>
            <a:r>
              <a:rPr lang="en-US" dirty="0"/>
              <a:t> </a:t>
            </a:r>
            <a:r>
              <a:rPr lang="en-US" dirty="0" err="1"/>
              <a:t>olmaktan</a:t>
            </a:r>
            <a:r>
              <a:rPr lang="en-US" dirty="0"/>
              <a:t> </a:t>
            </a:r>
            <a:r>
              <a:rPr lang="en-US" dirty="0" err="1"/>
              <a:t>çıkaracak</a:t>
            </a:r>
            <a:r>
              <a:rPr lang="en-US" dirty="0"/>
              <a:t> </a:t>
            </a:r>
            <a:r>
              <a:rPr lang="en-US" dirty="0" err="1"/>
              <a:t>kadar</a:t>
            </a:r>
            <a:r>
              <a:rPr lang="en-US" dirty="0"/>
              <a:t> </a:t>
            </a:r>
            <a:r>
              <a:rPr lang="en-US" dirty="0" err="1"/>
              <a:t>fazladır</a:t>
            </a:r>
            <a:r>
              <a:rPr lang="en-US" dirty="0"/>
              <a:t>);</a:t>
            </a:r>
          </a:p>
          <a:p>
            <a:r>
              <a:rPr lang="en-US" dirty="0" err="1"/>
              <a:t>Ayrıca</a:t>
            </a:r>
            <a:r>
              <a:rPr lang="en-US" dirty="0"/>
              <a:t> </a:t>
            </a:r>
            <a:r>
              <a:rPr lang="en-US" dirty="0" err="1"/>
              <a:t>yazarlar</a:t>
            </a:r>
            <a:r>
              <a:rPr lang="en-US" dirty="0"/>
              <a:t>, iyi </a:t>
            </a:r>
            <a:r>
              <a:rPr lang="en-US" dirty="0" err="1"/>
              <a:t>huylu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kötü</a:t>
            </a:r>
            <a:r>
              <a:rPr lang="en-US" dirty="0"/>
              <a:t> </a:t>
            </a:r>
            <a:r>
              <a:rPr lang="en-US" dirty="0" err="1"/>
              <a:t>niyetli</a:t>
            </a:r>
            <a:r>
              <a:rPr lang="en-US" dirty="0"/>
              <a:t> </a:t>
            </a:r>
            <a:r>
              <a:rPr lang="en-US" dirty="0" err="1"/>
              <a:t>isteklerin</a:t>
            </a:r>
            <a:r>
              <a:rPr lang="en-US" dirty="0"/>
              <a:t> </a:t>
            </a:r>
            <a:r>
              <a:rPr lang="en-US" dirty="0" err="1"/>
              <a:t>özelliklerini</a:t>
            </a:r>
            <a:r>
              <a:rPr lang="en-US" dirty="0"/>
              <a:t> </a:t>
            </a:r>
            <a:r>
              <a:rPr lang="en-US" dirty="0" err="1"/>
              <a:t>karşılaştırarak</a:t>
            </a:r>
            <a:r>
              <a:rPr lang="en-US" dirty="0"/>
              <a:t> </a:t>
            </a:r>
            <a:r>
              <a:rPr lang="en-US" dirty="0" err="1"/>
              <a:t>seçilen</a:t>
            </a:r>
            <a:r>
              <a:rPr lang="en-US" dirty="0"/>
              <a:t> </a:t>
            </a:r>
            <a:r>
              <a:rPr lang="en-US" dirty="0" err="1"/>
              <a:t>özellikleri</a:t>
            </a:r>
            <a:r>
              <a:rPr lang="en-US" dirty="0"/>
              <a:t> </a:t>
            </a:r>
            <a:r>
              <a:rPr lang="en-US" dirty="0" err="1"/>
              <a:t>açık</a:t>
            </a:r>
            <a:r>
              <a:rPr lang="en-US" dirty="0"/>
              <a:t> </a:t>
            </a:r>
            <a:r>
              <a:rPr lang="en-US" dirty="0" err="1"/>
              <a:t>biçimde</a:t>
            </a:r>
            <a:r>
              <a:rPr lang="en-US" dirty="0"/>
              <a:t> </a:t>
            </a:r>
            <a:r>
              <a:rPr lang="en-US" dirty="0" err="1"/>
              <a:t>gerekçelendirmektedir</a:t>
            </a:r>
            <a:r>
              <a:rPr lang="en-US" dirty="0"/>
              <a:t> (</a:t>
            </a:r>
            <a:r>
              <a:rPr lang="en-US" dirty="0" err="1"/>
              <a:t>örneğin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sorgunun</a:t>
            </a:r>
            <a:r>
              <a:rPr lang="en-US" dirty="0"/>
              <a:t> </a:t>
            </a:r>
            <a:r>
              <a:rPr lang="en-US" dirty="0" err="1"/>
              <a:t>parametrelerinin</a:t>
            </a:r>
            <a:r>
              <a:rPr lang="en-US" dirty="0"/>
              <a:t> </a:t>
            </a:r>
            <a:r>
              <a:rPr lang="en-US" dirty="0" err="1"/>
              <a:t>tipik</a:t>
            </a:r>
            <a:r>
              <a:rPr lang="en-US" dirty="0"/>
              <a:t> </a:t>
            </a:r>
            <a:r>
              <a:rPr lang="en-US" dirty="0" err="1"/>
              <a:t>uzunluğu</a:t>
            </a:r>
            <a:r>
              <a:rPr lang="en-US" dirty="0"/>
              <a:t> </a:t>
            </a:r>
            <a:r>
              <a:rPr lang="en-US" dirty="0" err="1"/>
              <a:t>kısa</a:t>
            </a:r>
            <a:r>
              <a:rPr lang="en-US" dirty="0"/>
              <a:t> </a:t>
            </a:r>
            <a:r>
              <a:rPr lang="en-US" dirty="0" err="1"/>
              <a:t>olma</a:t>
            </a:r>
            <a:r>
              <a:rPr lang="en-US" dirty="0"/>
              <a:t> </a:t>
            </a:r>
            <a:r>
              <a:rPr lang="en-US" dirty="0" err="1"/>
              <a:t>eğilimindeyken</a:t>
            </a:r>
            <a:r>
              <a:rPr lang="en-US" dirty="0"/>
              <a:t>, </a:t>
            </a:r>
            <a:r>
              <a:rPr lang="en-US" dirty="0" err="1"/>
              <a:t>başarılı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arabellek</a:t>
            </a:r>
            <a:r>
              <a:rPr lang="en-US" dirty="0"/>
              <a:t> </a:t>
            </a:r>
            <a:r>
              <a:rPr lang="en-US" dirty="0" err="1"/>
              <a:t>taşması</a:t>
            </a:r>
            <a:r>
              <a:rPr lang="en-US" dirty="0"/>
              <a:t> </a:t>
            </a:r>
            <a:r>
              <a:rPr lang="en-US" dirty="0" err="1"/>
              <a:t>saldırısı</a:t>
            </a:r>
            <a:r>
              <a:rPr lang="en-US" dirty="0"/>
              <a:t> </a:t>
            </a:r>
            <a:r>
              <a:rPr lang="en-US" dirty="0" err="1"/>
              <a:t>büyük</a:t>
            </a:r>
            <a:r>
              <a:rPr lang="en-US" dirty="0"/>
              <a:t> </a:t>
            </a:r>
            <a:r>
              <a:rPr lang="en-US" dirty="0" err="1"/>
              <a:t>olasılıkla</a:t>
            </a:r>
            <a:r>
              <a:rPr lang="en-US" dirty="0"/>
              <a:t> </a:t>
            </a:r>
            <a:r>
              <a:rPr lang="en-US" dirty="0" err="1"/>
              <a:t>uzun</a:t>
            </a:r>
            <a:r>
              <a:rPr lang="en-US" dirty="0"/>
              <a:t> </a:t>
            </a:r>
            <a:r>
              <a:rPr lang="en-US" dirty="0" err="1"/>
              <a:t>kabuk</a:t>
            </a:r>
            <a:r>
              <a:rPr lang="en-US" dirty="0"/>
              <a:t> </a:t>
            </a:r>
            <a:r>
              <a:rPr lang="en-US" dirty="0" err="1"/>
              <a:t>kodu</a:t>
            </a:r>
            <a:r>
              <a:rPr lang="en-US" dirty="0"/>
              <a:t> </a:t>
            </a:r>
            <a:r>
              <a:rPr lang="en-US" dirty="0" err="1"/>
              <a:t>dizileri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dolgu</a:t>
            </a:r>
            <a:r>
              <a:rPr lang="en-US" dirty="0"/>
              <a:t> </a:t>
            </a:r>
            <a:r>
              <a:rPr lang="en-US" dirty="0" err="1"/>
              <a:t>verileri</a:t>
            </a:r>
            <a:r>
              <a:rPr lang="en-US" dirty="0"/>
              <a:t> </a:t>
            </a:r>
            <a:r>
              <a:rPr lang="en-US" dirty="0" err="1"/>
              <a:t>gerektirir</a:t>
            </a:r>
            <a:r>
              <a:rPr lang="en-US" dirty="0"/>
              <a:t>). </a:t>
            </a:r>
          </a:p>
          <a:p>
            <a:r>
              <a:rPr lang="en-US" dirty="0"/>
              <a:t>Bu </a:t>
            </a:r>
            <a:r>
              <a:rPr lang="en-US" dirty="0" err="1"/>
              <a:t>şekilde</a:t>
            </a:r>
            <a:r>
              <a:rPr lang="en-US" dirty="0"/>
              <a:t> problem </a:t>
            </a:r>
            <a:r>
              <a:rPr lang="en-US" dirty="0" err="1"/>
              <a:t>alanının</a:t>
            </a:r>
            <a:r>
              <a:rPr lang="en-US" dirty="0"/>
              <a:t> </a:t>
            </a:r>
            <a:r>
              <a:rPr lang="en-US" dirty="0" err="1"/>
              <a:t>sistematik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ortaya</a:t>
            </a:r>
            <a:r>
              <a:rPr lang="en-US" dirty="0"/>
              <a:t> </a:t>
            </a:r>
            <a:r>
              <a:rPr lang="en-US" dirty="0" err="1"/>
              <a:t>konması</a:t>
            </a:r>
            <a:r>
              <a:rPr lang="en-US" dirty="0"/>
              <a:t>, </a:t>
            </a:r>
            <a:r>
              <a:rPr lang="en-US" dirty="0" err="1"/>
              <a:t>çalışmanın</a:t>
            </a:r>
            <a:r>
              <a:rPr lang="en-US" dirty="0"/>
              <a:t> </a:t>
            </a:r>
            <a:r>
              <a:rPr lang="en-US" dirty="0" err="1"/>
              <a:t>sağlam</a:t>
            </a:r>
            <a:r>
              <a:rPr lang="en-US" dirty="0"/>
              <a:t> </a:t>
            </a:r>
            <a:r>
              <a:rPr lang="en-US" dirty="0" err="1"/>
              <a:t>temellere</a:t>
            </a:r>
            <a:r>
              <a:rPr lang="en-US" dirty="0"/>
              <a:t> </a:t>
            </a:r>
            <a:r>
              <a:rPr lang="en-US" dirty="0" err="1"/>
              <a:t>oturmasını</a:t>
            </a:r>
            <a:r>
              <a:rPr lang="en-US" dirty="0"/>
              <a:t> </a:t>
            </a:r>
            <a:r>
              <a:rPr lang="en-US" dirty="0" err="1"/>
              <a:t>sağlar</a:t>
            </a:r>
            <a:r>
              <a:rPr lang="en-US" dirty="0"/>
              <a:t>.</a:t>
            </a:r>
            <a:endParaRPr lang="en-T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59AC32-935B-9034-C5B1-68F50AF30B8F}"/>
              </a:ext>
            </a:extLst>
          </p:cNvPr>
          <p:cNvSpPr txBox="1"/>
          <p:nvPr/>
        </p:nvSpPr>
        <p:spPr>
          <a:xfrm>
            <a:off x="1891863" y="6190593"/>
            <a:ext cx="87761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u="sng" dirty="0">
                <a:solidFill>
                  <a:srgbClr val="000000"/>
                </a:solidFill>
                <a:effectLst/>
                <a:latin typeface="Times"/>
              </a:rPr>
              <a:t>Kaynak:</a:t>
            </a:r>
            <a:r>
              <a:rPr lang="en-US" dirty="0">
                <a:solidFill>
                  <a:srgbClr val="000000"/>
                </a:solidFill>
                <a:effectLst/>
                <a:latin typeface="Times"/>
              </a:rPr>
              <a:t> C. Kruegel and G. Vigna, “Anomaly Detection of Web- based Attacks,” in </a:t>
            </a:r>
            <a:r>
              <a:rPr lang="en-US" i="1" dirty="0">
                <a:solidFill>
                  <a:srgbClr val="000000"/>
                </a:solidFill>
                <a:effectLst/>
                <a:latin typeface="Times"/>
              </a:rPr>
              <a:t>Proc. ACM Conference on Computer and Communications Security</a:t>
            </a:r>
            <a:r>
              <a:rPr lang="en-US" dirty="0">
                <a:solidFill>
                  <a:srgbClr val="000000"/>
                </a:solidFill>
                <a:effectLst/>
                <a:latin typeface="Times"/>
              </a:rPr>
              <a:t>, 2003.</a:t>
            </a:r>
          </a:p>
        </p:txBody>
      </p:sp>
    </p:spTree>
    <p:extLst>
      <p:ext uri="{BB962C8B-B14F-4D97-AF65-F5344CB8AC3E}">
        <p14:creationId xmlns:p14="http://schemas.microsoft.com/office/powerpoint/2010/main" val="3474701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E3F19-B372-A474-B1B7-D1F6BBA69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2026 Yılı – Bu Ç</a:t>
            </a:r>
            <a:r>
              <a:rPr lang="en-US" dirty="0"/>
              <a:t>a</a:t>
            </a:r>
            <a:r>
              <a:rPr lang="en-TR" dirty="0"/>
              <a:t>lişmaya Tekrar Bakalım!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F01FF-23C0-9EDD-F896-3B0E36AA2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096" y="1533032"/>
            <a:ext cx="10933386" cy="5519409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Aykırı</a:t>
            </a:r>
            <a:r>
              <a:rPr lang="en-US" dirty="0"/>
              <a:t> Değer Tespiti</a:t>
            </a:r>
          </a:p>
          <a:p>
            <a:pPr lvl="1"/>
            <a:r>
              <a:rPr lang="en-US" dirty="0"/>
              <a:t>Foundation </a:t>
            </a:r>
            <a:r>
              <a:rPr lang="en-US" dirty="0" err="1"/>
              <a:t>modeller</a:t>
            </a:r>
            <a:r>
              <a:rPr lang="en-US" dirty="0"/>
              <a:t>,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önce</a:t>
            </a:r>
            <a:r>
              <a:rPr lang="en-US" dirty="0"/>
              <a:t> </a:t>
            </a:r>
            <a:r>
              <a:rPr lang="en-US" dirty="0" err="1"/>
              <a:t>görülmemiş</a:t>
            </a:r>
            <a:r>
              <a:rPr lang="en-US" dirty="0"/>
              <a:t> </a:t>
            </a:r>
            <a:r>
              <a:rPr lang="en-US" dirty="0" err="1"/>
              <a:t>davranışları</a:t>
            </a:r>
            <a:r>
              <a:rPr lang="en-US" dirty="0"/>
              <a:t> </a:t>
            </a:r>
            <a:r>
              <a:rPr lang="en-US" dirty="0" err="1"/>
              <a:t>yalnızca</a:t>
            </a:r>
            <a:r>
              <a:rPr lang="en-US" dirty="0"/>
              <a:t> </a:t>
            </a:r>
            <a:r>
              <a:rPr lang="en-US" dirty="0" err="1"/>
              <a:t>işaretlemek</a:t>
            </a:r>
            <a:r>
              <a:rPr lang="en-US" dirty="0"/>
              <a:t> </a:t>
            </a:r>
            <a:r>
              <a:rPr lang="en-US" dirty="0" err="1"/>
              <a:t>yerine</a:t>
            </a:r>
            <a:r>
              <a:rPr lang="en-US" dirty="0"/>
              <a:t>, </a:t>
            </a:r>
            <a:r>
              <a:rPr lang="en-US" dirty="0" err="1"/>
              <a:t>bunları</a:t>
            </a:r>
            <a:r>
              <a:rPr lang="en-US" dirty="0"/>
              <a:t> </a:t>
            </a:r>
            <a:r>
              <a:rPr lang="en-US" dirty="0" err="1"/>
              <a:t>benzer</a:t>
            </a:r>
            <a:r>
              <a:rPr lang="en-US" dirty="0"/>
              <a:t> </a:t>
            </a:r>
            <a:r>
              <a:rPr lang="en-US" dirty="0" err="1"/>
              <a:t>geçmiş</a:t>
            </a:r>
            <a:r>
              <a:rPr lang="en-US" dirty="0"/>
              <a:t> </a:t>
            </a:r>
            <a:r>
              <a:rPr lang="en-US" dirty="0" err="1"/>
              <a:t>örnekler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bağlamla</a:t>
            </a:r>
            <a:r>
              <a:rPr lang="en-US" dirty="0"/>
              <a:t> </a:t>
            </a:r>
            <a:r>
              <a:rPr lang="en-US" dirty="0" err="1"/>
              <a:t>ilişkilendirerek</a:t>
            </a:r>
            <a:r>
              <a:rPr lang="en-US" dirty="0"/>
              <a:t> </a:t>
            </a:r>
            <a:r>
              <a:rPr lang="en-US" dirty="0" err="1"/>
              <a:t>anlamlandırma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önceliklendirme</a:t>
            </a:r>
            <a:r>
              <a:rPr lang="en-US" dirty="0"/>
              <a:t> </a:t>
            </a:r>
            <a:r>
              <a:rPr lang="en-US" dirty="0" err="1"/>
              <a:t>potansiyeli</a:t>
            </a:r>
            <a:r>
              <a:rPr lang="en-US" dirty="0"/>
              <a:t> </a:t>
            </a:r>
            <a:r>
              <a:rPr lang="en-US" dirty="0" err="1"/>
              <a:t>sunar</a:t>
            </a:r>
            <a:r>
              <a:rPr lang="en-US" dirty="0"/>
              <a:t>. </a:t>
            </a:r>
          </a:p>
          <a:p>
            <a:r>
              <a:rPr lang="en-US" dirty="0" err="1"/>
              <a:t>Hataların</a:t>
            </a:r>
            <a:r>
              <a:rPr lang="en-US" dirty="0"/>
              <a:t> Yüksek </a:t>
            </a:r>
            <a:r>
              <a:rPr lang="en-US" dirty="0" err="1"/>
              <a:t>Maliyeti</a:t>
            </a:r>
            <a:endParaRPr lang="en-US" dirty="0"/>
          </a:p>
          <a:p>
            <a:pPr lvl="1"/>
            <a:r>
              <a:rPr lang="en-US" dirty="0"/>
              <a:t>Foundation </a:t>
            </a:r>
            <a:r>
              <a:rPr lang="en-US" dirty="0" err="1"/>
              <a:t>modeller</a:t>
            </a:r>
            <a:r>
              <a:rPr lang="en-US" dirty="0"/>
              <a:t>, </a:t>
            </a:r>
            <a:r>
              <a:rPr lang="en-US" dirty="0" err="1"/>
              <a:t>klasik</a:t>
            </a:r>
            <a:r>
              <a:rPr lang="en-US" dirty="0"/>
              <a:t> </a:t>
            </a:r>
            <a:r>
              <a:rPr lang="en-US" dirty="0" err="1"/>
              <a:t>dedektörlerin</a:t>
            </a:r>
            <a:r>
              <a:rPr lang="en-US" dirty="0"/>
              <a:t> </a:t>
            </a:r>
            <a:r>
              <a:rPr lang="en-US" dirty="0" err="1"/>
              <a:t>ürettiği</a:t>
            </a:r>
            <a:r>
              <a:rPr lang="en-US" dirty="0"/>
              <a:t> </a:t>
            </a:r>
            <a:r>
              <a:rPr lang="en-US" dirty="0" err="1"/>
              <a:t>alarmları</a:t>
            </a:r>
            <a:r>
              <a:rPr lang="en-US" dirty="0"/>
              <a:t> </a:t>
            </a:r>
            <a:r>
              <a:rPr lang="en-US" dirty="0" err="1"/>
              <a:t>bağlamsal</a:t>
            </a:r>
            <a:r>
              <a:rPr lang="en-US" dirty="0"/>
              <a:t> </a:t>
            </a:r>
            <a:r>
              <a:rPr lang="en-US" dirty="0" err="1"/>
              <a:t>bilgiyle</a:t>
            </a:r>
            <a:r>
              <a:rPr lang="en-US" dirty="0"/>
              <a:t> </a:t>
            </a:r>
            <a:r>
              <a:rPr lang="en-US" dirty="0" err="1"/>
              <a:t>işleyerek</a:t>
            </a:r>
            <a:r>
              <a:rPr lang="en-US" dirty="0"/>
              <a:t> </a:t>
            </a:r>
            <a:r>
              <a:rPr lang="en-US" dirty="0" err="1"/>
              <a:t>yanlış</a:t>
            </a:r>
            <a:r>
              <a:rPr lang="en-US" dirty="0"/>
              <a:t> </a:t>
            </a:r>
            <a:r>
              <a:rPr lang="en-US" dirty="0" err="1"/>
              <a:t>pozitifleri</a:t>
            </a:r>
            <a:r>
              <a:rPr lang="en-US" dirty="0"/>
              <a:t> </a:t>
            </a:r>
            <a:r>
              <a:rPr lang="en-US" dirty="0" err="1"/>
              <a:t>azaltma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operatör</a:t>
            </a:r>
            <a:r>
              <a:rPr lang="en-US" dirty="0"/>
              <a:t> </a:t>
            </a:r>
            <a:r>
              <a:rPr lang="en-US" dirty="0" err="1"/>
              <a:t>yükünü</a:t>
            </a:r>
            <a:r>
              <a:rPr lang="en-US" dirty="0"/>
              <a:t> </a:t>
            </a:r>
            <a:r>
              <a:rPr lang="en-US" dirty="0" err="1"/>
              <a:t>hafifletme</a:t>
            </a:r>
            <a:r>
              <a:rPr lang="en-US" dirty="0"/>
              <a:t> </a:t>
            </a:r>
            <a:r>
              <a:rPr lang="en-US" dirty="0" err="1"/>
              <a:t>potansiyeline</a:t>
            </a:r>
            <a:r>
              <a:rPr lang="en-US" dirty="0"/>
              <a:t> </a:t>
            </a:r>
            <a:r>
              <a:rPr lang="en-US" dirty="0" err="1"/>
              <a:t>sahiptir</a:t>
            </a:r>
            <a:r>
              <a:rPr lang="en-US" dirty="0"/>
              <a:t>.</a:t>
            </a:r>
          </a:p>
          <a:p>
            <a:r>
              <a:rPr lang="en-US" dirty="0" err="1"/>
              <a:t>Anlamsal</a:t>
            </a:r>
            <a:r>
              <a:rPr lang="en-US" dirty="0"/>
              <a:t> </a:t>
            </a:r>
            <a:r>
              <a:rPr lang="en-US" dirty="0" err="1"/>
              <a:t>Boşluk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Düşük</a:t>
            </a:r>
            <a:r>
              <a:rPr lang="en-US" dirty="0"/>
              <a:t> </a:t>
            </a:r>
            <a:r>
              <a:rPr lang="en-US" dirty="0" err="1"/>
              <a:t>seviyeli</a:t>
            </a:r>
            <a:r>
              <a:rPr lang="en-US" dirty="0"/>
              <a:t> </a:t>
            </a:r>
            <a:r>
              <a:rPr lang="en-US" dirty="0" err="1"/>
              <a:t>teknik</a:t>
            </a:r>
            <a:r>
              <a:rPr lang="en-US" dirty="0"/>
              <a:t> </a:t>
            </a:r>
            <a:r>
              <a:rPr lang="en-US" dirty="0" err="1"/>
              <a:t>bulguları</a:t>
            </a:r>
            <a:r>
              <a:rPr lang="en-US" dirty="0"/>
              <a:t>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seviyeli</a:t>
            </a:r>
            <a:r>
              <a:rPr lang="en-US" dirty="0"/>
              <a:t> </a:t>
            </a:r>
            <a:r>
              <a:rPr lang="en-US" dirty="0" err="1"/>
              <a:t>güvenlik</a:t>
            </a:r>
            <a:r>
              <a:rPr lang="en-US" dirty="0"/>
              <a:t> </a:t>
            </a:r>
            <a:r>
              <a:rPr lang="en-US" dirty="0" err="1"/>
              <a:t>kavramlarına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doğal</a:t>
            </a:r>
            <a:r>
              <a:rPr lang="en-US" dirty="0"/>
              <a:t> </a:t>
            </a:r>
            <a:r>
              <a:rPr lang="en-US" dirty="0" err="1"/>
              <a:t>dile</a:t>
            </a:r>
            <a:r>
              <a:rPr lang="en-US" dirty="0"/>
              <a:t> </a:t>
            </a:r>
            <a:r>
              <a:rPr lang="en-US" dirty="0" err="1"/>
              <a:t>dönüştürebilme</a:t>
            </a:r>
            <a:r>
              <a:rPr lang="en-US" dirty="0"/>
              <a:t> </a:t>
            </a:r>
            <a:r>
              <a:rPr lang="en-US" dirty="0" err="1"/>
              <a:t>yetenekleri</a:t>
            </a:r>
            <a:r>
              <a:rPr lang="en-US" dirty="0"/>
              <a:t> </a:t>
            </a:r>
            <a:r>
              <a:rPr lang="en-US" dirty="0" err="1"/>
              <a:t>sayesinde</a:t>
            </a:r>
            <a:r>
              <a:rPr lang="en-US" dirty="0"/>
              <a:t>, foundation </a:t>
            </a:r>
            <a:r>
              <a:rPr lang="en-US" dirty="0" err="1"/>
              <a:t>modeller</a:t>
            </a:r>
            <a:r>
              <a:rPr lang="en-US" dirty="0"/>
              <a:t> </a:t>
            </a:r>
            <a:r>
              <a:rPr lang="en-US" dirty="0" err="1"/>
              <a:t>operatör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eyleme</a:t>
            </a:r>
            <a:r>
              <a:rPr lang="en-US" dirty="0"/>
              <a:t> </a:t>
            </a:r>
            <a:r>
              <a:rPr lang="en-US" dirty="0" err="1"/>
              <a:t>dönüştürülebilir</a:t>
            </a:r>
            <a:r>
              <a:rPr lang="en-US" dirty="0"/>
              <a:t> </a:t>
            </a:r>
            <a:r>
              <a:rPr lang="en-US" dirty="0" err="1"/>
              <a:t>açıklamalar</a:t>
            </a:r>
            <a:r>
              <a:rPr lang="en-US" dirty="0"/>
              <a:t> </a:t>
            </a:r>
            <a:r>
              <a:rPr lang="en-US" dirty="0" err="1"/>
              <a:t>üretebilir</a:t>
            </a:r>
            <a:r>
              <a:rPr lang="en-US" dirty="0"/>
              <a:t>. </a:t>
            </a:r>
          </a:p>
          <a:p>
            <a:r>
              <a:rPr lang="en-US" dirty="0" err="1"/>
              <a:t>Ağ</a:t>
            </a:r>
            <a:r>
              <a:rPr lang="en-US" dirty="0"/>
              <a:t> </a:t>
            </a:r>
            <a:r>
              <a:rPr lang="en-US" dirty="0" err="1"/>
              <a:t>Trafiğinin</a:t>
            </a:r>
            <a:r>
              <a:rPr lang="en-US" dirty="0"/>
              <a:t> </a:t>
            </a:r>
            <a:r>
              <a:rPr lang="en-US" dirty="0" err="1"/>
              <a:t>Çeşitliliği</a:t>
            </a:r>
            <a:endParaRPr lang="en-US" dirty="0"/>
          </a:p>
          <a:p>
            <a:pPr lvl="1"/>
            <a:r>
              <a:rPr lang="en-US" dirty="0" err="1"/>
              <a:t>Geniş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çeşitli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üzerinde</a:t>
            </a:r>
            <a:r>
              <a:rPr lang="en-US" dirty="0"/>
              <a:t> </a:t>
            </a:r>
            <a:r>
              <a:rPr lang="en-US" dirty="0" err="1"/>
              <a:t>ön-eğitilmiş</a:t>
            </a:r>
            <a:r>
              <a:rPr lang="en-US" dirty="0"/>
              <a:t> </a:t>
            </a:r>
            <a:r>
              <a:rPr lang="en-US" dirty="0" err="1"/>
              <a:t>olmaları</a:t>
            </a:r>
            <a:r>
              <a:rPr lang="en-US" dirty="0"/>
              <a:t> </a:t>
            </a:r>
            <a:r>
              <a:rPr lang="en-US" dirty="0" err="1"/>
              <a:t>sayesinde</a:t>
            </a:r>
            <a:r>
              <a:rPr lang="en-US" dirty="0"/>
              <a:t> foundation </a:t>
            </a:r>
            <a:r>
              <a:rPr lang="en-US" dirty="0" err="1"/>
              <a:t>modeller</a:t>
            </a:r>
            <a:r>
              <a:rPr lang="en-US" dirty="0"/>
              <a:t>, </a:t>
            </a:r>
            <a:r>
              <a:rPr lang="en-US" dirty="0" err="1"/>
              <a:t>değişken</a:t>
            </a:r>
            <a:r>
              <a:rPr lang="en-US" dirty="0"/>
              <a:t> </a:t>
            </a:r>
            <a:r>
              <a:rPr lang="en-US" dirty="0" err="1"/>
              <a:t>trafik</a:t>
            </a:r>
            <a:r>
              <a:rPr lang="en-US" dirty="0"/>
              <a:t> </a:t>
            </a:r>
            <a:r>
              <a:rPr lang="en-US" dirty="0" err="1"/>
              <a:t>desenlerini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iyi </a:t>
            </a:r>
            <a:r>
              <a:rPr lang="en-US" dirty="0" err="1"/>
              <a:t>genelleyerek</a:t>
            </a:r>
            <a:r>
              <a:rPr lang="en-US" dirty="0"/>
              <a:t> </a:t>
            </a:r>
            <a:r>
              <a:rPr lang="en-US" dirty="0" err="1"/>
              <a:t>katı</a:t>
            </a:r>
            <a:r>
              <a:rPr lang="en-US" dirty="0"/>
              <a:t> “normal” </a:t>
            </a:r>
            <a:r>
              <a:rPr lang="en-US" dirty="0" err="1"/>
              <a:t>tanımlarına</a:t>
            </a:r>
            <a:r>
              <a:rPr lang="en-US" dirty="0"/>
              <a:t> </a:t>
            </a:r>
            <a:r>
              <a:rPr lang="en-US" dirty="0" err="1"/>
              <a:t>bağımlılığı</a:t>
            </a:r>
            <a:r>
              <a:rPr lang="en-US" dirty="0"/>
              <a:t> </a:t>
            </a:r>
            <a:r>
              <a:rPr lang="en-US" dirty="0" err="1"/>
              <a:t>azaltabilir</a:t>
            </a:r>
            <a:r>
              <a:rPr lang="en-US" dirty="0"/>
              <a:t>.</a:t>
            </a:r>
          </a:p>
          <a:p>
            <a:r>
              <a:rPr lang="en-US" dirty="0" err="1"/>
              <a:t>Değerlendirmedeki</a:t>
            </a:r>
            <a:r>
              <a:rPr lang="en-US" dirty="0"/>
              <a:t> </a:t>
            </a:r>
            <a:r>
              <a:rPr lang="en-US" dirty="0" err="1"/>
              <a:t>Zorluklar</a:t>
            </a:r>
            <a:endParaRPr lang="en-US" dirty="0"/>
          </a:p>
          <a:p>
            <a:pPr lvl="1"/>
            <a:r>
              <a:rPr lang="en-US" dirty="0"/>
              <a:t>Foundation </a:t>
            </a:r>
            <a:r>
              <a:rPr lang="en-US" dirty="0" err="1"/>
              <a:t>modeller</a:t>
            </a:r>
            <a:r>
              <a:rPr lang="en-US" dirty="0"/>
              <a:t>, </a:t>
            </a:r>
            <a:r>
              <a:rPr lang="en-US" dirty="0" err="1"/>
              <a:t>mutlak</a:t>
            </a:r>
            <a:r>
              <a:rPr lang="en-US" dirty="0"/>
              <a:t> </a:t>
            </a:r>
            <a:r>
              <a:rPr lang="en-US" dirty="0" err="1"/>
              <a:t>doğruluk</a:t>
            </a:r>
            <a:r>
              <a:rPr lang="en-US" dirty="0"/>
              <a:t> </a:t>
            </a:r>
            <a:r>
              <a:rPr lang="en-US" dirty="0" err="1"/>
              <a:t>ölçümleri</a:t>
            </a:r>
            <a:r>
              <a:rPr lang="en-US" dirty="0"/>
              <a:t> </a:t>
            </a:r>
            <a:r>
              <a:rPr lang="en-US" dirty="0" err="1"/>
              <a:t>yerine</a:t>
            </a:r>
            <a:r>
              <a:rPr lang="en-US" dirty="0"/>
              <a:t> </a:t>
            </a:r>
            <a:r>
              <a:rPr lang="en-US" dirty="0" err="1"/>
              <a:t>sistemin</a:t>
            </a:r>
            <a:r>
              <a:rPr lang="en-US" dirty="0"/>
              <a:t> hangi </a:t>
            </a:r>
            <a:r>
              <a:rPr lang="en-US" dirty="0" err="1"/>
              <a:t>tür</a:t>
            </a:r>
            <a:r>
              <a:rPr lang="en-US" dirty="0"/>
              <a:t> </a:t>
            </a:r>
            <a:r>
              <a:rPr lang="en-US" dirty="0" err="1"/>
              <a:t>davranışları</a:t>
            </a:r>
            <a:r>
              <a:rPr lang="en-US" dirty="0"/>
              <a:t> </a:t>
            </a:r>
            <a:r>
              <a:rPr lang="en-US" dirty="0" err="1"/>
              <a:t>yakalayıp</a:t>
            </a:r>
            <a:r>
              <a:rPr lang="en-US" dirty="0"/>
              <a:t> </a:t>
            </a:r>
            <a:r>
              <a:rPr lang="en-US" dirty="0" err="1"/>
              <a:t>hangilerini</a:t>
            </a:r>
            <a:r>
              <a:rPr lang="en-US" dirty="0"/>
              <a:t> </a:t>
            </a:r>
            <a:r>
              <a:rPr lang="en-US" dirty="0" err="1"/>
              <a:t>kaçırdığını</a:t>
            </a:r>
            <a:r>
              <a:rPr lang="en-US" dirty="0"/>
              <a:t> </a:t>
            </a:r>
            <a:r>
              <a:rPr lang="en-US" dirty="0" err="1"/>
              <a:t>anlamsal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analiz</a:t>
            </a:r>
            <a:r>
              <a:rPr lang="en-US" dirty="0"/>
              <a:t> </a:t>
            </a:r>
            <a:r>
              <a:rPr lang="en-US" dirty="0" err="1"/>
              <a:t>etmeyi</a:t>
            </a:r>
            <a:r>
              <a:rPr lang="en-US" dirty="0"/>
              <a:t> </a:t>
            </a:r>
            <a:r>
              <a:rPr lang="en-US" dirty="0" err="1"/>
              <a:t>mümkün</a:t>
            </a:r>
            <a:r>
              <a:rPr lang="en-US" dirty="0"/>
              <a:t> </a:t>
            </a:r>
            <a:r>
              <a:rPr lang="en-US" dirty="0" err="1"/>
              <a:t>kılarak</a:t>
            </a:r>
            <a:r>
              <a:rPr lang="en-US" dirty="0"/>
              <a:t> </a:t>
            </a:r>
            <a:r>
              <a:rPr lang="en-US" dirty="0" err="1"/>
              <a:t>değerlendirme</a:t>
            </a:r>
            <a:r>
              <a:rPr lang="en-US" dirty="0"/>
              <a:t> </a:t>
            </a:r>
            <a:r>
              <a:rPr lang="en-US" dirty="0" err="1"/>
              <a:t>yaklaşımını</a:t>
            </a:r>
            <a:r>
              <a:rPr lang="en-US" dirty="0"/>
              <a:t> </a:t>
            </a:r>
            <a:r>
              <a:rPr lang="en-US" dirty="0" err="1"/>
              <a:t>zenginleştirebilir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Gerçekçi</a:t>
            </a:r>
            <a:r>
              <a:rPr lang="en-US" dirty="0"/>
              <a:t> </a:t>
            </a:r>
            <a:r>
              <a:rPr lang="en-US" dirty="0" err="1"/>
              <a:t>sentetik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üretimi</a:t>
            </a:r>
            <a:r>
              <a:rPr lang="en-US" dirty="0"/>
              <a:t>, foundation </a:t>
            </a:r>
            <a:r>
              <a:rPr lang="en-US" dirty="0" err="1"/>
              <a:t>modellerin</a:t>
            </a:r>
            <a:r>
              <a:rPr lang="en-US" dirty="0"/>
              <a:t> </a:t>
            </a:r>
            <a:r>
              <a:rPr lang="en-US" dirty="0" err="1"/>
              <a:t>desteğiyle</a:t>
            </a:r>
            <a:r>
              <a:rPr lang="en-US" dirty="0"/>
              <a:t>, </a:t>
            </a:r>
            <a:r>
              <a:rPr lang="en-US" dirty="0" err="1"/>
              <a:t>anomali</a:t>
            </a:r>
            <a:r>
              <a:rPr lang="en-US" dirty="0"/>
              <a:t> </a:t>
            </a:r>
            <a:r>
              <a:rPr lang="en-US" dirty="0" err="1"/>
              <a:t>tespit</a:t>
            </a:r>
            <a:r>
              <a:rPr lang="en-US" dirty="0"/>
              <a:t> </a:t>
            </a:r>
            <a:r>
              <a:rPr lang="en-US" dirty="0" err="1"/>
              <a:t>sistemlerinin</a:t>
            </a:r>
            <a:r>
              <a:rPr lang="en-US" dirty="0"/>
              <a:t> </a:t>
            </a:r>
            <a:r>
              <a:rPr lang="en-US" dirty="0" err="1"/>
              <a:t>değerlendirilmesinde</a:t>
            </a:r>
            <a:r>
              <a:rPr lang="en-US" dirty="0"/>
              <a:t> </a:t>
            </a:r>
            <a:r>
              <a:rPr lang="en-US" dirty="0" err="1"/>
              <a:t>yararlı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tamamlayıcı</a:t>
            </a:r>
            <a:r>
              <a:rPr lang="en-US" dirty="0"/>
              <a:t> </a:t>
            </a:r>
            <a:r>
              <a:rPr lang="en-US" dirty="0" err="1"/>
              <a:t>araç</a:t>
            </a:r>
            <a:r>
              <a:rPr lang="en-US" dirty="0"/>
              <a:t> </a:t>
            </a:r>
            <a:r>
              <a:rPr lang="en-US" dirty="0" err="1"/>
              <a:t>olabilir</a:t>
            </a:r>
            <a:r>
              <a:rPr lang="en-US" dirty="0"/>
              <a:t> (</a:t>
            </a:r>
            <a:r>
              <a:rPr lang="en-US" dirty="0" err="1"/>
              <a:t>ancak</a:t>
            </a:r>
            <a:r>
              <a:rPr lang="en-US" dirty="0"/>
              <a:t>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dünya</a:t>
            </a:r>
            <a:r>
              <a:rPr lang="en-US" dirty="0"/>
              <a:t> </a:t>
            </a:r>
            <a:r>
              <a:rPr lang="en-US" dirty="0" err="1"/>
              <a:t>dağılımlarının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karşıt</a:t>
            </a:r>
            <a:r>
              <a:rPr lang="en-US" dirty="0"/>
              <a:t> </a:t>
            </a:r>
            <a:r>
              <a:rPr lang="en-US" dirty="0" err="1"/>
              <a:t>ortam</a:t>
            </a:r>
            <a:r>
              <a:rPr lang="en-US" dirty="0"/>
              <a:t> </a:t>
            </a:r>
            <a:r>
              <a:rPr lang="en-US" dirty="0" err="1"/>
              <a:t>dinamiklerinin</a:t>
            </a:r>
            <a:r>
              <a:rPr lang="en-US" dirty="0"/>
              <a:t> </a:t>
            </a:r>
            <a:r>
              <a:rPr lang="en-US" dirty="0" err="1"/>
              <a:t>yerini</a:t>
            </a:r>
            <a:r>
              <a:rPr lang="en-US" dirty="0"/>
              <a:t> </a:t>
            </a:r>
            <a:r>
              <a:rPr lang="en-US" dirty="0" err="1"/>
              <a:t>bütünüyle</a:t>
            </a:r>
            <a:r>
              <a:rPr lang="en-US" dirty="0"/>
              <a:t> </a:t>
            </a:r>
            <a:r>
              <a:rPr lang="en-US" dirty="0" err="1"/>
              <a:t>alamaz</a:t>
            </a:r>
            <a:r>
              <a:rPr lang="en-US" dirty="0"/>
              <a:t>).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5469213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B5E35F-D7DF-B34C-99BE-3F31BAB60F89}"/>
              </a:ext>
            </a:extLst>
          </p:cNvPr>
          <p:cNvSpPr txBox="1"/>
          <p:nvPr/>
        </p:nvSpPr>
        <p:spPr>
          <a:xfrm>
            <a:off x="620110" y="5807648"/>
            <a:ext cx="109517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sng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Kaynak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Yang, S., Zheng, X., Zhang, X., Xu, J., Li, J., Xie, D., ... &amp; Ngai, E. C. (2025). Large language models for network intrusion detection systems: Foundations, implementations, and future directions. </a:t>
            </a:r>
            <a:r>
              <a:rPr lang="en-US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arXiv:2507.04752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endParaRPr lang="en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CDE5C9-3878-3BA5-B52E-20407BC05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882" y="770248"/>
            <a:ext cx="8691049" cy="5037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435B1B-2CAE-FD53-41BE-DF9940B9AFD2}"/>
              </a:ext>
            </a:extLst>
          </p:cNvPr>
          <p:cNvSpPr txBox="1"/>
          <p:nvPr/>
        </p:nvSpPr>
        <p:spPr>
          <a:xfrm>
            <a:off x="3573518" y="145676"/>
            <a:ext cx="41646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sz="4800" dirty="0"/>
              <a:t>NIDS Kronolojisi</a:t>
            </a:r>
          </a:p>
        </p:txBody>
      </p:sp>
    </p:spTree>
    <p:extLst>
      <p:ext uri="{BB962C8B-B14F-4D97-AF65-F5344CB8AC3E}">
        <p14:creationId xmlns:p14="http://schemas.microsoft.com/office/powerpoint/2010/main" val="3528203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FA159465-0CC0-1570-0653-92F84F2DB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975" y="0"/>
            <a:ext cx="52260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68626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D86B2-D09E-E56B-1312-F69EAA47B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İşlenecek Konular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5690B-F438-8B40-2B5A-63706BB54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1. Temel </a:t>
            </a:r>
            <a:r>
              <a:rPr lang="en-US" b="1" dirty="0" err="1"/>
              <a:t>Modellerle</a:t>
            </a:r>
            <a:r>
              <a:rPr lang="en-US" b="1" dirty="0"/>
              <a:t> </a:t>
            </a:r>
            <a:r>
              <a:rPr lang="en-US" b="1" dirty="0" err="1"/>
              <a:t>Yapay</a:t>
            </a:r>
            <a:r>
              <a:rPr lang="en-US" b="1" dirty="0"/>
              <a:t> </a:t>
            </a:r>
            <a:r>
              <a:rPr lang="en-US" b="1" dirty="0" err="1"/>
              <a:t>Zekâ</a:t>
            </a:r>
            <a:r>
              <a:rPr lang="en-US" b="1" dirty="0"/>
              <a:t> </a:t>
            </a:r>
            <a:r>
              <a:rPr lang="en-US" b="1" dirty="0" err="1"/>
              <a:t>Uygulamaları</a:t>
            </a:r>
            <a:r>
              <a:rPr lang="en-US" b="1" dirty="0"/>
              <a:t> </a:t>
            </a:r>
            <a:r>
              <a:rPr lang="en-US" b="1" dirty="0" err="1"/>
              <a:t>Geliştirmeye</a:t>
            </a:r>
            <a:r>
              <a:rPr lang="en-US" b="1" dirty="0"/>
              <a:t> </a:t>
            </a:r>
            <a:r>
              <a:rPr lang="en-US" b="1" dirty="0" err="1"/>
              <a:t>Giriş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i="1" dirty="0"/>
              <a:t>Introduction to Building AI Applications with Foundation Models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AI engineering </a:t>
            </a:r>
            <a:r>
              <a:rPr lang="en-US" dirty="0" err="1"/>
              <a:t>kavramını</a:t>
            </a:r>
            <a:r>
              <a:rPr lang="en-US" dirty="0"/>
              <a:t> </a:t>
            </a:r>
            <a:r>
              <a:rPr lang="en-US" dirty="0" err="1"/>
              <a:t>tanıtır</a:t>
            </a:r>
            <a:r>
              <a:rPr lang="en-US" dirty="0"/>
              <a:t>; foundation </a:t>
            </a:r>
            <a:r>
              <a:rPr lang="en-US" dirty="0" err="1"/>
              <a:t>model’lerin</a:t>
            </a:r>
            <a:r>
              <a:rPr lang="en-US" dirty="0"/>
              <a:t> </a:t>
            </a:r>
            <a:r>
              <a:rPr lang="en-US" dirty="0" err="1"/>
              <a:t>yükselişi</a:t>
            </a:r>
            <a:r>
              <a:rPr lang="en-US" dirty="0"/>
              <a:t>, </a:t>
            </a:r>
            <a:r>
              <a:rPr lang="en-US" dirty="0" err="1"/>
              <a:t>kullanım</a:t>
            </a:r>
            <a:r>
              <a:rPr lang="en-US" dirty="0"/>
              <a:t> </a:t>
            </a:r>
            <a:r>
              <a:rPr lang="en-US" dirty="0" err="1"/>
              <a:t>alanları</a:t>
            </a:r>
            <a:r>
              <a:rPr lang="en-US" dirty="0"/>
              <a:t>, AI stack </a:t>
            </a:r>
            <a:r>
              <a:rPr lang="en-US" dirty="0" err="1"/>
              <a:t>ve</a:t>
            </a:r>
            <a:r>
              <a:rPr lang="en-US" dirty="0"/>
              <a:t> AI engineering–ML engineering </a:t>
            </a:r>
            <a:r>
              <a:rPr lang="en-US" dirty="0" err="1"/>
              <a:t>farkları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alınır</a:t>
            </a:r>
            <a:r>
              <a:rPr lang="en-US" dirty="0"/>
              <a:t>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2. Temel </a:t>
            </a:r>
            <a:r>
              <a:rPr lang="en-US" b="1" dirty="0" err="1"/>
              <a:t>Modelleri</a:t>
            </a:r>
            <a:r>
              <a:rPr lang="en-US" b="1" dirty="0"/>
              <a:t> </a:t>
            </a:r>
            <a:r>
              <a:rPr lang="en-US" b="1" dirty="0" err="1"/>
              <a:t>Anlamak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i="1" dirty="0"/>
              <a:t>Understanding Foundation Models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Temel </a:t>
            </a:r>
            <a:r>
              <a:rPr lang="en-US" dirty="0" err="1"/>
              <a:t>modellerin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eğitildiği</a:t>
            </a:r>
            <a:r>
              <a:rPr lang="en-US" dirty="0"/>
              <a:t>, </a:t>
            </a:r>
            <a:r>
              <a:rPr lang="en-US" dirty="0" err="1"/>
              <a:t>mimarileri</a:t>
            </a:r>
            <a:r>
              <a:rPr lang="en-US" dirty="0"/>
              <a:t>, </a:t>
            </a:r>
            <a:r>
              <a:rPr lang="en-US" dirty="0" err="1"/>
              <a:t>ölçeklenmesi</a:t>
            </a:r>
            <a:r>
              <a:rPr lang="en-US" dirty="0"/>
              <a:t>, </a:t>
            </a:r>
            <a:r>
              <a:rPr lang="en-US" dirty="0" err="1"/>
              <a:t>örnekleme</a:t>
            </a:r>
            <a:r>
              <a:rPr lang="en-US" dirty="0"/>
              <a:t> (sampling), fine-tuning </a:t>
            </a:r>
            <a:r>
              <a:rPr lang="en-US" dirty="0" err="1"/>
              <a:t>sonrası</a:t>
            </a:r>
            <a:r>
              <a:rPr lang="en-US" dirty="0"/>
              <a:t> </a:t>
            </a:r>
            <a:r>
              <a:rPr lang="en-US" dirty="0" err="1"/>
              <a:t>aşamalar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modellerin</a:t>
            </a:r>
            <a:r>
              <a:rPr lang="en-US" dirty="0"/>
              <a:t> </a:t>
            </a:r>
            <a:r>
              <a:rPr lang="en-US" dirty="0" err="1"/>
              <a:t>olasılıksal</a:t>
            </a:r>
            <a:r>
              <a:rPr lang="en-US" dirty="0"/>
              <a:t> </a:t>
            </a:r>
            <a:r>
              <a:rPr lang="en-US" dirty="0" err="1"/>
              <a:t>doğası</a:t>
            </a:r>
            <a:r>
              <a:rPr lang="en-US" dirty="0"/>
              <a:t> </a:t>
            </a:r>
            <a:r>
              <a:rPr lang="en-US" dirty="0" err="1"/>
              <a:t>açıklanır</a:t>
            </a:r>
            <a:r>
              <a:rPr lang="en-US" dirty="0"/>
              <a:t>.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598546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7F965-729B-E84D-410A-C43E5EC90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İşlenecek Konular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43BDE-D9D8-958C-D61E-666D827C2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3. </a:t>
            </a:r>
            <a:r>
              <a:rPr lang="en-US" b="1" dirty="0" err="1"/>
              <a:t>Değerlendirme</a:t>
            </a:r>
            <a:r>
              <a:rPr lang="en-US" b="1" dirty="0"/>
              <a:t> </a:t>
            </a:r>
            <a:r>
              <a:rPr lang="en-US" b="1" dirty="0" err="1"/>
              <a:t>Metodolojisi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i="1" dirty="0"/>
              <a:t>Evaluation Methodology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Foundation </a:t>
            </a:r>
            <a:r>
              <a:rPr lang="en-US" dirty="0" err="1"/>
              <a:t>model’lerin</a:t>
            </a:r>
            <a:r>
              <a:rPr lang="en-US" dirty="0"/>
              <a:t> </a:t>
            </a:r>
            <a:r>
              <a:rPr lang="en-US" dirty="0" err="1"/>
              <a:t>değerlendirilmesindeki</a:t>
            </a:r>
            <a:r>
              <a:rPr lang="en-US" dirty="0"/>
              <a:t> </a:t>
            </a:r>
            <a:r>
              <a:rPr lang="en-US" dirty="0" err="1"/>
              <a:t>zorluklar</a:t>
            </a:r>
            <a:r>
              <a:rPr lang="en-US" dirty="0"/>
              <a:t>, perplexity </a:t>
            </a:r>
            <a:r>
              <a:rPr lang="en-US" dirty="0" err="1"/>
              <a:t>ve</a:t>
            </a:r>
            <a:r>
              <a:rPr lang="en-US" dirty="0"/>
              <a:t> embedding </a:t>
            </a:r>
            <a:r>
              <a:rPr lang="en-US" dirty="0" err="1"/>
              <a:t>tabanlı</a:t>
            </a:r>
            <a:r>
              <a:rPr lang="en-US" dirty="0"/>
              <a:t> </a:t>
            </a:r>
            <a:r>
              <a:rPr lang="en-US" dirty="0" err="1"/>
              <a:t>ölçütler</a:t>
            </a:r>
            <a:r>
              <a:rPr lang="en-US" dirty="0"/>
              <a:t>, “AI as a judge” </a:t>
            </a:r>
            <a:r>
              <a:rPr lang="en-US" dirty="0" err="1"/>
              <a:t>yaklaşımı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karşılaştırmalı</a:t>
            </a:r>
            <a:r>
              <a:rPr lang="en-US" dirty="0"/>
              <a:t> </a:t>
            </a:r>
            <a:r>
              <a:rPr lang="en-US" dirty="0" err="1"/>
              <a:t>değerlendirme</a:t>
            </a:r>
            <a:r>
              <a:rPr lang="en-US" dirty="0"/>
              <a:t> </a:t>
            </a:r>
            <a:r>
              <a:rPr lang="en-US" dirty="0" err="1"/>
              <a:t>anlatılır</a:t>
            </a:r>
            <a:r>
              <a:rPr lang="en-US" dirty="0"/>
              <a:t>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4. </a:t>
            </a:r>
            <a:r>
              <a:rPr lang="en-US" b="1" dirty="0" err="1"/>
              <a:t>Yapay</a:t>
            </a:r>
            <a:r>
              <a:rPr lang="en-US" b="1" dirty="0"/>
              <a:t> </a:t>
            </a:r>
            <a:r>
              <a:rPr lang="en-US" b="1" dirty="0" err="1"/>
              <a:t>Zekâ</a:t>
            </a:r>
            <a:r>
              <a:rPr lang="en-US" b="1" dirty="0"/>
              <a:t> </a:t>
            </a:r>
            <a:r>
              <a:rPr lang="en-US" b="1" dirty="0" err="1"/>
              <a:t>Sistemlerini</a:t>
            </a:r>
            <a:r>
              <a:rPr lang="en-US" b="1" dirty="0"/>
              <a:t> </a:t>
            </a:r>
            <a:r>
              <a:rPr lang="en-US" b="1" dirty="0" err="1"/>
              <a:t>Değerlendirmek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i="1" dirty="0"/>
              <a:t>Evaluate AI Systems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Model </a:t>
            </a:r>
            <a:r>
              <a:rPr lang="en-US" dirty="0" err="1"/>
              <a:t>seçimi</a:t>
            </a:r>
            <a:r>
              <a:rPr lang="en-US" dirty="0"/>
              <a:t>, </a:t>
            </a:r>
            <a:r>
              <a:rPr lang="en-US" dirty="0" err="1"/>
              <a:t>maliyet</a:t>
            </a:r>
            <a:r>
              <a:rPr lang="en-US" dirty="0"/>
              <a:t>–</a:t>
            </a:r>
            <a:r>
              <a:rPr lang="en-US" dirty="0" err="1"/>
              <a:t>gecikme</a:t>
            </a:r>
            <a:r>
              <a:rPr lang="en-US" dirty="0"/>
              <a:t> </a:t>
            </a:r>
            <a:r>
              <a:rPr lang="en-US" dirty="0" err="1"/>
              <a:t>dengesi</a:t>
            </a:r>
            <a:r>
              <a:rPr lang="en-US" dirty="0"/>
              <a:t>, </a:t>
            </a:r>
            <a:r>
              <a:rPr lang="en-US" dirty="0" err="1"/>
              <a:t>benchmark’lar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uçtan</a:t>
            </a:r>
            <a:r>
              <a:rPr lang="en-US" dirty="0"/>
              <a:t> </a:t>
            </a:r>
            <a:r>
              <a:rPr lang="en-US" dirty="0" err="1"/>
              <a:t>uca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değerlendirme</a:t>
            </a:r>
            <a:r>
              <a:rPr lang="en-US" dirty="0"/>
              <a:t> </a:t>
            </a:r>
            <a:r>
              <a:rPr lang="en-US" dirty="0" err="1"/>
              <a:t>pipeline’ının</a:t>
            </a:r>
            <a:r>
              <a:rPr lang="en-US" dirty="0"/>
              <a:t> </a:t>
            </a:r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tasarlanacağı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alınır</a:t>
            </a:r>
            <a:r>
              <a:rPr lang="en-US" dirty="0"/>
              <a:t>.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0655564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9A600-ADD1-92BB-22A2-BEB997113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İşlenecek Konular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AD3B8-DFC6-F9DA-022E-7A947DC36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5. Prompt </a:t>
            </a:r>
            <a:r>
              <a:rPr lang="en-US" b="1" dirty="0" err="1"/>
              <a:t>Mühendisliği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i="1" dirty="0"/>
              <a:t>Prompt Engineering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Zero-shot / few-shot prompting, iyi prompt </a:t>
            </a:r>
            <a:r>
              <a:rPr lang="en-US" dirty="0" err="1"/>
              <a:t>yazma</a:t>
            </a:r>
            <a:r>
              <a:rPr lang="en-US" dirty="0"/>
              <a:t> </a:t>
            </a:r>
            <a:r>
              <a:rPr lang="en-US" dirty="0" err="1"/>
              <a:t>pratikleri</a:t>
            </a:r>
            <a:r>
              <a:rPr lang="en-US" dirty="0"/>
              <a:t>, prompt </a:t>
            </a:r>
            <a:r>
              <a:rPr lang="en-US" dirty="0" err="1"/>
              <a:t>saldırıları</a:t>
            </a:r>
            <a:r>
              <a:rPr lang="en-US" dirty="0"/>
              <a:t> (prompt injection, jailbreaking)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savunma</a:t>
            </a:r>
            <a:r>
              <a:rPr lang="en-US" dirty="0"/>
              <a:t> </a:t>
            </a:r>
            <a:r>
              <a:rPr lang="en-US" dirty="0" err="1"/>
              <a:t>yöntemleri</a:t>
            </a:r>
            <a:r>
              <a:rPr lang="en-US" dirty="0"/>
              <a:t> </a:t>
            </a:r>
            <a:r>
              <a:rPr lang="en-US" dirty="0" err="1"/>
              <a:t>açıklanır</a:t>
            </a:r>
            <a:r>
              <a:rPr lang="en-US" dirty="0"/>
              <a:t>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6. RAG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Ajanlar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i="1" dirty="0"/>
              <a:t>RAG and Agents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Retrieval-Augmented Generation (RAG) </a:t>
            </a:r>
            <a:r>
              <a:rPr lang="en-US" dirty="0" err="1"/>
              <a:t>mimarileri</a:t>
            </a:r>
            <a:r>
              <a:rPr lang="en-US" dirty="0"/>
              <a:t>, retrieval </a:t>
            </a:r>
            <a:r>
              <a:rPr lang="en-US" dirty="0" err="1"/>
              <a:t>algoritmaları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ajan</a:t>
            </a:r>
            <a:r>
              <a:rPr lang="en-US" dirty="0"/>
              <a:t> </a:t>
            </a:r>
            <a:r>
              <a:rPr lang="en-US" dirty="0" err="1"/>
              <a:t>tabanlı</a:t>
            </a:r>
            <a:r>
              <a:rPr lang="en-US" dirty="0"/>
              <a:t> </a:t>
            </a:r>
            <a:r>
              <a:rPr lang="en-US" dirty="0" err="1"/>
              <a:t>sistemlerin</a:t>
            </a:r>
            <a:r>
              <a:rPr lang="en-US" dirty="0"/>
              <a:t> </a:t>
            </a:r>
            <a:r>
              <a:rPr lang="en-US" dirty="0" err="1"/>
              <a:t>tasarımı</a:t>
            </a:r>
            <a:r>
              <a:rPr lang="en-US" dirty="0"/>
              <a:t>, </a:t>
            </a:r>
            <a:r>
              <a:rPr lang="en-US" dirty="0" err="1"/>
              <a:t>planlama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hata</a:t>
            </a:r>
            <a:r>
              <a:rPr lang="en-US" dirty="0"/>
              <a:t> </a:t>
            </a:r>
            <a:r>
              <a:rPr lang="en-US" dirty="0" err="1"/>
              <a:t>türleri</a:t>
            </a:r>
            <a:r>
              <a:rPr lang="en-US" dirty="0"/>
              <a:t> </a:t>
            </a:r>
            <a:r>
              <a:rPr lang="en-US" dirty="0" err="1"/>
              <a:t>incelenir</a:t>
            </a:r>
            <a:r>
              <a:rPr lang="en-US" dirty="0"/>
              <a:t>.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7317705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1CDA7-5AD3-2A87-1417-ED8549C82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İşlenecek Konular 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C9673-2AC5-9078-D4F4-D81CC58DB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7. İnce Ayar (Fine-Tuning)</a:t>
            </a:r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i="1" dirty="0"/>
              <a:t>Finetuning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Ne zaman fine-tuning </a:t>
            </a:r>
            <a:r>
              <a:rPr lang="en-US" dirty="0" err="1"/>
              <a:t>yapılmalı</a:t>
            </a:r>
            <a:r>
              <a:rPr lang="en-US" dirty="0"/>
              <a:t>/</a:t>
            </a:r>
            <a:r>
              <a:rPr lang="en-US" dirty="0" err="1"/>
              <a:t>yapılmamalı</a:t>
            </a:r>
            <a:r>
              <a:rPr lang="en-US" dirty="0"/>
              <a:t>, parameter-efficient fine-tuning, </a:t>
            </a:r>
            <a:r>
              <a:rPr lang="en-US" dirty="0" err="1"/>
              <a:t>bellek</a:t>
            </a:r>
            <a:r>
              <a:rPr lang="en-US" dirty="0"/>
              <a:t> </a:t>
            </a:r>
            <a:r>
              <a:rPr lang="en-US" dirty="0" err="1"/>
              <a:t>kısıtları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model </a:t>
            </a:r>
            <a:r>
              <a:rPr lang="en-US" dirty="0" err="1"/>
              <a:t>birleştirme</a:t>
            </a:r>
            <a:r>
              <a:rPr lang="en-US" dirty="0"/>
              <a:t> (model merging) </a:t>
            </a:r>
            <a:r>
              <a:rPr lang="en-US" dirty="0" err="1"/>
              <a:t>yöntemleri</a:t>
            </a:r>
            <a:r>
              <a:rPr lang="en-US" dirty="0"/>
              <a:t> </a:t>
            </a:r>
            <a:r>
              <a:rPr lang="en-US" dirty="0" err="1"/>
              <a:t>anlatılır</a:t>
            </a:r>
            <a:r>
              <a:rPr lang="en-US" dirty="0"/>
              <a:t>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8. Veri </a:t>
            </a:r>
            <a:r>
              <a:rPr lang="en-US" b="1" dirty="0" err="1"/>
              <a:t>Kümesi</a:t>
            </a:r>
            <a:r>
              <a:rPr lang="en-US" b="1" dirty="0"/>
              <a:t> </a:t>
            </a:r>
            <a:r>
              <a:rPr lang="en-US" b="1" dirty="0" err="1"/>
              <a:t>Mühendisliği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i="1" dirty="0"/>
              <a:t>Dataset Engineering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Veri </a:t>
            </a:r>
            <a:r>
              <a:rPr lang="en-US" dirty="0" err="1"/>
              <a:t>kalitesi</a:t>
            </a:r>
            <a:r>
              <a:rPr lang="en-US" dirty="0"/>
              <a:t>, </a:t>
            </a:r>
            <a:r>
              <a:rPr lang="en-US" dirty="0" err="1"/>
              <a:t>kapsama</a:t>
            </a:r>
            <a:r>
              <a:rPr lang="en-US" dirty="0"/>
              <a:t>, </a:t>
            </a:r>
            <a:r>
              <a:rPr lang="en-US" dirty="0" err="1"/>
              <a:t>miktar</a:t>
            </a:r>
            <a:r>
              <a:rPr lang="en-US" dirty="0"/>
              <a:t>,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toplama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etiketleme</a:t>
            </a:r>
            <a:r>
              <a:rPr lang="en-US" dirty="0"/>
              <a:t>, </a:t>
            </a:r>
            <a:r>
              <a:rPr lang="en-US" dirty="0" err="1"/>
              <a:t>sentetik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üretimi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işleme</a:t>
            </a:r>
            <a:r>
              <a:rPr lang="en-US" dirty="0"/>
              <a:t> </a:t>
            </a:r>
            <a:r>
              <a:rPr lang="en-US" dirty="0" err="1"/>
              <a:t>adımları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alınır</a:t>
            </a:r>
            <a:r>
              <a:rPr lang="en-US" dirty="0"/>
              <a:t>.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24741290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C5C66-2B2A-F012-AE85-63E21B9C9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İşlenecek Konular (5)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61CC0-83BF-80D4-249E-0E68E3A86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9. </a:t>
            </a:r>
            <a:r>
              <a:rPr lang="en-US" b="1" dirty="0" err="1"/>
              <a:t>Çıkarım</a:t>
            </a:r>
            <a:r>
              <a:rPr lang="en-US" b="1" dirty="0"/>
              <a:t> (Inference) </a:t>
            </a:r>
            <a:r>
              <a:rPr lang="en-US" b="1" dirty="0" err="1"/>
              <a:t>Optimizasyonu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i="1" dirty="0"/>
              <a:t>Inference Optimization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Model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servis</a:t>
            </a:r>
            <a:r>
              <a:rPr lang="en-US" dirty="0"/>
              <a:t> </a:t>
            </a:r>
            <a:r>
              <a:rPr lang="en-US" dirty="0" err="1"/>
              <a:t>seviyesinde</a:t>
            </a:r>
            <a:r>
              <a:rPr lang="en-US" dirty="0"/>
              <a:t> </a:t>
            </a:r>
            <a:r>
              <a:rPr lang="en-US" dirty="0" err="1"/>
              <a:t>gecikme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maliyet</a:t>
            </a:r>
            <a:r>
              <a:rPr lang="en-US" dirty="0"/>
              <a:t> </a:t>
            </a:r>
            <a:r>
              <a:rPr lang="en-US" dirty="0" err="1"/>
              <a:t>optimizasyonu</a:t>
            </a:r>
            <a:r>
              <a:rPr lang="en-US" dirty="0"/>
              <a:t>, </a:t>
            </a:r>
            <a:r>
              <a:rPr lang="en-US" dirty="0" err="1"/>
              <a:t>hızlandırıcılar</a:t>
            </a:r>
            <a:r>
              <a:rPr lang="en-US" dirty="0"/>
              <a:t> (AI accelerators)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performans</a:t>
            </a:r>
            <a:r>
              <a:rPr lang="en-US" dirty="0"/>
              <a:t> </a:t>
            </a:r>
            <a:r>
              <a:rPr lang="en-US" dirty="0" err="1"/>
              <a:t>metrikleri</a:t>
            </a:r>
            <a:r>
              <a:rPr lang="en-US" dirty="0"/>
              <a:t> </a:t>
            </a:r>
            <a:r>
              <a:rPr lang="en-US" dirty="0" err="1"/>
              <a:t>tartışılır</a:t>
            </a:r>
            <a:r>
              <a:rPr lang="en-US" dirty="0"/>
              <a:t>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10. AI Engineering </a:t>
            </a:r>
            <a:r>
              <a:rPr lang="en-US" b="1" dirty="0" err="1"/>
              <a:t>Mimarisi</a:t>
            </a:r>
            <a:r>
              <a:rPr lang="en-US" b="1" dirty="0"/>
              <a:t> </a:t>
            </a:r>
            <a:r>
              <a:rPr lang="en-US" b="1" dirty="0" err="1"/>
              <a:t>ve</a:t>
            </a:r>
            <a:r>
              <a:rPr lang="en-US" b="1" dirty="0"/>
              <a:t> </a:t>
            </a:r>
            <a:r>
              <a:rPr lang="en-US" b="1" dirty="0" err="1"/>
              <a:t>Kullanıcı</a:t>
            </a:r>
            <a:r>
              <a:rPr lang="en-US" b="1" dirty="0"/>
              <a:t> Geri </a:t>
            </a:r>
            <a:r>
              <a:rPr lang="en-US" b="1" dirty="0" err="1"/>
              <a:t>Bildirimi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i="1" dirty="0"/>
              <a:t>AI Engineering Architecture and User Feedback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 err="1"/>
              <a:t>Uçtan</a:t>
            </a:r>
            <a:r>
              <a:rPr lang="en-US" dirty="0"/>
              <a:t> </a:t>
            </a:r>
            <a:r>
              <a:rPr lang="en-US" dirty="0" err="1"/>
              <a:t>uca</a:t>
            </a:r>
            <a:r>
              <a:rPr lang="en-US" dirty="0"/>
              <a:t> AI </a:t>
            </a:r>
            <a:r>
              <a:rPr lang="en-US" dirty="0" err="1"/>
              <a:t>uygulama</a:t>
            </a:r>
            <a:r>
              <a:rPr lang="en-US" dirty="0"/>
              <a:t> </a:t>
            </a:r>
            <a:r>
              <a:rPr lang="en-US" dirty="0" err="1"/>
              <a:t>mimarisi</a:t>
            </a:r>
            <a:r>
              <a:rPr lang="en-US" dirty="0"/>
              <a:t>, </a:t>
            </a:r>
            <a:r>
              <a:rPr lang="en-US" dirty="0" err="1"/>
              <a:t>guardrail’ler</a:t>
            </a:r>
            <a:r>
              <a:rPr lang="en-US" dirty="0"/>
              <a:t>, cache, agent </a:t>
            </a:r>
            <a:r>
              <a:rPr lang="en-US" dirty="0" err="1"/>
              <a:t>desenleri</a:t>
            </a:r>
            <a:r>
              <a:rPr lang="en-US" dirty="0"/>
              <a:t>, </a:t>
            </a:r>
            <a:r>
              <a:rPr lang="en-US" dirty="0" err="1"/>
              <a:t>izleme</a:t>
            </a:r>
            <a:r>
              <a:rPr lang="en-US" dirty="0"/>
              <a:t> (observability)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kullanıcı</a:t>
            </a:r>
            <a:r>
              <a:rPr lang="en-US" dirty="0"/>
              <a:t> </a:t>
            </a:r>
            <a:r>
              <a:rPr lang="en-US" dirty="0" err="1"/>
              <a:t>geri</a:t>
            </a:r>
            <a:r>
              <a:rPr lang="en-US" dirty="0"/>
              <a:t> </a:t>
            </a:r>
            <a:r>
              <a:rPr lang="en-US" dirty="0" err="1"/>
              <a:t>bildiriminin</a:t>
            </a:r>
            <a:r>
              <a:rPr lang="en-US" dirty="0"/>
              <a:t> </a:t>
            </a:r>
            <a:r>
              <a:rPr lang="en-US" dirty="0" err="1"/>
              <a:t>sistematik</a:t>
            </a:r>
            <a:r>
              <a:rPr lang="en-US" dirty="0"/>
              <a:t> </a:t>
            </a:r>
            <a:r>
              <a:rPr lang="en-US" dirty="0" err="1"/>
              <a:t>kullanımı</a:t>
            </a:r>
            <a:r>
              <a:rPr lang="en-US" dirty="0"/>
              <a:t>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alınır</a:t>
            </a:r>
            <a:r>
              <a:rPr lang="en-US" dirty="0"/>
              <a:t>.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4290355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2473</TotalTime>
  <Words>1765</Words>
  <Application>Microsoft Macintosh PowerPoint</Application>
  <PresentationFormat>Widescreen</PresentationFormat>
  <Paragraphs>164</Paragraphs>
  <Slides>33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Times</vt:lpstr>
      <vt:lpstr>Office Theme</vt:lpstr>
      <vt:lpstr>BGK 601- Bilgi Güvenliği alanında  Makine Öğrenmesi Yöntemleri  veya  Yapay Zeka Mühendisliği </vt:lpstr>
      <vt:lpstr>Öz Değerlendirme Soruları</vt:lpstr>
      <vt:lpstr>PowerPoint Presentation</vt:lpstr>
      <vt:lpstr>PowerPoint Presentation</vt:lpstr>
      <vt:lpstr>Contents (Chapters of the Book)</vt:lpstr>
      <vt:lpstr>Bu Dönem?</vt:lpstr>
      <vt:lpstr>Notlandırma</vt:lpstr>
      <vt:lpstr>Dersin İlk Büyük Sorusu</vt:lpstr>
      <vt:lpstr>“Kapalı Dünyanın Ötesinde:  Ağ Saldırı Tespitinde Makine Öğrenme Kullanımı Üzerine”  Makale İncelemesi</vt:lpstr>
      <vt:lpstr>PowerPoint Presentation</vt:lpstr>
      <vt:lpstr>IDS Metodolojileri</vt:lpstr>
      <vt:lpstr>IDS Yaklaşımları</vt:lpstr>
      <vt:lpstr>NIDS konusunda ML uygulama zorlukları</vt:lpstr>
      <vt:lpstr>Aykırı Değer Tespiti vs. Sınıflandırma</vt:lpstr>
      <vt:lpstr>NIDS bir Sınıflandırma Problemi Midir?</vt:lpstr>
      <vt:lpstr>Anomali Tespiti</vt:lpstr>
      <vt:lpstr>Hataların Yüksek Maliyeti</vt:lpstr>
      <vt:lpstr>Anlamsal Boşluk </vt:lpstr>
      <vt:lpstr>Ağ Trafiğinin Çeşitliliği</vt:lpstr>
      <vt:lpstr>Değerlendirmedeki Zorluklar</vt:lpstr>
      <vt:lpstr>Değerlendirme vs. Anlama</vt:lpstr>
      <vt:lpstr>Ne Yapılmamalı Tavsiyesi</vt:lpstr>
      <vt:lpstr>Karşıt (Adversarial) Ortam</vt:lpstr>
      <vt:lpstr>Tavsiyeler</vt:lpstr>
      <vt:lpstr>Güzel Örnek</vt:lpstr>
      <vt:lpstr>2026 Yılı – Bu Çalişmaya Tekrar Bakalım!</vt:lpstr>
      <vt:lpstr>PowerPoint Presentation</vt:lpstr>
      <vt:lpstr>PowerPoint Presentation</vt:lpstr>
      <vt:lpstr>İşlenecek Konular (1)</vt:lpstr>
      <vt:lpstr>İşlenecek Konular (2)</vt:lpstr>
      <vt:lpstr>İşlenecek Konular (3)</vt:lpstr>
      <vt:lpstr>İşlenecek Konular (4)</vt:lpstr>
      <vt:lpstr>İşlenecek Konular (5)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Kemal  Bıçakcı</dc:creator>
  <cp:lastModifiedBy>Kemal  Bıçakcı</cp:lastModifiedBy>
  <cp:revision>8</cp:revision>
  <dcterms:created xsi:type="dcterms:W3CDTF">2026-02-09T08:13:21Z</dcterms:created>
  <dcterms:modified xsi:type="dcterms:W3CDTF">2026-02-27T08:24:20Z</dcterms:modified>
</cp:coreProperties>
</file>