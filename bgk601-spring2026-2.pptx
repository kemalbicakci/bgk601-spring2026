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ppt/media/image12.jpg" ContentType="image/jpg"/>
  <Override PartName="/ppt/media/image13.jpg" ContentType="image/jpg"/>
  <Override PartName="/ppt/media/image16.jpg" ContentType="image/jpg"/>
  <Override PartName="/ppt/media/image17.jpg" ContentType="image/jpg"/>
  <Override PartName="/ppt/media/image18.jpg" ContentType="image/jpg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0" r:id="rId1"/>
    <p:sldMasterId id="2147483672" r:id="rId2"/>
    <p:sldMasterId id="2147483671" r:id="rId3"/>
  </p:sldMasterIdLst>
  <p:notesMasterIdLst>
    <p:notesMasterId r:id="rId132"/>
  </p:notesMasterIdLst>
  <p:sldIdLst>
    <p:sldId id="256" r:id="rId4"/>
    <p:sldId id="388" r:id="rId5"/>
    <p:sldId id="389" r:id="rId6"/>
    <p:sldId id="390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7" r:id="rId87"/>
    <p:sldId id="338" r:id="rId88"/>
    <p:sldId id="339" r:id="rId89"/>
    <p:sldId id="340" r:id="rId90"/>
    <p:sldId id="366" r:id="rId91"/>
    <p:sldId id="367" r:id="rId92"/>
    <p:sldId id="368" r:id="rId93"/>
    <p:sldId id="341" r:id="rId94"/>
    <p:sldId id="342" r:id="rId95"/>
    <p:sldId id="343" r:id="rId96"/>
    <p:sldId id="344" r:id="rId97"/>
    <p:sldId id="345" r:id="rId98"/>
    <p:sldId id="346" r:id="rId99"/>
    <p:sldId id="347" r:id="rId100"/>
    <p:sldId id="348" r:id="rId101"/>
    <p:sldId id="349" r:id="rId102"/>
    <p:sldId id="350" r:id="rId103"/>
    <p:sldId id="351" r:id="rId104"/>
    <p:sldId id="352" r:id="rId105"/>
    <p:sldId id="353" r:id="rId106"/>
    <p:sldId id="354" r:id="rId107"/>
    <p:sldId id="355" r:id="rId108"/>
    <p:sldId id="356" r:id="rId109"/>
    <p:sldId id="357" r:id="rId110"/>
    <p:sldId id="358" r:id="rId111"/>
    <p:sldId id="359" r:id="rId112"/>
    <p:sldId id="360" r:id="rId113"/>
    <p:sldId id="361" r:id="rId114"/>
    <p:sldId id="362" r:id="rId115"/>
    <p:sldId id="363" r:id="rId116"/>
    <p:sldId id="364" r:id="rId117"/>
    <p:sldId id="369" r:id="rId118"/>
    <p:sldId id="387" r:id="rId119"/>
    <p:sldId id="372" r:id="rId120"/>
    <p:sldId id="373" r:id="rId121"/>
    <p:sldId id="374" r:id="rId122"/>
    <p:sldId id="375" r:id="rId123"/>
    <p:sldId id="376" r:id="rId124"/>
    <p:sldId id="377" r:id="rId125"/>
    <p:sldId id="378" r:id="rId126"/>
    <p:sldId id="379" r:id="rId127"/>
    <p:sldId id="380" r:id="rId128"/>
    <p:sldId id="381" r:id="rId129"/>
    <p:sldId id="382" r:id="rId130"/>
    <p:sldId id="383" r:id="rId131"/>
  </p:sldIdLst>
  <p:sldSz cx="9144000" cy="5143500" type="screen16x9"/>
  <p:notesSz cx="6858000" cy="9144000"/>
  <p:embeddedFontLst>
    <p:embeddedFont>
      <p:font typeface="Montserrat" pitchFamily="2" charset="77"/>
      <p:regular r:id="rId133"/>
      <p:bold r:id="rId134"/>
      <p:italic r:id="rId135"/>
      <p:boldItalic r:id="rId136"/>
    </p:embeddedFont>
    <p:embeddedFont>
      <p:font typeface="Oswald" pitchFamily="2" charset="77"/>
      <p:regular r:id="rId137"/>
      <p:bold r:id="rId138"/>
    </p:embeddedFont>
    <p:embeddedFont>
      <p:font typeface="Overpass" pitchFamily="2" charset="77"/>
      <p:regular r:id="rId139"/>
      <p:bold r:id="rId140"/>
      <p:italic r:id="rId141"/>
      <p:boldItalic r:id="rId142"/>
    </p:embeddedFont>
    <p:embeddedFont>
      <p:font typeface="Roboto" panose="02000000000000000000" pitchFamily="2" charset="0"/>
      <p:regular r:id="rId143"/>
      <p:bold r:id="rId144"/>
      <p:italic r:id="rId145"/>
      <p:boldItalic r:id="rId146"/>
    </p:embeddedFont>
    <p:embeddedFont>
      <p:font typeface="Source Code Pro" panose="020B0509030403020204" pitchFamily="49" charset="0"/>
      <p:regular r:id="rId147"/>
      <p:bold r:id="rId148"/>
      <p:italic r:id="rId149"/>
      <p:boldItalic r:id="rId15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94"/>
  </p:normalViewPr>
  <p:slideViewPr>
    <p:cSldViewPr snapToGrid="0">
      <p:cViewPr varScale="1">
        <p:scale>
          <a:sx n="161" d="100"/>
          <a:sy n="161" d="100"/>
        </p:scale>
        <p:origin x="784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4.xml"/><Relationship Id="rId21" Type="http://schemas.openxmlformats.org/officeDocument/2006/relationships/slide" Target="slides/slide18.xml"/><Relationship Id="rId42" Type="http://schemas.openxmlformats.org/officeDocument/2006/relationships/slide" Target="slides/slide39.xml"/><Relationship Id="rId63" Type="http://schemas.openxmlformats.org/officeDocument/2006/relationships/slide" Target="slides/slide60.xml"/><Relationship Id="rId84" Type="http://schemas.openxmlformats.org/officeDocument/2006/relationships/slide" Target="slides/slide81.xml"/><Relationship Id="rId138" Type="http://schemas.openxmlformats.org/officeDocument/2006/relationships/font" Target="fonts/font6.fntdata"/><Relationship Id="rId107" Type="http://schemas.openxmlformats.org/officeDocument/2006/relationships/slide" Target="slides/slide104.xml"/><Relationship Id="rId11" Type="http://schemas.openxmlformats.org/officeDocument/2006/relationships/slide" Target="slides/slide8.xml"/><Relationship Id="rId32" Type="http://schemas.openxmlformats.org/officeDocument/2006/relationships/slide" Target="slides/slide29.xml"/><Relationship Id="rId53" Type="http://schemas.openxmlformats.org/officeDocument/2006/relationships/slide" Target="slides/slide50.xml"/><Relationship Id="rId74" Type="http://schemas.openxmlformats.org/officeDocument/2006/relationships/slide" Target="slides/slide71.xml"/><Relationship Id="rId128" Type="http://schemas.openxmlformats.org/officeDocument/2006/relationships/slide" Target="slides/slide125.xml"/><Relationship Id="rId149" Type="http://schemas.openxmlformats.org/officeDocument/2006/relationships/font" Target="fonts/font17.fntdata"/><Relationship Id="rId5" Type="http://schemas.openxmlformats.org/officeDocument/2006/relationships/slide" Target="slides/slide2.xml"/><Relationship Id="rId95" Type="http://schemas.openxmlformats.org/officeDocument/2006/relationships/slide" Target="slides/slide92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43" Type="http://schemas.openxmlformats.org/officeDocument/2006/relationships/slide" Target="slides/slide40.xml"/><Relationship Id="rId48" Type="http://schemas.openxmlformats.org/officeDocument/2006/relationships/slide" Target="slides/slide45.xml"/><Relationship Id="rId64" Type="http://schemas.openxmlformats.org/officeDocument/2006/relationships/slide" Target="slides/slide61.xml"/><Relationship Id="rId69" Type="http://schemas.openxmlformats.org/officeDocument/2006/relationships/slide" Target="slides/slide66.xml"/><Relationship Id="rId113" Type="http://schemas.openxmlformats.org/officeDocument/2006/relationships/slide" Target="slides/slide110.xml"/><Relationship Id="rId118" Type="http://schemas.openxmlformats.org/officeDocument/2006/relationships/slide" Target="slides/slide115.xml"/><Relationship Id="rId134" Type="http://schemas.openxmlformats.org/officeDocument/2006/relationships/font" Target="fonts/font2.fntdata"/><Relationship Id="rId139" Type="http://schemas.openxmlformats.org/officeDocument/2006/relationships/font" Target="fonts/font7.fntdata"/><Relationship Id="rId80" Type="http://schemas.openxmlformats.org/officeDocument/2006/relationships/slide" Target="slides/slide77.xml"/><Relationship Id="rId85" Type="http://schemas.openxmlformats.org/officeDocument/2006/relationships/slide" Target="slides/slide82.xml"/><Relationship Id="rId150" Type="http://schemas.openxmlformats.org/officeDocument/2006/relationships/font" Target="fonts/font18.fntdata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59" Type="http://schemas.openxmlformats.org/officeDocument/2006/relationships/slide" Target="slides/slide56.xml"/><Relationship Id="rId103" Type="http://schemas.openxmlformats.org/officeDocument/2006/relationships/slide" Target="slides/slide100.xml"/><Relationship Id="rId108" Type="http://schemas.openxmlformats.org/officeDocument/2006/relationships/slide" Target="slides/slide105.xml"/><Relationship Id="rId124" Type="http://schemas.openxmlformats.org/officeDocument/2006/relationships/slide" Target="slides/slide121.xml"/><Relationship Id="rId129" Type="http://schemas.openxmlformats.org/officeDocument/2006/relationships/slide" Target="slides/slide126.xml"/><Relationship Id="rId54" Type="http://schemas.openxmlformats.org/officeDocument/2006/relationships/slide" Target="slides/slide51.xml"/><Relationship Id="rId70" Type="http://schemas.openxmlformats.org/officeDocument/2006/relationships/slide" Target="slides/slide67.xml"/><Relationship Id="rId75" Type="http://schemas.openxmlformats.org/officeDocument/2006/relationships/slide" Target="slides/slide72.xml"/><Relationship Id="rId91" Type="http://schemas.openxmlformats.org/officeDocument/2006/relationships/slide" Target="slides/slide88.xml"/><Relationship Id="rId96" Type="http://schemas.openxmlformats.org/officeDocument/2006/relationships/slide" Target="slides/slide93.xml"/><Relationship Id="rId140" Type="http://schemas.openxmlformats.org/officeDocument/2006/relationships/font" Target="fonts/font8.fntdata"/><Relationship Id="rId145" Type="http://schemas.openxmlformats.org/officeDocument/2006/relationships/font" Target="fonts/font1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49" Type="http://schemas.openxmlformats.org/officeDocument/2006/relationships/slide" Target="slides/slide46.xml"/><Relationship Id="rId114" Type="http://schemas.openxmlformats.org/officeDocument/2006/relationships/slide" Target="slides/slide111.xml"/><Relationship Id="rId119" Type="http://schemas.openxmlformats.org/officeDocument/2006/relationships/slide" Target="slides/slide116.xml"/><Relationship Id="rId44" Type="http://schemas.openxmlformats.org/officeDocument/2006/relationships/slide" Target="slides/slide41.xml"/><Relationship Id="rId60" Type="http://schemas.openxmlformats.org/officeDocument/2006/relationships/slide" Target="slides/slide57.xml"/><Relationship Id="rId65" Type="http://schemas.openxmlformats.org/officeDocument/2006/relationships/slide" Target="slides/slide62.xml"/><Relationship Id="rId81" Type="http://schemas.openxmlformats.org/officeDocument/2006/relationships/slide" Target="slides/slide78.xml"/><Relationship Id="rId86" Type="http://schemas.openxmlformats.org/officeDocument/2006/relationships/slide" Target="slides/slide83.xml"/><Relationship Id="rId130" Type="http://schemas.openxmlformats.org/officeDocument/2006/relationships/slide" Target="slides/slide127.xml"/><Relationship Id="rId135" Type="http://schemas.openxmlformats.org/officeDocument/2006/relationships/font" Target="fonts/font3.fntdata"/><Relationship Id="rId151" Type="http://schemas.openxmlformats.org/officeDocument/2006/relationships/presProps" Target="presProps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39" Type="http://schemas.openxmlformats.org/officeDocument/2006/relationships/slide" Target="slides/slide36.xml"/><Relationship Id="rId109" Type="http://schemas.openxmlformats.org/officeDocument/2006/relationships/slide" Target="slides/slide106.xml"/><Relationship Id="rId34" Type="http://schemas.openxmlformats.org/officeDocument/2006/relationships/slide" Target="slides/slide31.xml"/><Relationship Id="rId50" Type="http://schemas.openxmlformats.org/officeDocument/2006/relationships/slide" Target="slides/slide47.xml"/><Relationship Id="rId55" Type="http://schemas.openxmlformats.org/officeDocument/2006/relationships/slide" Target="slides/slide52.xml"/><Relationship Id="rId76" Type="http://schemas.openxmlformats.org/officeDocument/2006/relationships/slide" Target="slides/slide73.xml"/><Relationship Id="rId97" Type="http://schemas.openxmlformats.org/officeDocument/2006/relationships/slide" Target="slides/slide94.xml"/><Relationship Id="rId104" Type="http://schemas.openxmlformats.org/officeDocument/2006/relationships/slide" Target="slides/slide101.xml"/><Relationship Id="rId120" Type="http://schemas.openxmlformats.org/officeDocument/2006/relationships/slide" Target="slides/slide117.xml"/><Relationship Id="rId125" Type="http://schemas.openxmlformats.org/officeDocument/2006/relationships/slide" Target="slides/slide122.xml"/><Relationship Id="rId141" Type="http://schemas.openxmlformats.org/officeDocument/2006/relationships/font" Target="fonts/font9.fntdata"/><Relationship Id="rId146" Type="http://schemas.openxmlformats.org/officeDocument/2006/relationships/font" Target="fonts/font14.fntdata"/><Relationship Id="rId7" Type="http://schemas.openxmlformats.org/officeDocument/2006/relationships/slide" Target="slides/slide4.xml"/><Relationship Id="rId71" Type="http://schemas.openxmlformats.org/officeDocument/2006/relationships/slide" Target="slides/slide68.xml"/><Relationship Id="rId92" Type="http://schemas.openxmlformats.org/officeDocument/2006/relationships/slide" Target="slides/slide89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6.xml"/><Relationship Id="rId24" Type="http://schemas.openxmlformats.org/officeDocument/2006/relationships/slide" Target="slides/slide21.xml"/><Relationship Id="rId40" Type="http://schemas.openxmlformats.org/officeDocument/2006/relationships/slide" Target="slides/slide37.xml"/><Relationship Id="rId45" Type="http://schemas.openxmlformats.org/officeDocument/2006/relationships/slide" Target="slides/slide42.xml"/><Relationship Id="rId66" Type="http://schemas.openxmlformats.org/officeDocument/2006/relationships/slide" Target="slides/slide63.xml"/><Relationship Id="rId87" Type="http://schemas.openxmlformats.org/officeDocument/2006/relationships/slide" Target="slides/slide84.xml"/><Relationship Id="rId110" Type="http://schemas.openxmlformats.org/officeDocument/2006/relationships/slide" Target="slides/slide107.xml"/><Relationship Id="rId115" Type="http://schemas.openxmlformats.org/officeDocument/2006/relationships/slide" Target="slides/slide112.xml"/><Relationship Id="rId131" Type="http://schemas.openxmlformats.org/officeDocument/2006/relationships/slide" Target="slides/slide128.xml"/><Relationship Id="rId136" Type="http://schemas.openxmlformats.org/officeDocument/2006/relationships/font" Target="fonts/font4.fntdata"/><Relationship Id="rId61" Type="http://schemas.openxmlformats.org/officeDocument/2006/relationships/slide" Target="slides/slide58.xml"/><Relationship Id="rId82" Type="http://schemas.openxmlformats.org/officeDocument/2006/relationships/slide" Target="slides/slide79.xml"/><Relationship Id="rId152" Type="http://schemas.openxmlformats.org/officeDocument/2006/relationships/viewProps" Target="viewProps.xml"/><Relationship Id="rId19" Type="http://schemas.openxmlformats.org/officeDocument/2006/relationships/slide" Target="slides/slide16.xml"/><Relationship Id="rId14" Type="http://schemas.openxmlformats.org/officeDocument/2006/relationships/slide" Target="slides/slide11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56" Type="http://schemas.openxmlformats.org/officeDocument/2006/relationships/slide" Target="slides/slide53.xml"/><Relationship Id="rId77" Type="http://schemas.openxmlformats.org/officeDocument/2006/relationships/slide" Target="slides/slide74.xml"/><Relationship Id="rId100" Type="http://schemas.openxmlformats.org/officeDocument/2006/relationships/slide" Target="slides/slide97.xml"/><Relationship Id="rId105" Type="http://schemas.openxmlformats.org/officeDocument/2006/relationships/slide" Target="slides/slide102.xml"/><Relationship Id="rId126" Type="http://schemas.openxmlformats.org/officeDocument/2006/relationships/slide" Target="slides/slide123.xml"/><Relationship Id="rId147" Type="http://schemas.openxmlformats.org/officeDocument/2006/relationships/font" Target="fonts/font15.fntdata"/><Relationship Id="rId8" Type="http://schemas.openxmlformats.org/officeDocument/2006/relationships/slide" Target="slides/slide5.xml"/><Relationship Id="rId51" Type="http://schemas.openxmlformats.org/officeDocument/2006/relationships/slide" Target="slides/slide48.xml"/><Relationship Id="rId72" Type="http://schemas.openxmlformats.org/officeDocument/2006/relationships/slide" Target="slides/slide69.xml"/><Relationship Id="rId93" Type="http://schemas.openxmlformats.org/officeDocument/2006/relationships/slide" Target="slides/slide90.xml"/><Relationship Id="rId98" Type="http://schemas.openxmlformats.org/officeDocument/2006/relationships/slide" Target="slides/slide95.xml"/><Relationship Id="rId121" Type="http://schemas.openxmlformats.org/officeDocument/2006/relationships/slide" Target="slides/slide118.xml"/><Relationship Id="rId142" Type="http://schemas.openxmlformats.org/officeDocument/2006/relationships/font" Target="fonts/font10.fntdata"/><Relationship Id="rId3" Type="http://schemas.openxmlformats.org/officeDocument/2006/relationships/slideMaster" Target="slideMasters/slideMaster3.xml"/><Relationship Id="rId25" Type="http://schemas.openxmlformats.org/officeDocument/2006/relationships/slide" Target="slides/slide22.xml"/><Relationship Id="rId46" Type="http://schemas.openxmlformats.org/officeDocument/2006/relationships/slide" Target="slides/slide43.xml"/><Relationship Id="rId67" Type="http://schemas.openxmlformats.org/officeDocument/2006/relationships/slide" Target="slides/slide64.xml"/><Relationship Id="rId116" Type="http://schemas.openxmlformats.org/officeDocument/2006/relationships/slide" Target="slides/slide113.xml"/><Relationship Id="rId137" Type="http://schemas.openxmlformats.org/officeDocument/2006/relationships/font" Target="fonts/font5.fntdata"/><Relationship Id="rId20" Type="http://schemas.openxmlformats.org/officeDocument/2006/relationships/slide" Target="slides/slide17.xml"/><Relationship Id="rId41" Type="http://schemas.openxmlformats.org/officeDocument/2006/relationships/slide" Target="slides/slide38.xml"/><Relationship Id="rId62" Type="http://schemas.openxmlformats.org/officeDocument/2006/relationships/slide" Target="slides/slide59.xml"/><Relationship Id="rId83" Type="http://schemas.openxmlformats.org/officeDocument/2006/relationships/slide" Target="slides/slide80.xml"/><Relationship Id="rId88" Type="http://schemas.openxmlformats.org/officeDocument/2006/relationships/slide" Target="slides/slide85.xml"/><Relationship Id="rId111" Type="http://schemas.openxmlformats.org/officeDocument/2006/relationships/slide" Target="slides/slide108.xml"/><Relationship Id="rId132" Type="http://schemas.openxmlformats.org/officeDocument/2006/relationships/notesMaster" Target="notesMasters/notesMaster1.xml"/><Relationship Id="rId153" Type="http://schemas.openxmlformats.org/officeDocument/2006/relationships/theme" Target="theme/theme1.xml"/><Relationship Id="rId15" Type="http://schemas.openxmlformats.org/officeDocument/2006/relationships/slide" Target="slides/slide12.xml"/><Relationship Id="rId36" Type="http://schemas.openxmlformats.org/officeDocument/2006/relationships/slide" Target="slides/slide33.xml"/><Relationship Id="rId57" Type="http://schemas.openxmlformats.org/officeDocument/2006/relationships/slide" Target="slides/slide54.xml"/><Relationship Id="rId106" Type="http://schemas.openxmlformats.org/officeDocument/2006/relationships/slide" Target="slides/slide103.xml"/><Relationship Id="rId127" Type="http://schemas.openxmlformats.org/officeDocument/2006/relationships/slide" Target="slides/slide124.xml"/><Relationship Id="rId10" Type="http://schemas.openxmlformats.org/officeDocument/2006/relationships/slide" Target="slides/slide7.xml"/><Relationship Id="rId31" Type="http://schemas.openxmlformats.org/officeDocument/2006/relationships/slide" Target="slides/slide28.xml"/><Relationship Id="rId52" Type="http://schemas.openxmlformats.org/officeDocument/2006/relationships/slide" Target="slides/slide49.xml"/><Relationship Id="rId73" Type="http://schemas.openxmlformats.org/officeDocument/2006/relationships/slide" Target="slides/slide70.xml"/><Relationship Id="rId78" Type="http://schemas.openxmlformats.org/officeDocument/2006/relationships/slide" Target="slides/slide75.xml"/><Relationship Id="rId94" Type="http://schemas.openxmlformats.org/officeDocument/2006/relationships/slide" Target="slides/slide91.xml"/><Relationship Id="rId99" Type="http://schemas.openxmlformats.org/officeDocument/2006/relationships/slide" Target="slides/slide96.xml"/><Relationship Id="rId101" Type="http://schemas.openxmlformats.org/officeDocument/2006/relationships/slide" Target="slides/slide98.xml"/><Relationship Id="rId122" Type="http://schemas.openxmlformats.org/officeDocument/2006/relationships/slide" Target="slides/slide119.xml"/><Relationship Id="rId143" Type="http://schemas.openxmlformats.org/officeDocument/2006/relationships/font" Target="fonts/font11.fntdata"/><Relationship Id="rId148" Type="http://schemas.openxmlformats.org/officeDocument/2006/relationships/font" Target="fonts/font16.fntdata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26" Type="http://schemas.openxmlformats.org/officeDocument/2006/relationships/slide" Target="slides/slide23.xml"/><Relationship Id="rId47" Type="http://schemas.openxmlformats.org/officeDocument/2006/relationships/slide" Target="slides/slide44.xml"/><Relationship Id="rId68" Type="http://schemas.openxmlformats.org/officeDocument/2006/relationships/slide" Target="slides/slide65.xml"/><Relationship Id="rId89" Type="http://schemas.openxmlformats.org/officeDocument/2006/relationships/slide" Target="slides/slide86.xml"/><Relationship Id="rId112" Type="http://schemas.openxmlformats.org/officeDocument/2006/relationships/slide" Target="slides/slide109.xml"/><Relationship Id="rId133" Type="http://schemas.openxmlformats.org/officeDocument/2006/relationships/font" Target="fonts/font1.fntdata"/><Relationship Id="rId154" Type="http://schemas.openxmlformats.org/officeDocument/2006/relationships/tableStyles" Target="tableStyles.xml"/><Relationship Id="rId16" Type="http://schemas.openxmlformats.org/officeDocument/2006/relationships/slide" Target="slides/slide13.xml"/><Relationship Id="rId37" Type="http://schemas.openxmlformats.org/officeDocument/2006/relationships/slide" Target="slides/slide34.xml"/><Relationship Id="rId58" Type="http://schemas.openxmlformats.org/officeDocument/2006/relationships/slide" Target="slides/slide55.xml"/><Relationship Id="rId79" Type="http://schemas.openxmlformats.org/officeDocument/2006/relationships/slide" Target="slides/slide76.xml"/><Relationship Id="rId102" Type="http://schemas.openxmlformats.org/officeDocument/2006/relationships/slide" Target="slides/slide99.xml"/><Relationship Id="rId123" Type="http://schemas.openxmlformats.org/officeDocument/2006/relationships/slide" Target="slides/slide120.xml"/><Relationship Id="rId144" Type="http://schemas.openxmlformats.org/officeDocument/2006/relationships/font" Target="fonts/font12.fntdata"/><Relationship Id="rId90" Type="http://schemas.openxmlformats.org/officeDocument/2006/relationships/slide" Target="slides/slide8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2.xml"/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3.xml"/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4.xml"/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5.xml"/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6.xml"/><Relationship Id="rId1" Type="http://schemas.openxmlformats.org/officeDocument/2006/relationships/notesMaster" Target="../notesMasters/notesMaster1.xml"/></Relationships>
</file>

<file path=ppt/notesSlides/_rels/notesSlide9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7.xml"/><Relationship Id="rId1" Type="http://schemas.openxmlformats.org/officeDocument/2006/relationships/notesMaster" Target="../notesMasters/notesMaster1.xml"/></Relationships>
</file>

<file path=ppt/notesSlides/_rels/notesSlide9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8.xml"/><Relationship Id="rId1" Type="http://schemas.openxmlformats.org/officeDocument/2006/relationships/notesMaster" Target="../notesMasters/notesMaster1.xml"/></Relationships>
</file>

<file path=ppt/notesSlides/_rels/notesSlide9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9.xml"/><Relationship Id="rId1" Type="http://schemas.openxmlformats.org/officeDocument/2006/relationships/notesMaster" Target="../notesMasters/notesMaster1.xml"/></Relationships>
</file>

<file path=ppt/notesSlides/_rels/notesSlide9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0.xml"/><Relationship Id="rId1" Type="http://schemas.openxmlformats.org/officeDocument/2006/relationships/notesMaster" Target="../notesMasters/notesMaster1.xml"/></Relationships>
</file>

<file path=ppt/notesSlides/_rels/notesSlide9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1.xml"/><Relationship Id="rId1" Type="http://schemas.openxmlformats.org/officeDocument/2006/relationships/notesMaster" Target="../notesMasters/notesMaster1.xml"/></Relationships>
</file>

<file path=ppt/notesSlides/_rels/notesSlide10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2.xml"/><Relationship Id="rId1" Type="http://schemas.openxmlformats.org/officeDocument/2006/relationships/notesMaster" Target="../notesMasters/notesMaster1.xml"/></Relationships>
</file>

<file path=ppt/notesSlides/_rels/notesSlide10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3.xml"/><Relationship Id="rId1" Type="http://schemas.openxmlformats.org/officeDocument/2006/relationships/notesMaster" Target="../notesMasters/notesMaster1.xml"/></Relationships>
</file>

<file path=ppt/notesSlides/_rels/notesSlide10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4.xml"/><Relationship Id="rId1" Type="http://schemas.openxmlformats.org/officeDocument/2006/relationships/notesMaster" Target="../notesMasters/notesMaster1.xml"/></Relationships>
</file>

<file path=ppt/notesSlides/_rels/notesSlide10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5.xml"/><Relationship Id="rId1" Type="http://schemas.openxmlformats.org/officeDocument/2006/relationships/notesMaster" Target="../notesMasters/notesMaster1.xml"/></Relationships>
</file>

<file path=ppt/notesSlides/_rels/notesSlide10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6.xml"/><Relationship Id="rId1" Type="http://schemas.openxmlformats.org/officeDocument/2006/relationships/notesMaster" Target="../notesMasters/notesMaster1.xml"/></Relationships>
</file>

<file path=ppt/notesSlides/_rels/notesSlide10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7.xml"/><Relationship Id="rId1" Type="http://schemas.openxmlformats.org/officeDocument/2006/relationships/notesMaster" Target="../notesMasters/notesMaster1.xml"/></Relationships>
</file>

<file path=ppt/notesSlides/_rels/notesSlide10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8.xml"/><Relationship Id="rId1" Type="http://schemas.openxmlformats.org/officeDocument/2006/relationships/notesMaster" Target="../notesMasters/notesMaster1.xml"/></Relationships>
</file>

<file path=ppt/notesSlides/_rels/notesSlide10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9.xml"/><Relationship Id="rId1" Type="http://schemas.openxmlformats.org/officeDocument/2006/relationships/notesMaster" Target="../notesMasters/notesMaster1.xml"/></Relationships>
</file>

<file path=ppt/notesSlides/_rels/notesSlide10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0.xml"/><Relationship Id="rId1" Type="http://schemas.openxmlformats.org/officeDocument/2006/relationships/notesMaster" Target="../notesMasters/notesMaster1.xml"/></Relationships>
</file>

<file path=ppt/notesSlides/_rels/notesSlide10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1.xml"/><Relationship Id="rId1" Type="http://schemas.openxmlformats.org/officeDocument/2006/relationships/notesMaster" Target="../notesMasters/notesMaster1.xml"/></Relationships>
</file>

<file path=ppt/notesSlides/_rels/notesSlide1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2.xml"/><Relationship Id="rId1" Type="http://schemas.openxmlformats.org/officeDocument/2006/relationships/notesMaster" Target="../notesMasters/notesMaster1.xml"/></Relationships>
</file>

<file path=ppt/notesSlides/_rels/notesSlide1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3.xml"/><Relationship Id="rId1" Type="http://schemas.openxmlformats.org/officeDocument/2006/relationships/notesMaster" Target="../notesMasters/notesMaster1.xml"/></Relationships>
</file>

<file path=ppt/notesSlides/_rels/notesSlide1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9" name="Google Shape;179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5" name="Google Shape;185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1" name="Google Shape;191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404b920135_0_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404b920135_0_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5c8d4edbeb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5c8d4edbeb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5c8d4edbeb_0_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5c8d4edbeb_0_5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5c8d4edbeb_0_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5c8d4edbeb_0_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5c8d4edbeb_0_5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5c8d4edbeb_0_5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5c8d4edbeb_0_5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5c8d4edbeb_0_57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6aebc8ca16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6aebc8ca16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6aebc8ca16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g6aebc8ca16_0_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5c6d0d8677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g5c6d0d8677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5c6d0d8677_0_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" name="Google Shape;191;g5c6d0d8677_0_8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5c6d0d8677_0_9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" name="Google Shape;200;g5c6d0d8677_0_9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5c6d0d8677_0_10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9" name="Google Shape;209;g5c6d0d8677_0_10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5c6d0d8677_0_1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8" name="Google Shape;218;g5c6d0d8677_0_10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g5c6d0d8677_0_1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5" name="Google Shape;245;g5c6d0d8677_0_1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g5c6d0d8677_0_1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6" name="Google Shape;256;g5c6d0d8677_0_1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g5c6d0d8677_0_1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0" name="Google Shape;270;g5c6d0d8677_0_1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g5c6d0d8677_0_1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9" name="Google Shape;289;g5c6d0d8677_0_1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5c6d0d8677_0_19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8" name="Google Shape;308;g5c6d0d8677_0_19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g5c6d0d8677_0_2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1" name="Google Shape;331;g5c6d0d8677_0_2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g5c6d0d8677_0_2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6" name="Google Shape;356;g5c6d0d8677_0_2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g5c8d4edbeb_0_9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3" name="Google Shape;383;g5c8d4edbeb_0_9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g5c8d4edbeb_0_1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2" name="Google Shape;392;g5c8d4edbeb_0_10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g5c8d4edbeb_0_1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0" name="Google Shape;400;g5c8d4edbeb_0_1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g5c8d4edbeb_0_1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8" name="Google Shape;408;g5c8d4edbeb_0_1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g5c8d4edbeb_0_5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6" name="Google Shape;416;g5c8d4edbeb_0_5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g5c8d4edbeb_0_1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3" name="Google Shape;423;g5c8d4edbeb_0_1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g5c8d4edbeb_0_2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2" name="Google Shape;432;g5c8d4edbeb_0_20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g5c8d4edbeb_0_2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1" name="Google Shape;441;g5c8d4edbeb_0_2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g5c8d4edbeb_0_3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6" name="Google Shape;466;g5c8d4edbeb_0_30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g5c8d4edbeb_0_2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2" name="Google Shape;492;g5c8d4edbeb_0_2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g5c8d4edbeb_0_2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7" name="Google Shape;517;g5c8d4edbeb_0_2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g5c8d4edbeb_0_3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3" name="Google Shape;543;g5c8d4edbeb_0_3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" name="Google Shape;569;g5c8d4edbeb_0_3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0" name="Google Shape;570;g5c8d4edbeb_0_3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" name="Google Shape;597;g5c8d4edbeb_0_2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8" name="Google Shape;598;g5c8d4edbeb_0_2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6" name="Google Shape;606;g5c8d4edbeb_0_3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7" name="Google Shape;607;g5c8d4edbeb_0_38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1" name="Google Shape;631;g5c8d4edbeb_0_4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2" name="Google Shape;632;g5c8d4edbeb_0_4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7" name="Google Shape;657;g5c8d4edbeb_0_2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8" name="Google Shape;658;g5c8d4edbeb_0_2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6" name="Google Shape;666;g5c8d4edbeb_0_1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7" name="Google Shape;667;g5c8d4edbeb_0_1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0" name="Google Shape;680;g5c8d4edbeb_0_1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1" name="Google Shape;681;g5c8d4edbeb_0_16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4" name="Google Shape;694;g5c8d4edbeb_0_1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5" name="Google Shape;695;g5c8d4edbeb_0_1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8" name="Google Shape;708;g5c8d4edbeb_0_19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9" name="Google Shape;709;g5c8d4edbeb_0_19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" name="Google Shape;717;g5c8d4edbeb_0_1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8" name="Google Shape;718;g5c8d4edbeb_0_1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6" name="Google Shape;726;g5c8d4edbeb_0_4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7" name="Google Shape;727;g5c8d4edbeb_0_4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0" name="Google Shape;740;g5c8d4edbeb_0_4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1" name="Google Shape;741;g5c8d4edbeb_0_47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5" name="Google Shape;755;g5c8d4edbeb_0_49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6" name="Google Shape;756;g5c8d4edbeb_0_49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0" name="Google Shape;770;g5c8d4edbeb_0_50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1" name="Google Shape;771;g5c8d4edbeb_0_50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4" name="Google Shape;784;g5c8d4edbeb_0_5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5" name="Google Shape;785;g5c8d4edbeb_0_5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9" name="Google Shape;799;g5c8d4edbeb_0_5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0" name="Google Shape;800;g5c8d4edbeb_0_5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5" name="Google Shape;815;g5c8d4edbeb_0_5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6" name="Google Shape;816;g5c8d4edbeb_0_5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4" name="Google Shape;824;g5c8d4edbeb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5" name="Google Shape;825;g5c8d4edbeb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2" name="Google Shape;832;g5c6d0d8677_0_5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3" name="Google Shape;833;g5c6d0d8677_0_5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0" name="Google Shape;840;g5c6d0d8677_0_5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1" name="Google Shape;841;g5c6d0d8677_0_5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8" name="Google Shape;848;g5c6d0d8677_0_5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9" name="Google Shape;849;g5c6d0d8677_0_5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6" name="Google Shape;856;g5c6d0d8677_0_5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7" name="Google Shape;857;g5c6d0d8677_0_5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4" name="Google Shape;864;g5c6d0d8677_0_5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5" name="Google Shape;865;g5c6d0d8677_0_5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2" name="Google Shape;872;g5c6d0d8677_0_5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3" name="Google Shape;873;g5c6d0d8677_0_5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" name="Google Shape;880;g5c6d0d8677_0_5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1" name="Google Shape;881;g5c6d0d8677_0_5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8" name="Google Shape;888;g5c6d0d8677_0_5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9" name="Google Shape;889;g5c6d0d8677_0_57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9" name="Google Shape;899;g5c6d0d8677_0_5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0" name="Google Shape;900;g5c6d0d8677_0_5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2" name="Google Shape;912;g5c6d0d8677_0_5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3" name="Google Shape;913;g5c6d0d8677_0_59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8" name="Google Shape;928;g5c6d0d8677_0_60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9" name="Google Shape;929;g5c6d0d8677_0_60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9" name="Google Shape;949;g5c6d0d8677_0_6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0" name="Google Shape;950;g5c6d0d8677_0_6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0" name="Google Shape;970;g5c6d0d8677_0_6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1" name="Google Shape;971;g5c6d0d8677_0_6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8" name="Google Shape;978;g5c6d0d8677_0_6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9" name="Google Shape;979;g5c6d0d8677_0_6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6" name="Google Shape;986;g5c6d0d8677_0_6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7" name="Google Shape;987;g5c6d0d8677_0_6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4" name="Google Shape;994;g5c6d0d8677_0_6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5" name="Google Shape;995;g5c6d0d8677_0_68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Google Shape;1002;g5c6d0d8677_0_6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3" name="Google Shape;1003;g5c6d0d8677_0_68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0" name="Google Shape;1010;g5c6d0d8677_0_69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1" name="Google Shape;1011;g5c6d0d8677_0_69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8" name="Google Shape;1018;g5c6d0d8677_0_7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9" name="Google Shape;1019;g5c6d0d8677_0_70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Google Shape;1026;g5c6d0d8677_0_7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7" name="Google Shape;1027;g5c6d0d8677_0_7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" name="Google Shape;1034;g5c6d0d8677_0_7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5" name="Google Shape;1035;g5c6d0d8677_0_7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2" name="Google Shape;1042;g5c6d0d8677_0_7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3" name="Google Shape;1043;g5c6d0d8677_0_7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0" name="Google Shape;1050;g5c6d0d8677_0_7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1" name="Google Shape;1051;g5c6d0d8677_0_7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8" name="Google Shape;1058;g5c6d0d8677_0_7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9" name="Google Shape;1059;g5c6d0d8677_0_7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7" name="Google Shape;1067;g5c6d0d8677_0_7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8" name="Google Shape;1068;g5c6d0d8677_0_7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" name="Google Shape;1075;g5c6d0d8677_0_7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6" name="Google Shape;1076;g5c6d0d8677_0_7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3" name="Google Shape;1083;g5c6d0d8677_0_7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4" name="Google Shape;1084;g5c6d0d8677_0_76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7" name="Google Shape;1097;g5c6d0d8677_0_7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8" name="Google Shape;1098;g5c6d0d8677_0_7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1" name="Google Shape;1111;g5c6d0d8677_0_79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2" name="Google Shape;1112;g5c6d0d8677_0_79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1" name="Google Shape;1141;g5c8d4edbeb_0_6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2" name="Google Shape;1142;g5c8d4edbeb_0_6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6" name="Google Shape;1156;g5c8d4edbeb_0_6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7" name="Google Shape;1157;g5c8d4edbeb_0_6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1" name="Google Shape;1171;g5c8d4edbeb_0_6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2" name="Google Shape;1172;g5c8d4edbeb_0_6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6" name="Google Shape;1186;g5c8d4edbeb_0_6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7" name="Google Shape;1187;g5c8d4edbeb_0_67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5">
          <a:extLst>
            <a:ext uri="{FF2B5EF4-FFF2-40B4-BE49-F238E27FC236}">
              <a16:creationId xmlns:a16="http://schemas.microsoft.com/office/drawing/2014/main" id="{190D39B9-571B-D14D-8740-AEFC811D8C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6" name="Google Shape;1186;g5c8d4edbeb_0_672:notes">
            <a:extLst>
              <a:ext uri="{FF2B5EF4-FFF2-40B4-BE49-F238E27FC236}">
                <a16:creationId xmlns:a16="http://schemas.microsoft.com/office/drawing/2014/main" id="{11ADAA9A-EBDE-3324-2B30-4C5D26B9D0D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7" name="Google Shape;1187;g5c8d4edbeb_0_672:notes">
            <a:extLst>
              <a:ext uri="{FF2B5EF4-FFF2-40B4-BE49-F238E27FC236}">
                <a16:creationId xmlns:a16="http://schemas.microsoft.com/office/drawing/2014/main" id="{5E043A98-AFC4-8667-EF47-1C4297047CB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32124722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1" name="Google Shape;1201;g5c8d4edbeb_0_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2" name="Google Shape;1202;g5c8d4edbeb_0_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9" name="Google Shape;1209;g5c6d0d8677_0_119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0" name="Google Shape;1210;g5c6d0d8677_0_119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7" name="Google Shape;1217;g5c6d0d8677_0_12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8" name="Google Shape;1218;g5c6d0d8677_0_120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5" name="Google Shape;1225;g5c8d4edbeb_0_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6" name="Google Shape;1226;g5c8d4edbeb_0_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3" name="Google Shape;1233;g5c6d0d8677_0_12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4" name="Google Shape;1234;g5c6d0d8677_0_12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1" name="Google Shape;1241;g5c6d0d8677_0_12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2" name="Google Shape;1242;g5c6d0d8677_0_12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0" name="Google Shape;1250;g5c8d4edbeb_0_68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1" name="Google Shape;1251;g5c8d4edbeb_0_68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" name="Google Shape;1259;g5c8d4edbeb_0_69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0" name="Google Shape;1260;g5c8d4edbeb_0_69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8" name="Google Shape;1268;g5c8d4edbeb_0_7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9" name="Google Shape;1269;g5c8d4edbeb_0_70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9" name="Google Shape;1279;g5c6d0d8677_0_12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0" name="Google Shape;1280;g5c6d0d8677_0_12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8" name="Google Shape;1288;g5c6d0d8677_0_12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9" name="Google Shape;1289;g5c6d0d8677_0_12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7" name="Google Shape;1297;g5c6d0d8677_0_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8" name="Google Shape;1298;g5c6d0d8677_0_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5" name="Google Shape;1305;g5c8d4edbeb_0_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6" name="Google Shape;1306;g5c8d4edbeb_0_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3" name="Google Shape;1313;g5c8d4edbeb_0_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4" name="Google Shape;1314;g5c8d4edbeb_0_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1" name="Google Shape;1321;g5c6d0d8677_0_12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2" name="Google Shape;1322;g5c6d0d8677_0_127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9" name="Google Shape;1329;g5c8d4edbeb_0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0" name="Google Shape;1330;g5c8d4edbeb_0_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6" name="Google Shape;1336;g5c8d4edbeb_0_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7" name="Google Shape;1337;g5c8d4edbeb_0_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4" name="Google Shape;1344;g5c8d4edbeb_0_5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5" name="Google Shape;1345;g5c8d4edbeb_0_5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2" name="Google Shape;1352;g5c8d4edbeb_0_5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3" name="Google Shape;1353;g5c8d4edbeb_0_59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0" name="Google Shape;1360;g5c8d4edbeb_0_6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1" name="Google Shape;1361;g5c8d4edbeb_0_60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8" name="Google Shape;1368;g5c8d4edbeb_0_6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9" name="Google Shape;1369;g5c8d4edbeb_0_60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6" name="Google Shape;1376;g5c8d4edbeb_0_6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7" name="Google Shape;1377;g5c8d4edbeb_0_6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4" name="Google Shape;1384;g5c8d4edbeb_0_7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5" name="Google Shape;1385;g5c8d4edbeb_0_7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7" name="Google Shape;1407;g5c8d4edbeb_0_6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8" name="Google Shape;1408;g5c8d4edbeb_0_6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000" b="0" i="0">
                <a:solidFill>
                  <a:srgbClr val="2A3890"/>
                </a:solidFill>
                <a:latin typeface="Roboto"/>
                <a:cs typeface="Roboto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200" b="0" i="0">
                <a:solidFill>
                  <a:srgbClr val="313131"/>
                </a:solidFill>
                <a:latin typeface="Roboto"/>
                <a:cs typeface="Roboto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2/14/26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4743768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79AA0E-6DA8-E416-C54B-C1F317C266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841375"/>
            <a:ext cx="6858000" cy="17907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TR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4F67501-80D3-FC9E-0D94-8EE45A602B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701925"/>
            <a:ext cx="6858000" cy="1241425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T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4EB796-D0B1-705F-EA61-BFD9439B66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5E17F9-3A56-5C4E-ACA3-C47FFA8BE124}" type="datetimeFigureOut">
              <a:rPr lang="en-TR" smtClean="0"/>
              <a:t>14.02.2026</a:t>
            </a:fld>
            <a:endParaRPr lang="en-T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99F582-7B17-F65E-D4AA-6567AB8269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0A701D-E60C-C6AF-AA4B-072EE3D7DC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A85FE2-887C-734F-8929-CFEA69ECE220}" type="slidenum">
              <a:rPr lang="en-TR" smtClean="0"/>
              <a:t>‹#›</a:t>
            </a:fld>
            <a:endParaRPr lang="en-TR"/>
          </a:p>
        </p:txBody>
      </p:sp>
    </p:spTree>
    <p:extLst>
      <p:ext uri="{BB962C8B-B14F-4D97-AF65-F5344CB8AC3E}">
        <p14:creationId xmlns:p14="http://schemas.microsoft.com/office/powerpoint/2010/main" val="270158238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CA69C0-9035-A234-6662-C98C20DB81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T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A67391-27E7-9C8C-8626-D1C0F491F5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223391-3219-ADC5-9BF3-514E8DDB46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5E17F9-3A56-5C4E-ACA3-C47FFA8BE124}" type="datetimeFigureOut">
              <a:rPr lang="en-TR" smtClean="0"/>
              <a:t>14.02.2026</a:t>
            </a:fld>
            <a:endParaRPr lang="en-T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2C99E9-4991-AECD-43BB-850F9059AD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FBE341-EE9C-D94A-A9DD-BE7958141C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A85FE2-887C-734F-8929-CFEA69ECE220}" type="slidenum">
              <a:rPr lang="en-TR" smtClean="0"/>
              <a:t>‹#›</a:t>
            </a:fld>
            <a:endParaRPr lang="en-TR"/>
          </a:p>
        </p:txBody>
      </p:sp>
    </p:spTree>
    <p:extLst>
      <p:ext uri="{BB962C8B-B14F-4D97-AF65-F5344CB8AC3E}">
        <p14:creationId xmlns:p14="http://schemas.microsoft.com/office/powerpoint/2010/main" val="193684550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020C05-E08D-FD93-6016-1E02D1AC43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282700"/>
            <a:ext cx="7886700" cy="2139950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T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C330E5-5987-DA4A-FA3F-1BE297C813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3441700"/>
            <a:ext cx="7886700" cy="1125538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EDCD94-04B2-7447-603D-25C64EDA3B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5E17F9-3A56-5C4E-ACA3-C47FFA8BE124}" type="datetimeFigureOut">
              <a:rPr lang="en-TR" smtClean="0"/>
              <a:t>14.02.2026</a:t>
            </a:fld>
            <a:endParaRPr lang="en-T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652BC9-6F7F-822F-BCF5-84731BAF12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AED48F-D673-77F0-1F8B-14F9E0E1B9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A85FE2-887C-734F-8929-CFEA69ECE220}" type="slidenum">
              <a:rPr lang="en-TR" smtClean="0"/>
              <a:t>‹#›</a:t>
            </a:fld>
            <a:endParaRPr lang="en-TR"/>
          </a:p>
        </p:txBody>
      </p:sp>
    </p:spTree>
    <p:extLst>
      <p:ext uri="{BB962C8B-B14F-4D97-AF65-F5344CB8AC3E}">
        <p14:creationId xmlns:p14="http://schemas.microsoft.com/office/powerpoint/2010/main" val="367105697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F3F6E3-5AB6-6B45-EFC5-44B165C177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T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480A72-DAC8-1D4E-27B9-C8E791C0F1A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370013"/>
            <a:ext cx="3867150" cy="32623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R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000BBF4-85E3-A3BB-389B-59C39AC7CA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370013"/>
            <a:ext cx="3867150" cy="32623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R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4A70784-71F3-9508-E521-0E0DC3ABD1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5E17F9-3A56-5C4E-ACA3-C47FFA8BE124}" type="datetimeFigureOut">
              <a:rPr lang="en-TR" smtClean="0"/>
              <a:t>14.02.2026</a:t>
            </a:fld>
            <a:endParaRPr lang="en-T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B21EFA-382D-F298-4498-B21B1867DC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0FA19A9-D99B-0054-54B2-184FF4758F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A85FE2-887C-734F-8929-CFEA69ECE220}" type="slidenum">
              <a:rPr lang="en-TR" smtClean="0"/>
              <a:t>‹#›</a:t>
            </a:fld>
            <a:endParaRPr lang="en-TR"/>
          </a:p>
        </p:txBody>
      </p:sp>
    </p:spTree>
    <p:extLst>
      <p:ext uri="{BB962C8B-B14F-4D97-AF65-F5344CB8AC3E}">
        <p14:creationId xmlns:p14="http://schemas.microsoft.com/office/powerpoint/2010/main" val="215172042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330EA4-F54B-5351-C7F3-170E2A2B82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274638"/>
            <a:ext cx="7886700" cy="99377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T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3CD13C-773E-9429-95C9-15FC4E7BFB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260475"/>
            <a:ext cx="3868737" cy="61912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10468C2-45D6-ECFD-8BE2-217D869419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1879600"/>
            <a:ext cx="3868737" cy="27622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R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342DF02-5CF6-0DBA-7815-84088F005C7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260475"/>
            <a:ext cx="3887788" cy="61912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D0ABA83-0521-2B79-0D6C-2E65ABB10F6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1879600"/>
            <a:ext cx="3887788" cy="27622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R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AE6B951-4736-8296-A0D0-9FDAD76B22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5E17F9-3A56-5C4E-ACA3-C47FFA8BE124}" type="datetimeFigureOut">
              <a:rPr lang="en-TR" smtClean="0"/>
              <a:t>14.02.2026</a:t>
            </a:fld>
            <a:endParaRPr lang="en-TR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0E268C4-E5BB-5710-A8DF-1198726168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222B844-2925-19CE-63A8-1E8455BFC8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A85FE2-887C-734F-8929-CFEA69ECE220}" type="slidenum">
              <a:rPr lang="en-TR" smtClean="0"/>
              <a:t>‹#›</a:t>
            </a:fld>
            <a:endParaRPr lang="en-TR"/>
          </a:p>
        </p:txBody>
      </p:sp>
    </p:spTree>
    <p:extLst>
      <p:ext uri="{BB962C8B-B14F-4D97-AF65-F5344CB8AC3E}">
        <p14:creationId xmlns:p14="http://schemas.microsoft.com/office/powerpoint/2010/main" val="353198236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816CC7-BE2C-A44C-D639-CE216F8837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T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9B46256-E075-DD2C-1E74-50232F15D3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5E17F9-3A56-5C4E-ACA3-C47FFA8BE124}" type="datetimeFigureOut">
              <a:rPr lang="en-TR" smtClean="0"/>
              <a:t>14.02.2026</a:t>
            </a:fld>
            <a:endParaRPr lang="en-T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2A1AAA-B068-ED32-110E-322E2D64C4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5926A7D-1C38-CE49-71B2-BD51EDF79C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A85FE2-887C-734F-8929-CFEA69ECE220}" type="slidenum">
              <a:rPr lang="en-TR" smtClean="0"/>
              <a:t>‹#›</a:t>
            </a:fld>
            <a:endParaRPr lang="en-TR"/>
          </a:p>
        </p:txBody>
      </p:sp>
    </p:spTree>
    <p:extLst>
      <p:ext uri="{BB962C8B-B14F-4D97-AF65-F5344CB8AC3E}">
        <p14:creationId xmlns:p14="http://schemas.microsoft.com/office/powerpoint/2010/main" val="18750557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4928A33-F007-F665-4218-5A47CBF4CF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5E17F9-3A56-5C4E-ACA3-C47FFA8BE124}" type="datetimeFigureOut">
              <a:rPr lang="en-TR" smtClean="0"/>
              <a:t>14.02.2026</a:t>
            </a:fld>
            <a:endParaRPr lang="en-T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F023F51-7F1F-0952-6A66-E8B52809BC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7B8977-B203-C077-4219-226B79591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A85FE2-887C-734F-8929-CFEA69ECE220}" type="slidenum">
              <a:rPr lang="en-TR" smtClean="0"/>
              <a:t>‹#›</a:t>
            </a:fld>
            <a:endParaRPr lang="en-TR"/>
          </a:p>
        </p:txBody>
      </p:sp>
    </p:spTree>
    <p:extLst>
      <p:ext uri="{BB962C8B-B14F-4D97-AF65-F5344CB8AC3E}">
        <p14:creationId xmlns:p14="http://schemas.microsoft.com/office/powerpoint/2010/main" val="146288925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9C91B0-C807-3CF8-BCFF-61DA230F06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42900"/>
            <a:ext cx="2949575" cy="120015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T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2589B2-435E-F7AB-34AF-2DC36C7D50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741363"/>
            <a:ext cx="4629150" cy="36544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B21834-5B51-4ECE-D36C-65D73CDD339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1543050"/>
            <a:ext cx="2949575" cy="28590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F38FFD-7730-3A9F-E60A-38B82F4AB3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5E17F9-3A56-5C4E-ACA3-C47FFA8BE124}" type="datetimeFigureOut">
              <a:rPr lang="en-TR" smtClean="0"/>
              <a:t>14.02.2026</a:t>
            </a:fld>
            <a:endParaRPr lang="en-T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6F2264-0433-C54A-B0ED-ADE0D2307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E7B82D1-0B62-6DDF-8DD2-38CF8C0D00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A85FE2-887C-734F-8929-CFEA69ECE220}" type="slidenum">
              <a:rPr lang="en-TR" smtClean="0"/>
              <a:t>‹#›</a:t>
            </a:fld>
            <a:endParaRPr lang="en-TR"/>
          </a:p>
        </p:txBody>
      </p:sp>
    </p:spTree>
    <p:extLst>
      <p:ext uri="{BB962C8B-B14F-4D97-AF65-F5344CB8AC3E}">
        <p14:creationId xmlns:p14="http://schemas.microsoft.com/office/powerpoint/2010/main" val="288444452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37641B-E02C-A291-BC23-CA3FFE7132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42900"/>
            <a:ext cx="2949575" cy="120015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TR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A8BC98D-DB1B-E513-E269-FAC48C5ECD4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741363"/>
            <a:ext cx="4629150" cy="36544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T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7A78E64-BE16-4A85-3FB6-BF0B947E9B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1543050"/>
            <a:ext cx="2949575" cy="28590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E869D4-21E3-39CB-D333-0D8F754136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5E17F9-3A56-5C4E-ACA3-C47FFA8BE124}" type="datetimeFigureOut">
              <a:rPr lang="en-TR" smtClean="0"/>
              <a:t>14.02.2026</a:t>
            </a:fld>
            <a:endParaRPr lang="en-T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05C17FA-04BF-A1A6-47D5-BBCE6DAC42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F85B07-46BA-4636-7840-6513AD176D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A85FE2-887C-734F-8929-CFEA69ECE220}" type="slidenum">
              <a:rPr lang="en-TR" smtClean="0"/>
              <a:t>‹#›</a:t>
            </a:fld>
            <a:endParaRPr lang="en-TR"/>
          </a:p>
        </p:txBody>
      </p:sp>
    </p:spTree>
    <p:extLst>
      <p:ext uri="{BB962C8B-B14F-4D97-AF65-F5344CB8AC3E}">
        <p14:creationId xmlns:p14="http://schemas.microsoft.com/office/powerpoint/2010/main" val="89257667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D235C7-B6FA-DBE4-007B-DC605D4CE5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T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1D84227-7095-D066-A05D-9A97B7134ED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8F7A05-B21D-CFBC-A8D4-2FAC18591E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5E17F9-3A56-5C4E-ACA3-C47FFA8BE124}" type="datetimeFigureOut">
              <a:rPr lang="en-TR" smtClean="0"/>
              <a:t>14.02.2026</a:t>
            </a:fld>
            <a:endParaRPr lang="en-T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C33B79-EF24-B43C-B57A-C53A40AD9F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A39618-4709-51F3-72D6-B1E8ECB2C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A85FE2-887C-734F-8929-CFEA69ECE220}" type="slidenum">
              <a:rPr lang="en-TR" smtClean="0"/>
              <a:t>‹#›</a:t>
            </a:fld>
            <a:endParaRPr lang="en-TR"/>
          </a:p>
        </p:txBody>
      </p:sp>
    </p:spTree>
    <p:extLst>
      <p:ext uri="{BB962C8B-B14F-4D97-AF65-F5344CB8AC3E}">
        <p14:creationId xmlns:p14="http://schemas.microsoft.com/office/powerpoint/2010/main" val="88763720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3F3A01A-A4F6-BE68-7728-2B44382B687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274638"/>
            <a:ext cx="1971675" cy="435768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T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FA06158-73B8-C2FC-E132-814A3E8956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274638"/>
            <a:ext cx="5762625" cy="435768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2CE306-1DA6-E14D-DF5F-C836D1445A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5E17F9-3A56-5C4E-ACA3-C47FFA8BE124}" type="datetimeFigureOut">
              <a:rPr lang="en-TR" smtClean="0"/>
              <a:t>14.02.2026</a:t>
            </a:fld>
            <a:endParaRPr lang="en-T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89F8AC-8C68-5B1C-B55B-7E5DC7BC40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7A85A8-7878-E867-3E14-925A0E5B7A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A85FE2-887C-734F-8929-CFEA69ECE220}" type="slidenum">
              <a:rPr lang="en-TR" smtClean="0"/>
              <a:t>‹#›</a:t>
            </a:fld>
            <a:endParaRPr lang="en-TR"/>
          </a:p>
        </p:txBody>
      </p:sp>
    </p:spTree>
    <p:extLst>
      <p:ext uri="{BB962C8B-B14F-4D97-AF65-F5344CB8AC3E}">
        <p14:creationId xmlns:p14="http://schemas.microsoft.com/office/powerpoint/2010/main" val="271203417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0EE445-EDF4-D9DC-C2A3-481C5C07B4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T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37E6E7C-3B10-0A65-A4E6-3244BDEF7E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5E17F9-3A56-5C4E-ACA3-C47FFA8BE124}" type="datetimeFigureOut">
              <a:rPr lang="en-TR" smtClean="0"/>
              <a:t>14.02.2026</a:t>
            </a:fld>
            <a:endParaRPr lang="en-T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20244F3-C4B5-9B17-203D-37C010E090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1F0FCE5-CCC8-A888-04FA-9EAAE93712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A85FE2-887C-734F-8929-CFEA69ECE220}" type="slidenum">
              <a:rPr lang="en-TR" smtClean="0"/>
              <a:t>‹#›</a:t>
            </a:fld>
            <a:endParaRPr lang="en-TR"/>
          </a:p>
        </p:txBody>
      </p:sp>
    </p:spTree>
    <p:extLst>
      <p:ext uri="{BB962C8B-B14F-4D97-AF65-F5344CB8AC3E}">
        <p14:creationId xmlns:p14="http://schemas.microsoft.com/office/powerpoint/2010/main" val="196480775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/>
          <p:nvPr/>
        </p:nvSpPr>
        <p:spPr>
          <a:xfrm rot="10800000">
            <a:off x="4226100" y="2933550"/>
            <a:ext cx="691800" cy="388500"/>
          </a:xfrm>
          <a:prstGeom prst="triangle">
            <a:avLst>
              <a:gd name="adj" fmla="val 50000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" name="Google Shape;56;p14"/>
          <p:cNvSpPr/>
          <p:nvPr/>
        </p:nvSpPr>
        <p:spPr>
          <a:xfrm>
            <a:off x="-25" y="0"/>
            <a:ext cx="9144000" cy="3124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" name="Google Shape;57;p14"/>
          <p:cNvSpPr txBox="1">
            <a:spLocks noGrp="1"/>
          </p:cNvSpPr>
          <p:nvPr>
            <p:ph type="ctrTitle"/>
          </p:nvPr>
        </p:nvSpPr>
        <p:spPr>
          <a:xfrm>
            <a:off x="411175" y="644300"/>
            <a:ext cx="8282400" cy="2109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58" name="Google Shape;58;p14"/>
          <p:cNvSpPr txBox="1">
            <a:spLocks noGrp="1"/>
          </p:cNvSpPr>
          <p:nvPr>
            <p:ph type="subTitle" idx="1"/>
          </p:nvPr>
        </p:nvSpPr>
        <p:spPr>
          <a:xfrm>
            <a:off x="411175" y="3398250"/>
            <a:ext cx="8282400" cy="1260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endParaRPr/>
          </a:p>
        </p:txBody>
      </p:sp>
      <p:sp>
        <p:nvSpPr>
          <p:cNvPr id="59" name="Google Shape;59;p1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5"/>
          <p:cNvSpPr/>
          <p:nvPr/>
        </p:nvSpPr>
        <p:spPr>
          <a:xfrm>
            <a:off x="0" y="1567350"/>
            <a:ext cx="9144000" cy="2008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" name="Google Shape;62;p15"/>
          <p:cNvSpPr txBox="1">
            <a:spLocks noGrp="1"/>
          </p:cNvSpPr>
          <p:nvPr>
            <p:ph type="title"/>
          </p:nvPr>
        </p:nvSpPr>
        <p:spPr>
          <a:xfrm>
            <a:off x="430800" y="1889700"/>
            <a:ext cx="8282400" cy="1516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63" name="Google Shape;63;p1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5" name="Google Shape;65;p16"/>
          <p:cNvCxnSpPr/>
          <p:nvPr/>
        </p:nvCxnSpPr>
        <p:spPr>
          <a:xfrm>
            <a:off x="429200" y="1275577"/>
            <a:ext cx="6141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lgDash"/>
            <a:round/>
            <a:headEnd type="none" w="sm" len="sm"/>
            <a:tailEnd type="none" w="sm" len="sm"/>
          </a:ln>
        </p:spPr>
      </p:cxnSp>
      <p:sp>
        <p:nvSpPr>
          <p:cNvPr id="66" name="Google Shape;66;p16"/>
          <p:cNvSpPr txBox="1">
            <a:spLocks noGrp="1"/>
          </p:cNvSpPr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6"/>
          <p:cNvSpPr txBox="1">
            <a:spLocks noGrp="1"/>
          </p:cNvSpPr>
          <p:nvPr>
            <p:ph type="body" idx="1"/>
          </p:nvPr>
        </p:nvSpPr>
        <p:spPr>
          <a:xfrm>
            <a:off x="311700" y="1468825"/>
            <a:ext cx="8520600" cy="309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68" name="Google Shape;68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0" name="Google Shape;70;p17"/>
          <p:cNvCxnSpPr/>
          <p:nvPr/>
        </p:nvCxnSpPr>
        <p:spPr>
          <a:xfrm>
            <a:off x="429200" y="1275577"/>
            <a:ext cx="6141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lgDash"/>
            <a:round/>
            <a:headEnd type="none" w="sm" len="sm"/>
            <a:tailEnd type="none" w="sm" len="sm"/>
          </a:ln>
        </p:spPr>
      </p:cxnSp>
      <p:sp>
        <p:nvSpPr>
          <p:cNvPr id="71" name="Google Shape;71;p17"/>
          <p:cNvSpPr txBox="1">
            <a:spLocks noGrp="1"/>
          </p:cNvSpPr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7"/>
          <p:cNvSpPr txBox="1">
            <a:spLocks noGrp="1"/>
          </p:cNvSpPr>
          <p:nvPr>
            <p:ph type="body" idx="1"/>
          </p:nvPr>
        </p:nvSpPr>
        <p:spPr>
          <a:xfrm>
            <a:off x="311700" y="1468825"/>
            <a:ext cx="3999900" cy="309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73" name="Google Shape;73;p17"/>
          <p:cNvSpPr txBox="1">
            <a:spLocks noGrp="1"/>
          </p:cNvSpPr>
          <p:nvPr>
            <p:ph type="body" idx="2"/>
          </p:nvPr>
        </p:nvSpPr>
        <p:spPr>
          <a:xfrm>
            <a:off x="4832400" y="1468825"/>
            <a:ext cx="3999900" cy="309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74" name="Google Shape;74;p1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8"/>
          <p:cNvSpPr txBox="1">
            <a:spLocks noGrp="1"/>
          </p:cNvSpPr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9" name="Google Shape;79;p19"/>
          <p:cNvCxnSpPr/>
          <p:nvPr/>
        </p:nvCxnSpPr>
        <p:spPr>
          <a:xfrm>
            <a:off x="418675" y="1457787"/>
            <a:ext cx="6141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lgDash"/>
            <a:round/>
            <a:headEnd type="none" w="sm" len="sm"/>
            <a:tailEnd type="none" w="sm" len="sm"/>
          </a:ln>
        </p:spPr>
      </p:cxnSp>
      <p:sp>
        <p:nvSpPr>
          <p:cNvPr id="80" name="Google Shape;80;p19"/>
          <p:cNvSpPr txBox="1">
            <a:spLocks noGrp="1"/>
          </p:cNvSpPr>
          <p:nvPr>
            <p:ph type="title"/>
          </p:nvPr>
        </p:nvSpPr>
        <p:spPr>
          <a:xfrm>
            <a:off x="311700" y="6318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81" name="Google Shape;81;p19"/>
          <p:cNvSpPr txBox="1">
            <a:spLocks noGrp="1"/>
          </p:cNvSpPr>
          <p:nvPr>
            <p:ph type="body" idx="1"/>
          </p:nvPr>
        </p:nvSpPr>
        <p:spPr>
          <a:xfrm>
            <a:off x="311700" y="1618204"/>
            <a:ext cx="2808000" cy="295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82" name="Google Shape;82;p1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lt2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20"/>
          <p:cNvSpPr txBox="1">
            <a:spLocks noGrp="1"/>
          </p:cNvSpPr>
          <p:nvPr>
            <p:ph type="title"/>
          </p:nvPr>
        </p:nvSpPr>
        <p:spPr>
          <a:xfrm>
            <a:off x="490250" y="528900"/>
            <a:ext cx="5678100" cy="4085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85" name="Google Shape;85;p2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bg>
      <p:bgPr>
        <a:solidFill>
          <a:schemeClr val="dk1"/>
        </a:solidFill>
        <a:effectLst/>
      </p:bgPr>
    </p:bg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1"/>
          <p:cNvSpPr/>
          <p:nvPr/>
        </p:nvSpPr>
        <p:spPr>
          <a:xfrm>
            <a:off x="4572000" y="175"/>
            <a:ext cx="45720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88" name="Google Shape;88;p21"/>
          <p:cNvCxnSpPr/>
          <p:nvPr/>
        </p:nvCxnSpPr>
        <p:spPr>
          <a:xfrm>
            <a:off x="5029675" y="4495500"/>
            <a:ext cx="5772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lgDash"/>
            <a:round/>
            <a:headEnd type="none" w="sm" len="sm"/>
            <a:tailEnd type="none" w="sm" len="sm"/>
          </a:ln>
        </p:spPr>
      </p:cxnSp>
      <p:sp>
        <p:nvSpPr>
          <p:cNvPr id="89" name="Google Shape;89;p21"/>
          <p:cNvSpPr txBox="1">
            <a:spLocks noGrp="1"/>
          </p:cNvSpPr>
          <p:nvPr>
            <p:ph type="title"/>
          </p:nvPr>
        </p:nvSpPr>
        <p:spPr>
          <a:xfrm>
            <a:off x="265500" y="1078750"/>
            <a:ext cx="4045200" cy="1789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90" name="Google Shape;90;p21"/>
          <p:cNvSpPr txBox="1">
            <a:spLocks noGrp="1"/>
          </p:cNvSpPr>
          <p:nvPr>
            <p:ph type="subTitle" idx="1"/>
          </p:nvPr>
        </p:nvSpPr>
        <p:spPr>
          <a:xfrm>
            <a:off x="265500" y="2921401"/>
            <a:ext cx="4045200" cy="134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91" name="Google Shape;91;p21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92" name="Google Shape;92;p2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2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Oswald"/>
              <a:buNone/>
              <a:defRPr sz="2100">
                <a:latin typeface="Oswald"/>
                <a:ea typeface="Oswald"/>
                <a:cs typeface="Oswald"/>
                <a:sym typeface="Oswald"/>
              </a:defRPr>
            </a:lvl1pPr>
          </a:lstStyle>
          <a:p>
            <a:endParaRPr/>
          </a:p>
        </p:txBody>
      </p:sp>
      <p:sp>
        <p:nvSpPr>
          <p:cNvPr id="95" name="Google Shape;95;p2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7" name="Google Shape;97;p23"/>
          <p:cNvCxnSpPr/>
          <p:nvPr/>
        </p:nvCxnSpPr>
        <p:spPr>
          <a:xfrm>
            <a:off x="413275" y="2988275"/>
            <a:ext cx="91050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lgDash"/>
            <a:round/>
            <a:headEnd type="none" w="sm" len="sm"/>
            <a:tailEnd type="none" w="sm" len="sm"/>
          </a:ln>
        </p:spPr>
      </p:cxnSp>
      <p:sp>
        <p:nvSpPr>
          <p:cNvPr id="98" name="Google Shape;98;p23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99" name="Google Shape;99;p23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00" name="Google Shape;100;p2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4A35DC18-AE16-4550-8721-AFCEEDA76D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  <a:endParaRPr lang="en-US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283D8CD1-A9B5-45D8-8ED2-9005395144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/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373A70F3-BDD8-469C-AC18-B2D00D6F31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E687B8-7ED8-4F50-9757-7385330BA445}" type="datetimeFigureOut">
              <a:rPr lang="en-US" smtClean="0"/>
              <a:t>2/14/26</a:t>
            </a:fld>
            <a:endParaRPr lang="en-US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54000C2E-745C-45AE-987C-3FADA7FFE2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E0B9F4D7-591A-42CE-B27D-6A4E331470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63430-273C-417A-AF21-FB0990D51F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08783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2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27.xml"/><Relationship Id="rId7" Type="http://schemas.openxmlformats.org/officeDocument/2006/relationships/slideLayout" Target="../slideLayouts/slideLayout31.xml"/><Relationship Id="rId12" Type="http://schemas.openxmlformats.org/officeDocument/2006/relationships/slideLayout" Target="../slideLayouts/slideLayout36.xml"/><Relationship Id="rId2" Type="http://schemas.openxmlformats.org/officeDocument/2006/relationships/slideLayout" Target="../slideLayouts/slideLayout26.xml"/><Relationship Id="rId1" Type="http://schemas.openxmlformats.org/officeDocument/2006/relationships/slideLayout" Target="../slideLayouts/slideLayout25.xml"/><Relationship Id="rId6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35.xml"/><Relationship Id="rId5" Type="http://schemas.openxmlformats.org/officeDocument/2006/relationships/slideLayout" Target="../slideLayouts/slideLayout29.xml"/><Relationship Id="rId10" Type="http://schemas.openxmlformats.org/officeDocument/2006/relationships/slideLayout" Target="../slideLayouts/slideLayout34.xml"/><Relationship Id="rId4" Type="http://schemas.openxmlformats.org/officeDocument/2006/relationships/slideLayout" Target="../slideLayouts/slideLayout28.xml"/><Relationship Id="rId9" Type="http://schemas.openxmlformats.org/officeDocument/2006/relationships/slideLayout" Target="../slideLayouts/slideLayout3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88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CCCC6CA-7A19-3AB1-5336-EC2B41C4B2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4638"/>
            <a:ext cx="7886700" cy="9937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T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CDB80C0-BEB0-93B2-24D2-4DE6B6A5C6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370013"/>
            <a:ext cx="7886700" cy="32623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454254-0FF6-2814-28CF-9ABB1B74153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5E17F9-3A56-5C4E-ACA3-C47FFA8BE124}" type="datetimeFigureOut">
              <a:rPr lang="en-TR" smtClean="0"/>
              <a:t>14.02.2026</a:t>
            </a:fld>
            <a:endParaRPr lang="en-T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81F695-AB27-B930-84BB-CFA991CE824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T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619522-9305-6A9D-7C6D-2814B5D6178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A85FE2-887C-734F-8929-CFEA69ECE220}" type="slidenum">
              <a:rPr lang="en-TR" smtClean="0"/>
              <a:t>‹#›</a:t>
            </a:fld>
            <a:endParaRPr lang="en-TR"/>
          </a:p>
        </p:txBody>
      </p:sp>
    </p:spTree>
    <p:extLst>
      <p:ext uri="{BB962C8B-B14F-4D97-AF65-F5344CB8AC3E}">
        <p14:creationId xmlns:p14="http://schemas.microsoft.com/office/powerpoint/2010/main" val="40257343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odern-writer">
    <p:bg>
      <p:bgPr>
        <a:solidFill>
          <a:schemeClr val="lt1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body" idx="1"/>
          </p:nvPr>
        </p:nvSpPr>
        <p:spPr>
          <a:xfrm>
            <a:off x="311700" y="1468825"/>
            <a:ext cx="8520600" cy="309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Source Code Pro"/>
              <a:buChar char="●"/>
              <a:defRPr sz="18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marL="914400" lvl="1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marL="1371600" lvl="2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marL="1828800" lvl="3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●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marL="2286000" lvl="4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marL="2743200" lvl="5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marL="3200400" lvl="6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●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marL="3657600" lvl="7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marL="4114800" lvl="8" indent="-3175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Source Code Pro"/>
              <a:buChar char="■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lvl="1" algn="r" rtl="0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lvl="2" algn="r" rtl="0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lvl="3" algn="r" rtl="0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lvl="4" algn="r" rtl="0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lvl="5" algn="r" rtl="0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lvl="6" algn="r" rtl="0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lvl="7" algn="r" rtl="0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lvl="8" algn="r" rtl="0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85" r:id="rId12"/>
  </p:sldLayoutIdLst>
  <mc:AlternateContent xmlns:mc="http://schemas.openxmlformats.org/markup-compatibility/2006" xmlns:p14="http://schemas.microsoft.com/office/powerpoint/2010/main">
    <mc:Choice Requires="p14">
      <p:transition p14:dur="0">
        <p:push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>
        <p:fade/>
      </p:transition>
    </mc:Fallback>
  </mc:AlternateConten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5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5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5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5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5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5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5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35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35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35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35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35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35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35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35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35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35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35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35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35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35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35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35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35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35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35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35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35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35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35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35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3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3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3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3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3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3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3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3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3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3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3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3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3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3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3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3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3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3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3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3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3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3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3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3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3.xml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35.xml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2.xml"/><Relationship Id="rId1" Type="http://schemas.openxmlformats.org/officeDocument/2006/relationships/slideLayout" Target="../slideLayouts/slideLayout35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3.xml"/><Relationship Id="rId1" Type="http://schemas.openxmlformats.org/officeDocument/2006/relationships/slideLayout" Target="../slideLayouts/slideLayout35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4.xml"/><Relationship Id="rId1" Type="http://schemas.openxmlformats.org/officeDocument/2006/relationships/slideLayout" Target="../slideLayouts/slideLayout35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5.xml"/><Relationship Id="rId1" Type="http://schemas.openxmlformats.org/officeDocument/2006/relationships/slideLayout" Target="../slideLayouts/slideLayout35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6.xml"/><Relationship Id="rId1" Type="http://schemas.openxmlformats.org/officeDocument/2006/relationships/slideLayout" Target="../slideLayouts/slideLayout35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7.xml"/><Relationship Id="rId1" Type="http://schemas.openxmlformats.org/officeDocument/2006/relationships/slideLayout" Target="../slideLayouts/slideLayout35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8.xml"/><Relationship Id="rId1" Type="http://schemas.openxmlformats.org/officeDocument/2006/relationships/slideLayout" Target="../slideLayouts/slideLayout35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6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6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9.xml"/><Relationship Id="rId1" Type="http://schemas.openxmlformats.org/officeDocument/2006/relationships/slideLayout" Target="../slideLayouts/slideLayout1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0.xml"/><Relationship Id="rId1" Type="http://schemas.openxmlformats.org/officeDocument/2006/relationships/slideLayout" Target="../slideLayouts/slideLayout3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1.xml"/><Relationship Id="rId1" Type="http://schemas.openxmlformats.org/officeDocument/2006/relationships/slideLayout" Target="../slideLayouts/slideLayout3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2.xml"/><Relationship Id="rId1" Type="http://schemas.openxmlformats.org/officeDocument/2006/relationships/slideLayout" Target="../slideLayouts/slideLayout3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3.xml"/><Relationship Id="rId1" Type="http://schemas.openxmlformats.org/officeDocument/2006/relationships/slideLayout" Target="../slideLayouts/slideLayout3.xml"/></Relationships>
</file>

<file path=ppt/slides/_rels/slide9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4.xml"/><Relationship Id="rId1" Type="http://schemas.openxmlformats.org/officeDocument/2006/relationships/slideLayout" Target="../slideLayouts/slideLayout3.xml"/></Relationships>
</file>

<file path=ppt/slides/_rels/slide9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5.xml"/><Relationship Id="rId1" Type="http://schemas.openxmlformats.org/officeDocument/2006/relationships/slideLayout" Target="../slideLayouts/slideLayout3.xml"/></Relationships>
</file>

<file path=ppt/slides/_rels/slide9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6.xml"/><Relationship Id="rId1" Type="http://schemas.openxmlformats.org/officeDocument/2006/relationships/slideLayout" Target="../slideLayouts/slideLayout3.xml"/></Relationships>
</file>

<file path=ppt/slides/_rels/slide9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7.xml"/><Relationship Id="rId1" Type="http://schemas.openxmlformats.org/officeDocument/2006/relationships/slideLayout" Target="../slideLayouts/slideLayout3.xml"/></Relationships>
</file>

<file path=ppt/slides/_rels/slide10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8.xml"/><Relationship Id="rId1" Type="http://schemas.openxmlformats.org/officeDocument/2006/relationships/slideLayout" Target="../slideLayouts/slideLayout3.xml"/></Relationships>
</file>

<file path=ppt/slides/_rels/slide10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9.xml"/><Relationship Id="rId1" Type="http://schemas.openxmlformats.org/officeDocument/2006/relationships/slideLayout" Target="../slideLayouts/slideLayout3.xml"/></Relationships>
</file>

<file path=ppt/slides/_rels/slide10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0.xml"/><Relationship Id="rId1" Type="http://schemas.openxmlformats.org/officeDocument/2006/relationships/slideLayout" Target="../slideLayouts/slideLayout3.xml"/></Relationships>
</file>

<file path=ppt/slides/_rels/slide10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1.xml"/><Relationship Id="rId1" Type="http://schemas.openxmlformats.org/officeDocument/2006/relationships/slideLayout" Target="../slideLayouts/slideLayout3.xml"/></Relationships>
</file>

<file path=ppt/slides/_rels/slide10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2.xml"/><Relationship Id="rId1" Type="http://schemas.openxmlformats.org/officeDocument/2006/relationships/slideLayout" Target="../slideLayouts/slideLayout3.xml"/></Relationships>
</file>

<file path=ppt/slides/_rels/slide10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3.xml"/><Relationship Id="rId1" Type="http://schemas.openxmlformats.org/officeDocument/2006/relationships/slideLayout" Target="../slideLayouts/slideLayout3.xml"/></Relationships>
</file>

<file path=ppt/slides/_rels/slide10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4.xml"/><Relationship Id="rId1" Type="http://schemas.openxmlformats.org/officeDocument/2006/relationships/slideLayout" Target="../slideLayouts/slideLayout1.xml"/></Relationships>
</file>

<file path=ppt/slides/_rels/slide10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5.xml"/><Relationship Id="rId1" Type="http://schemas.openxmlformats.org/officeDocument/2006/relationships/slideLayout" Target="../slideLayouts/slideLayout3.xml"/></Relationships>
</file>

<file path=ppt/slides/_rels/slide10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6.xml"/><Relationship Id="rId1" Type="http://schemas.openxmlformats.org/officeDocument/2006/relationships/slideLayout" Target="../slideLayouts/slideLayout3.xml"/></Relationships>
</file>

<file path=ppt/slides/_rels/slide10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7.xml"/><Relationship Id="rId1" Type="http://schemas.openxmlformats.org/officeDocument/2006/relationships/slideLayout" Target="../slideLayouts/slideLayout3.xml"/></Relationships>
</file>

<file path=ppt/slides/_rels/slide1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8.xml"/><Relationship Id="rId1" Type="http://schemas.openxmlformats.org/officeDocument/2006/relationships/slideLayout" Target="../slideLayouts/slideLayout3.xml"/></Relationships>
</file>

<file path=ppt/slides/_rels/slide1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9.xml"/><Relationship Id="rId1" Type="http://schemas.openxmlformats.org/officeDocument/2006/relationships/slideLayout" Target="../slideLayouts/slideLayout3.xml"/></Relationships>
</file>

<file path=ppt/slides/_rels/slide1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0.xml"/><Relationship Id="rId1" Type="http://schemas.openxmlformats.org/officeDocument/2006/relationships/slideLayout" Target="../slideLayouts/slideLayout3.xml"/></Relationships>
</file>

<file path=ppt/slides/_rels/slide1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1.xml"/><Relationship Id="rId1" Type="http://schemas.openxmlformats.org/officeDocument/2006/relationships/slideLayout" Target="../slideLayouts/slideLayout35.xml"/></Relationships>
</file>

<file path=ppt/slides/_rels/slide1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2.xml"/><Relationship Id="rId1" Type="http://schemas.openxmlformats.org/officeDocument/2006/relationships/slideLayout" Target="../slideLayouts/slideLayout3.xml"/></Relationships>
</file>

<file path=ppt/slides/_rels/slide1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12.xml"/></Relationships>
</file>

<file path=ppt/slides/_rels/slide1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12.xml"/></Relationships>
</file>

<file path=ppt/slides/_rels/slide1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12.xml"/></Relationships>
</file>

<file path=ppt/slides/_rels/slide1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12.xml"/></Relationships>
</file>

<file path=ppt/slides/_rels/slide1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2.xml"/></Relationships>
</file>

<file path=ppt/slides/_rels/slide1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2.xml"/></Relationships>
</file>

<file path=ppt/slides/_rels/slide1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12.xml"/></Relationships>
</file>

<file path=ppt/slides/_rels/slide1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12.xml"/></Relationships>
</file>

<file path=ppt/slides/_rels/slide1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12.xml"/></Relationships>
</file>

<file path=ppt/slides/_rels/slide1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5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br>
              <a:rPr lang="en" b="1" dirty="0">
                <a:latin typeface="Montserrat"/>
                <a:ea typeface="Montserrat"/>
                <a:cs typeface="Montserrat"/>
                <a:sym typeface="Montserrat"/>
              </a:rPr>
            </a:br>
            <a:br>
              <a:rPr lang="en" b="1" dirty="0">
                <a:latin typeface="Montserrat"/>
                <a:ea typeface="Montserrat"/>
                <a:cs typeface="Montserrat"/>
                <a:sym typeface="Montserrat"/>
              </a:rPr>
            </a:br>
            <a:br>
              <a:rPr lang="en" b="1" dirty="0">
                <a:latin typeface="Montserrat"/>
                <a:ea typeface="Montserrat"/>
                <a:cs typeface="Montserrat"/>
                <a:sym typeface="Montserrat"/>
              </a:rPr>
            </a:br>
            <a:r>
              <a:rPr lang="en" b="1" dirty="0">
                <a:latin typeface="Montserrat"/>
                <a:ea typeface="Montserrat"/>
                <a:cs typeface="Montserrat"/>
                <a:sym typeface="Montserrat"/>
              </a:rPr>
              <a:t>BGK 601 – Week 2</a:t>
            </a:r>
            <a:br>
              <a:rPr lang="en" b="1" dirty="0">
                <a:latin typeface="Montserrat"/>
                <a:ea typeface="Montserrat"/>
                <a:cs typeface="Montserrat"/>
                <a:sym typeface="Montserrat"/>
              </a:rPr>
            </a:br>
            <a:r>
              <a:rPr lang="en" sz="4400" b="1" dirty="0">
                <a:latin typeface="Montserrat"/>
                <a:ea typeface="Montserrat"/>
                <a:cs typeface="Montserrat"/>
                <a:sym typeface="Montserrat"/>
              </a:rPr>
              <a:t>What is Machine Learning?</a:t>
            </a:r>
            <a:endParaRPr sz="4400" b="1" dirty="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E2136DD-7083-AFD4-4A40-A864F474106B}"/>
              </a:ext>
            </a:extLst>
          </p:cNvPr>
          <p:cNvSpPr txBox="1"/>
          <p:nvPr/>
        </p:nvSpPr>
        <p:spPr>
          <a:xfrm>
            <a:off x="210710" y="4168933"/>
            <a:ext cx="8520600" cy="286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7800" lvl="0">
              <a:lnSpc>
                <a:spcPct val="90000"/>
              </a:lnSpc>
              <a:spcBef>
                <a:spcPts val="1000"/>
              </a:spcBef>
              <a:buClr>
                <a:schemeClr val="dk1"/>
              </a:buClr>
              <a:buSzPts val="2800"/>
            </a:pPr>
            <a:r>
              <a:rPr lang="tr-TR" sz="1400" dirty="0">
                <a:solidFill>
                  <a:srgbClr val="222222"/>
                </a:solidFill>
                <a:sym typeface="Calibri"/>
              </a:rPr>
              <a:t>Reference: </a:t>
            </a:r>
            <a:r>
              <a:rPr lang="tr-TR" sz="1400" dirty="0" err="1">
                <a:solidFill>
                  <a:srgbClr val="222222"/>
                </a:solidFill>
                <a:sym typeface="Calibri"/>
              </a:rPr>
              <a:t>Jose</a:t>
            </a:r>
            <a:r>
              <a:rPr lang="tr-TR" sz="1400" dirty="0">
                <a:solidFill>
                  <a:srgbClr val="222222"/>
                </a:solidFill>
                <a:sym typeface="Calibri"/>
              </a:rPr>
              <a:t> </a:t>
            </a:r>
            <a:r>
              <a:rPr lang="tr-TR" sz="1400" dirty="0" err="1">
                <a:solidFill>
                  <a:srgbClr val="222222"/>
                </a:solidFill>
                <a:sym typeface="Calibri"/>
              </a:rPr>
              <a:t>Portilla</a:t>
            </a:r>
            <a:r>
              <a:rPr lang="tr-TR" sz="1400" dirty="0">
                <a:solidFill>
                  <a:srgbClr val="222222"/>
                </a:solidFill>
                <a:sym typeface="Calibri"/>
              </a:rPr>
              <a:t>, Python </a:t>
            </a:r>
            <a:r>
              <a:rPr lang="tr-TR" sz="1400" dirty="0" err="1">
                <a:solidFill>
                  <a:srgbClr val="222222"/>
                </a:solidFill>
                <a:sym typeface="Calibri"/>
              </a:rPr>
              <a:t>for</a:t>
            </a:r>
            <a:r>
              <a:rPr lang="tr-TR" sz="1400" dirty="0">
                <a:solidFill>
                  <a:srgbClr val="222222"/>
                </a:solidFill>
                <a:sym typeface="Calibri"/>
              </a:rPr>
              <a:t> Data </a:t>
            </a:r>
            <a:r>
              <a:rPr lang="tr-TR" sz="1400" dirty="0" err="1">
                <a:solidFill>
                  <a:srgbClr val="222222"/>
                </a:solidFill>
                <a:sym typeface="Calibri"/>
              </a:rPr>
              <a:t>Science</a:t>
            </a:r>
            <a:r>
              <a:rPr lang="tr-TR" sz="1400" dirty="0">
                <a:solidFill>
                  <a:srgbClr val="222222"/>
                </a:solidFill>
                <a:sym typeface="Calibri"/>
              </a:rPr>
              <a:t> </a:t>
            </a:r>
            <a:r>
              <a:rPr lang="tr-TR" sz="1400" dirty="0" err="1">
                <a:solidFill>
                  <a:srgbClr val="222222"/>
                </a:solidFill>
                <a:sym typeface="Calibri"/>
              </a:rPr>
              <a:t>and</a:t>
            </a:r>
            <a:r>
              <a:rPr lang="tr-TR" sz="1400" dirty="0">
                <a:solidFill>
                  <a:srgbClr val="222222"/>
                </a:solidFill>
                <a:sym typeface="Calibri"/>
              </a:rPr>
              <a:t> Machine Learning </a:t>
            </a:r>
            <a:r>
              <a:rPr lang="tr-TR" sz="1400" dirty="0" err="1">
                <a:solidFill>
                  <a:srgbClr val="222222"/>
                </a:solidFill>
                <a:sym typeface="Calibri"/>
              </a:rPr>
              <a:t>Bootcamp</a:t>
            </a:r>
            <a:r>
              <a:rPr lang="tr-TR" sz="1400" dirty="0">
                <a:solidFill>
                  <a:srgbClr val="222222"/>
                </a:solidFill>
                <a:sym typeface="Calibri"/>
              </a:rPr>
              <a:t>, </a:t>
            </a:r>
            <a:r>
              <a:rPr lang="tr-TR" sz="1400" dirty="0" err="1">
                <a:solidFill>
                  <a:srgbClr val="222222"/>
                </a:solidFill>
                <a:sym typeface="Calibri"/>
              </a:rPr>
              <a:t>Udemy</a:t>
            </a:r>
            <a:r>
              <a:rPr lang="tr-TR" sz="1400" dirty="0">
                <a:solidFill>
                  <a:srgbClr val="222222"/>
                </a:solidFill>
                <a:sym typeface="Calibri"/>
              </a:rPr>
              <a:t> Course.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6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ctr" anchorCtr="0">
            <a:normAutofit/>
          </a:bodyPr>
          <a:lstStyle/>
          <a:p>
            <a:pPr>
              <a:lnSpc>
                <a:spcPct val="90000"/>
              </a:lnSpc>
              <a:buSzPts val="4400"/>
            </a:pPr>
            <a:r>
              <a:rPr lang="tr-TR" dirty="0"/>
              <a:t>Makine Öğrenme Ne Demek?</a:t>
            </a:r>
            <a:endParaRPr dirty="0"/>
          </a:p>
        </p:txBody>
      </p:sp>
      <p:sp>
        <p:nvSpPr>
          <p:cNvPr id="182" name="Google Shape;182;p16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normAutofit fontScale="92500"/>
          </a:bodyPr>
          <a:lstStyle/>
          <a:p>
            <a:pPr marL="171450" indent="-171450">
              <a:buSzPts val="2400"/>
            </a:pPr>
            <a:r>
              <a:rPr lang="tr-TR" sz="1800" dirty="0">
                <a:solidFill>
                  <a:srgbClr val="222222"/>
                </a:solidFill>
                <a:latin typeface="Arial"/>
                <a:cs typeface="Arial"/>
                <a:sym typeface="EB Garamond"/>
              </a:rPr>
              <a:t>Geçmiş verileri ve deneyimleri genelleştirerek gelecekteki sonuçları tahmin etme anlamında "öğrenen" algoritmalar ve süreçler.</a:t>
            </a:r>
          </a:p>
          <a:p>
            <a:pPr marL="0" indent="0">
              <a:buSzPts val="2400"/>
              <a:buNone/>
            </a:pPr>
            <a:endParaRPr lang="tr-TR" sz="1800" dirty="0">
              <a:solidFill>
                <a:srgbClr val="222222"/>
              </a:solidFill>
              <a:latin typeface="Arial"/>
              <a:cs typeface="Arial"/>
              <a:sym typeface="EB Garamond"/>
            </a:endParaRPr>
          </a:p>
          <a:p>
            <a:pPr marL="171450" indent="-171450">
              <a:buSzPts val="2400"/>
            </a:pPr>
            <a:r>
              <a:rPr lang="en-US" sz="1800" dirty="0" err="1">
                <a:solidFill>
                  <a:srgbClr val="FF0000"/>
                </a:solidFill>
                <a:latin typeface="Arial"/>
                <a:cs typeface="Arial"/>
              </a:rPr>
              <a:t>Denetimli</a:t>
            </a:r>
            <a:r>
              <a:rPr lang="en-US" sz="1800" dirty="0">
                <a:solidFill>
                  <a:srgbClr val="FF0000"/>
                </a:solidFill>
                <a:latin typeface="Arial"/>
                <a:cs typeface="Arial"/>
              </a:rPr>
              <a:t> (supervised) </a:t>
            </a:r>
            <a:r>
              <a:rPr lang="en-US" sz="1800" dirty="0" err="1">
                <a:solidFill>
                  <a:srgbClr val="FF0000"/>
                </a:solidFill>
                <a:latin typeface="Arial"/>
                <a:cs typeface="Arial"/>
              </a:rPr>
              <a:t>yöntemler</a:t>
            </a:r>
            <a:r>
              <a:rPr lang="en-US" sz="1800" dirty="0">
                <a:solidFill>
                  <a:srgbClr val="222222"/>
                </a:solidFill>
                <a:latin typeface="Arial"/>
                <a:cs typeface="Arial"/>
              </a:rPr>
              <a:t>, </a:t>
            </a:r>
            <a:r>
              <a:rPr lang="en-US" sz="1800" dirty="0" err="1">
                <a:solidFill>
                  <a:srgbClr val="222222"/>
                </a:solidFill>
                <a:latin typeface="Arial"/>
                <a:cs typeface="Arial"/>
              </a:rPr>
              <a:t>etiketli</a:t>
            </a:r>
            <a:r>
              <a:rPr lang="en-US" sz="1800" dirty="0">
                <a:solidFill>
                  <a:srgbClr val="222222"/>
                </a:solidFill>
                <a:latin typeface="Arial"/>
                <a:cs typeface="Arial"/>
              </a:rPr>
              <a:t> </a:t>
            </a:r>
            <a:r>
              <a:rPr lang="en-US" sz="1800" dirty="0" err="1">
                <a:solidFill>
                  <a:srgbClr val="222222"/>
                </a:solidFill>
                <a:latin typeface="Arial"/>
                <a:cs typeface="Arial"/>
              </a:rPr>
              <a:t>geçmiş</a:t>
            </a:r>
            <a:r>
              <a:rPr lang="en-US" sz="1800" dirty="0">
                <a:solidFill>
                  <a:srgbClr val="222222"/>
                </a:solidFill>
                <a:latin typeface="Arial"/>
                <a:cs typeface="Arial"/>
              </a:rPr>
              <a:t> </a:t>
            </a:r>
            <a:r>
              <a:rPr lang="en-US" sz="1800" dirty="0" err="1">
                <a:solidFill>
                  <a:srgbClr val="222222"/>
                </a:solidFill>
                <a:latin typeface="Arial"/>
                <a:cs typeface="Arial"/>
              </a:rPr>
              <a:t>verilerden</a:t>
            </a:r>
            <a:r>
              <a:rPr lang="en-US" sz="1800" dirty="0">
                <a:solidFill>
                  <a:srgbClr val="222222"/>
                </a:solidFill>
                <a:latin typeface="Arial"/>
                <a:cs typeface="Arial"/>
              </a:rPr>
              <a:t> </a:t>
            </a:r>
            <a:r>
              <a:rPr lang="en-US" sz="1800" dirty="0" err="1">
                <a:solidFill>
                  <a:srgbClr val="222222"/>
                </a:solidFill>
                <a:latin typeface="Arial"/>
                <a:cs typeface="Arial"/>
              </a:rPr>
              <a:t>bir</a:t>
            </a:r>
            <a:r>
              <a:rPr lang="en-US" sz="1800" dirty="0">
                <a:solidFill>
                  <a:srgbClr val="222222"/>
                </a:solidFill>
                <a:latin typeface="Arial"/>
                <a:cs typeface="Arial"/>
              </a:rPr>
              <a:t> model </a:t>
            </a:r>
            <a:r>
              <a:rPr lang="en-US" sz="1800" dirty="0" err="1">
                <a:solidFill>
                  <a:srgbClr val="222222"/>
                </a:solidFill>
                <a:latin typeface="Arial"/>
                <a:cs typeface="Arial"/>
              </a:rPr>
              <a:t>öğrenerek</a:t>
            </a:r>
            <a:r>
              <a:rPr lang="en-US" sz="1800" dirty="0">
                <a:solidFill>
                  <a:srgbClr val="222222"/>
                </a:solidFill>
                <a:latin typeface="Arial"/>
                <a:cs typeface="Arial"/>
              </a:rPr>
              <a:t> yeni </a:t>
            </a:r>
            <a:r>
              <a:rPr lang="en-US" sz="1800" dirty="0" err="1">
                <a:solidFill>
                  <a:srgbClr val="222222"/>
                </a:solidFill>
                <a:latin typeface="Arial"/>
                <a:cs typeface="Arial"/>
              </a:rPr>
              <a:t>veriler</a:t>
            </a:r>
            <a:r>
              <a:rPr lang="en-US" sz="1800" dirty="0">
                <a:solidFill>
                  <a:srgbClr val="222222"/>
                </a:solidFill>
                <a:latin typeface="Arial"/>
                <a:cs typeface="Arial"/>
              </a:rPr>
              <a:t> </a:t>
            </a:r>
            <a:r>
              <a:rPr lang="en-US" sz="1800" dirty="0" err="1">
                <a:solidFill>
                  <a:srgbClr val="222222"/>
                </a:solidFill>
                <a:latin typeface="Arial"/>
                <a:cs typeface="Arial"/>
              </a:rPr>
              <a:t>için</a:t>
            </a:r>
            <a:r>
              <a:rPr lang="en-US" sz="1800" dirty="0">
                <a:solidFill>
                  <a:srgbClr val="222222"/>
                </a:solidFill>
                <a:latin typeface="Arial"/>
                <a:cs typeface="Arial"/>
              </a:rPr>
              <a:t> </a:t>
            </a:r>
            <a:r>
              <a:rPr lang="en-US" sz="1800" dirty="0" err="1">
                <a:solidFill>
                  <a:srgbClr val="222222"/>
                </a:solidFill>
                <a:latin typeface="Arial"/>
                <a:cs typeface="Arial"/>
              </a:rPr>
              <a:t>tahmin</a:t>
            </a:r>
            <a:r>
              <a:rPr lang="en-US" sz="1800" dirty="0">
                <a:solidFill>
                  <a:srgbClr val="222222"/>
                </a:solidFill>
                <a:latin typeface="Arial"/>
                <a:cs typeface="Arial"/>
              </a:rPr>
              <a:t> </a:t>
            </a:r>
            <a:r>
              <a:rPr lang="en-US" sz="1800" dirty="0" err="1">
                <a:solidFill>
                  <a:srgbClr val="222222"/>
                </a:solidFill>
                <a:latin typeface="Arial"/>
                <a:cs typeface="Arial"/>
              </a:rPr>
              <a:t>yapar</a:t>
            </a:r>
            <a:r>
              <a:rPr lang="en-US" sz="1800" dirty="0">
                <a:solidFill>
                  <a:srgbClr val="222222"/>
                </a:solidFill>
                <a:latin typeface="Arial"/>
                <a:cs typeface="Arial"/>
              </a:rPr>
              <a:t>. Bu </a:t>
            </a:r>
            <a:r>
              <a:rPr lang="en-US" sz="1800" dirty="0" err="1">
                <a:solidFill>
                  <a:srgbClr val="222222"/>
                </a:solidFill>
                <a:latin typeface="Arial"/>
                <a:cs typeface="Arial"/>
              </a:rPr>
              <a:t>tahminler</a:t>
            </a:r>
            <a:r>
              <a:rPr lang="en-US" sz="1800" dirty="0">
                <a:solidFill>
                  <a:srgbClr val="222222"/>
                </a:solidFill>
                <a:latin typeface="Arial"/>
                <a:cs typeface="Arial"/>
              </a:rPr>
              <a:t> </a:t>
            </a:r>
            <a:r>
              <a:rPr lang="en-US" sz="1800" dirty="0" err="1">
                <a:solidFill>
                  <a:srgbClr val="222222"/>
                </a:solidFill>
                <a:latin typeface="Arial"/>
                <a:cs typeface="Arial"/>
              </a:rPr>
              <a:t>sınıf</a:t>
            </a:r>
            <a:r>
              <a:rPr lang="en-US" sz="1800" dirty="0">
                <a:solidFill>
                  <a:srgbClr val="222222"/>
                </a:solidFill>
                <a:latin typeface="Arial"/>
                <a:cs typeface="Arial"/>
              </a:rPr>
              <a:t> </a:t>
            </a:r>
            <a:r>
              <a:rPr lang="en-US" sz="1800" dirty="0" err="1">
                <a:solidFill>
                  <a:srgbClr val="222222"/>
                </a:solidFill>
                <a:latin typeface="Arial"/>
                <a:cs typeface="Arial"/>
              </a:rPr>
              <a:t>etiketleri</a:t>
            </a:r>
            <a:r>
              <a:rPr lang="en-US" sz="1800" dirty="0">
                <a:solidFill>
                  <a:srgbClr val="222222"/>
                </a:solidFill>
                <a:latin typeface="Arial"/>
                <a:cs typeface="Arial"/>
              </a:rPr>
              <a:t>, </a:t>
            </a:r>
            <a:r>
              <a:rPr lang="en-US" sz="1800" dirty="0" err="1">
                <a:solidFill>
                  <a:srgbClr val="222222"/>
                </a:solidFill>
                <a:latin typeface="Arial"/>
                <a:cs typeface="Arial"/>
              </a:rPr>
              <a:t>değerler</a:t>
            </a:r>
            <a:r>
              <a:rPr lang="en-US" sz="1800" dirty="0">
                <a:solidFill>
                  <a:srgbClr val="222222"/>
                </a:solidFill>
                <a:latin typeface="Arial"/>
                <a:cs typeface="Arial"/>
              </a:rPr>
              <a:t> </a:t>
            </a:r>
            <a:r>
              <a:rPr lang="en-US" sz="1800" dirty="0" err="1">
                <a:solidFill>
                  <a:srgbClr val="222222"/>
                </a:solidFill>
                <a:latin typeface="Arial"/>
                <a:cs typeface="Arial"/>
              </a:rPr>
              <a:t>veya</a:t>
            </a:r>
            <a:r>
              <a:rPr lang="en-US" sz="1800" dirty="0">
                <a:solidFill>
                  <a:srgbClr val="222222"/>
                </a:solidFill>
                <a:latin typeface="Arial"/>
                <a:cs typeface="Arial"/>
              </a:rPr>
              <a:t> </a:t>
            </a:r>
            <a:r>
              <a:rPr lang="en-US" sz="1800" dirty="0" err="1">
                <a:solidFill>
                  <a:srgbClr val="222222"/>
                </a:solidFill>
                <a:latin typeface="Arial"/>
                <a:cs typeface="Arial"/>
              </a:rPr>
              <a:t>bazı</a:t>
            </a:r>
            <a:r>
              <a:rPr lang="en-US" sz="1800" dirty="0">
                <a:solidFill>
                  <a:srgbClr val="222222"/>
                </a:solidFill>
                <a:latin typeface="Arial"/>
                <a:cs typeface="Arial"/>
              </a:rPr>
              <a:t> </a:t>
            </a:r>
            <a:r>
              <a:rPr lang="en-US" sz="1800" dirty="0" err="1">
                <a:solidFill>
                  <a:srgbClr val="222222"/>
                </a:solidFill>
                <a:latin typeface="Arial"/>
                <a:cs typeface="Arial"/>
              </a:rPr>
              <a:t>yöntemlerde</a:t>
            </a:r>
            <a:r>
              <a:rPr lang="en-US" sz="1800" dirty="0">
                <a:solidFill>
                  <a:srgbClr val="222222"/>
                </a:solidFill>
                <a:latin typeface="Arial"/>
                <a:cs typeface="Arial"/>
              </a:rPr>
              <a:t> </a:t>
            </a:r>
            <a:r>
              <a:rPr lang="en-US" sz="1800" dirty="0" err="1">
                <a:solidFill>
                  <a:srgbClr val="222222"/>
                </a:solidFill>
                <a:latin typeface="Arial"/>
                <a:cs typeface="Arial"/>
              </a:rPr>
              <a:t>olasılık</a:t>
            </a:r>
            <a:r>
              <a:rPr lang="en-US" sz="1800" dirty="0">
                <a:solidFill>
                  <a:srgbClr val="222222"/>
                </a:solidFill>
                <a:latin typeface="Arial"/>
                <a:cs typeface="Arial"/>
              </a:rPr>
              <a:t> </a:t>
            </a:r>
            <a:r>
              <a:rPr lang="en-US" sz="1800" dirty="0" err="1">
                <a:solidFill>
                  <a:srgbClr val="222222"/>
                </a:solidFill>
                <a:latin typeface="Arial"/>
                <a:cs typeface="Arial"/>
              </a:rPr>
              <a:t>dağılımları</a:t>
            </a:r>
            <a:r>
              <a:rPr lang="en-US" sz="1800" dirty="0">
                <a:solidFill>
                  <a:srgbClr val="222222"/>
                </a:solidFill>
                <a:latin typeface="Arial"/>
                <a:cs typeface="Arial"/>
              </a:rPr>
              <a:t> </a:t>
            </a:r>
            <a:r>
              <a:rPr lang="en-US" sz="1800" dirty="0" err="1">
                <a:solidFill>
                  <a:srgbClr val="222222"/>
                </a:solidFill>
                <a:latin typeface="Arial"/>
                <a:cs typeface="Arial"/>
              </a:rPr>
              <a:t>olabilir</a:t>
            </a:r>
            <a:r>
              <a:rPr lang="en-US" sz="1800" dirty="0">
                <a:solidFill>
                  <a:srgbClr val="222222"/>
                </a:solidFill>
                <a:latin typeface="Arial"/>
                <a:cs typeface="Arial"/>
              </a:rPr>
              <a:t>. </a:t>
            </a:r>
            <a:r>
              <a:rPr lang="tr-TR" sz="1800" dirty="0">
                <a:solidFill>
                  <a:srgbClr val="222222"/>
                </a:solidFill>
                <a:latin typeface="Arial"/>
                <a:cs typeface="Arial"/>
                <a:sym typeface="EB Garamond"/>
              </a:rPr>
              <a:t>(bkz. </a:t>
            </a:r>
            <a:r>
              <a:rPr lang="tr-TR" sz="1800" dirty="0" err="1">
                <a:solidFill>
                  <a:schemeClr val="accent1"/>
                </a:solidFill>
                <a:latin typeface="Arial"/>
                <a:cs typeface="Arial"/>
                <a:sym typeface="EB Garamond"/>
              </a:rPr>
              <a:t>Bayes</a:t>
            </a:r>
            <a:r>
              <a:rPr lang="tr-TR" sz="1800" dirty="0">
                <a:solidFill>
                  <a:schemeClr val="accent1"/>
                </a:solidFill>
                <a:latin typeface="Arial"/>
                <a:cs typeface="Arial"/>
                <a:sym typeface="EB Garamond"/>
              </a:rPr>
              <a:t> teoremi).</a:t>
            </a:r>
          </a:p>
          <a:p>
            <a:pPr marL="171450" indent="-171450">
              <a:buSzPts val="2400"/>
            </a:pPr>
            <a:endParaRPr lang="tr-TR" sz="1800" dirty="0">
              <a:solidFill>
                <a:srgbClr val="222222"/>
              </a:solidFill>
              <a:latin typeface="Arial"/>
              <a:cs typeface="Arial"/>
              <a:sym typeface="EB Garamond"/>
            </a:endParaRPr>
          </a:p>
          <a:p>
            <a:pPr marL="171450" indent="-171450">
              <a:buSzPts val="2400"/>
            </a:pPr>
            <a:r>
              <a:rPr lang="en-US" sz="1800" dirty="0" err="1">
                <a:solidFill>
                  <a:srgbClr val="FF0000"/>
                </a:solidFill>
                <a:latin typeface="Arial"/>
                <a:cs typeface="Arial"/>
              </a:rPr>
              <a:t>Denetimsiz</a:t>
            </a:r>
            <a:r>
              <a:rPr lang="en-US" sz="1800" dirty="0">
                <a:solidFill>
                  <a:srgbClr val="FF0000"/>
                </a:solidFill>
                <a:latin typeface="Arial"/>
                <a:cs typeface="Arial"/>
              </a:rPr>
              <a:t> (unsupervised) </a:t>
            </a:r>
            <a:r>
              <a:rPr lang="en-US" sz="1800" dirty="0" err="1">
                <a:solidFill>
                  <a:srgbClr val="FF0000"/>
                </a:solidFill>
                <a:latin typeface="Arial"/>
                <a:cs typeface="Arial"/>
              </a:rPr>
              <a:t>yöntemler</a:t>
            </a:r>
            <a:r>
              <a:rPr lang="en-US" sz="1800" dirty="0">
                <a:solidFill>
                  <a:srgbClr val="222222"/>
                </a:solidFill>
                <a:latin typeface="Arial"/>
                <a:cs typeface="Arial"/>
              </a:rPr>
              <a:t>, </a:t>
            </a:r>
            <a:r>
              <a:rPr lang="en-US" sz="1800" dirty="0" err="1">
                <a:solidFill>
                  <a:srgbClr val="222222"/>
                </a:solidFill>
                <a:latin typeface="Arial"/>
                <a:cs typeface="Arial"/>
              </a:rPr>
              <a:t>etiketlenmemiş</a:t>
            </a:r>
            <a:r>
              <a:rPr lang="en-US" sz="1800" dirty="0">
                <a:solidFill>
                  <a:srgbClr val="222222"/>
                </a:solidFill>
                <a:latin typeface="Arial"/>
                <a:cs typeface="Arial"/>
              </a:rPr>
              <a:t> </a:t>
            </a:r>
            <a:r>
              <a:rPr lang="en-US" sz="1800" dirty="0" err="1">
                <a:solidFill>
                  <a:srgbClr val="222222"/>
                </a:solidFill>
                <a:latin typeface="Arial"/>
                <a:cs typeface="Arial"/>
              </a:rPr>
              <a:t>verilerden</a:t>
            </a:r>
            <a:r>
              <a:rPr lang="en-US" sz="1800" dirty="0">
                <a:solidFill>
                  <a:srgbClr val="222222"/>
                </a:solidFill>
                <a:latin typeface="Arial"/>
                <a:cs typeface="Arial"/>
              </a:rPr>
              <a:t> </a:t>
            </a:r>
            <a:r>
              <a:rPr lang="en-US" sz="1800" dirty="0" err="1">
                <a:solidFill>
                  <a:srgbClr val="222222"/>
                </a:solidFill>
                <a:latin typeface="Arial"/>
                <a:cs typeface="Arial"/>
              </a:rPr>
              <a:t>örüntüleri</a:t>
            </a:r>
            <a:r>
              <a:rPr lang="en-US" sz="1800" dirty="0">
                <a:solidFill>
                  <a:srgbClr val="222222"/>
                </a:solidFill>
                <a:latin typeface="Arial"/>
                <a:cs typeface="Arial"/>
              </a:rPr>
              <a:t>, </a:t>
            </a:r>
            <a:r>
              <a:rPr lang="en-US" sz="1800" dirty="0" err="1">
                <a:solidFill>
                  <a:srgbClr val="222222"/>
                </a:solidFill>
                <a:latin typeface="Arial"/>
                <a:cs typeface="Arial"/>
              </a:rPr>
              <a:t>grupları</a:t>
            </a:r>
            <a:r>
              <a:rPr lang="en-US" sz="1800" dirty="0">
                <a:solidFill>
                  <a:srgbClr val="222222"/>
                </a:solidFill>
                <a:latin typeface="Arial"/>
                <a:cs typeface="Arial"/>
              </a:rPr>
              <a:t> </a:t>
            </a:r>
            <a:r>
              <a:rPr lang="en-US" sz="1800" dirty="0" err="1">
                <a:solidFill>
                  <a:srgbClr val="222222"/>
                </a:solidFill>
                <a:latin typeface="Arial"/>
                <a:cs typeface="Arial"/>
              </a:rPr>
              <a:t>veya</a:t>
            </a:r>
            <a:r>
              <a:rPr lang="en-US" sz="1800" dirty="0">
                <a:solidFill>
                  <a:srgbClr val="222222"/>
                </a:solidFill>
                <a:latin typeface="Arial"/>
                <a:cs typeface="Arial"/>
              </a:rPr>
              <a:t> </a:t>
            </a:r>
            <a:r>
              <a:rPr lang="en-US" sz="1800" dirty="0" err="1">
                <a:solidFill>
                  <a:srgbClr val="222222"/>
                </a:solidFill>
                <a:latin typeface="Arial"/>
                <a:cs typeface="Arial"/>
              </a:rPr>
              <a:t>temsilleri</a:t>
            </a:r>
            <a:r>
              <a:rPr lang="en-US" sz="1800" dirty="0">
                <a:solidFill>
                  <a:srgbClr val="222222"/>
                </a:solidFill>
                <a:latin typeface="Arial"/>
                <a:cs typeface="Arial"/>
              </a:rPr>
              <a:t> </a:t>
            </a:r>
            <a:r>
              <a:rPr lang="en-US" sz="1800" dirty="0" err="1">
                <a:solidFill>
                  <a:srgbClr val="222222"/>
                </a:solidFill>
                <a:latin typeface="Arial"/>
                <a:cs typeface="Arial"/>
              </a:rPr>
              <a:t>ortaya</a:t>
            </a:r>
            <a:r>
              <a:rPr lang="en-US" sz="1800" dirty="0">
                <a:solidFill>
                  <a:srgbClr val="222222"/>
                </a:solidFill>
                <a:latin typeface="Arial"/>
                <a:cs typeface="Arial"/>
              </a:rPr>
              <a:t> </a:t>
            </a:r>
            <a:r>
              <a:rPr lang="en-US" sz="1800" dirty="0" err="1">
                <a:solidFill>
                  <a:srgbClr val="222222"/>
                </a:solidFill>
                <a:latin typeface="Arial"/>
                <a:cs typeface="Arial"/>
              </a:rPr>
              <a:t>çıkarır</a:t>
            </a:r>
            <a:r>
              <a:rPr lang="en-US" sz="1800" dirty="0">
                <a:solidFill>
                  <a:srgbClr val="222222"/>
                </a:solidFill>
                <a:latin typeface="Arial"/>
                <a:cs typeface="Arial"/>
              </a:rPr>
              <a:t>. Bu </a:t>
            </a:r>
            <a:r>
              <a:rPr lang="en-US" sz="1800" dirty="0" err="1">
                <a:solidFill>
                  <a:srgbClr val="222222"/>
                </a:solidFill>
                <a:latin typeface="Arial"/>
                <a:cs typeface="Arial"/>
              </a:rPr>
              <a:t>yöntemler</a:t>
            </a:r>
            <a:r>
              <a:rPr lang="en-US" sz="1800" dirty="0">
                <a:solidFill>
                  <a:srgbClr val="222222"/>
                </a:solidFill>
                <a:latin typeface="Arial"/>
                <a:cs typeface="Arial"/>
              </a:rPr>
              <a:t>, </a:t>
            </a:r>
            <a:r>
              <a:rPr lang="en-US" sz="1800" dirty="0" err="1">
                <a:solidFill>
                  <a:srgbClr val="222222"/>
                </a:solidFill>
                <a:latin typeface="Arial"/>
                <a:cs typeface="Arial"/>
              </a:rPr>
              <a:t>veriyi</a:t>
            </a:r>
            <a:r>
              <a:rPr lang="en-US" sz="1800" dirty="0">
                <a:solidFill>
                  <a:srgbClr val="222222"/>
                </a:solidFill>
                <a:latin typeface="Arial"/>
                <a:cs typeface="Arial"/>
              </a:rPr>
              <a:t> </a:t>
            </a:r>
            <a:r>
              <a:rPr lang="en-US" sz="1800" dirty="0" err="1">
                <a:solidFill>
                  <a:srgbClr val="222222"/>
                </a:solidFill>
                <a:latin typeface="Arial"/>
                <a:cs typeface="Arial"/>
              </a:rPr>
              <a:t>anlamlandırmak</a:t>
            </a:r>
            <a:r>
              <a:rPr lang="en-US" sz="1800" dirty="0">
                <a:solidFill>
                  <a:srgbClr val="222222"/>
                </a:solidFill>
                <a:latin typeface="Arial"/>
                <a:cs typeface="Arial"/>
              </a:rPr>
              <a:t> </a:t>
            </a:r>
            <a:r>
              <a:rPr lang="en-US" sz="1800" dirty="0" err="1">
                <a:solidFill>
                  <a:srgbClr val="222222"/>
                </a:solidFill>
                <a:latin typeface="Arial"/>
                <a:cs typeface="Arial"/>
              </a:rPr>
              <a:t>ve</a:t>
            </a:r>
            <a:r>
              <a:rPr lang="en-US" sz="1800" dirty="0">
                <a:solidFill>
                  <a:srgbClr val="222222"/>
                </a:solidFill>
                <a:latin typeface="Arial"/>
                <a:cs typeface="Arial"/>
              </a:rPr>
              <a:t> </a:t>
            </a:r>
            <a:r>
              <a:rPr lang="en-US" sz="1800" dirty="0" err="1">
                <a:solidFill>
                  <a:srgbClr val="222222"/>
                </a:solidFill>
                <a:latin typeface="Arial"/>
                <a:cs typeface="Arial"/>
              </a:rPr>
              <a:t>bazen</a:t>
            </a:r>
            <a:r>
              <a:rPr lang="en-US" sz="1800" dirty="0">
                <a:solidFill>
                  <a:srgbClr val="222222"/>
                </a:solidFill>
                <a:latin typeface="Arial"/>
                <a:cs typeface="Arial"/>
              </a:rPr>
              <a:t> yeni </a:t>
            </a:r>
            <a:r>
              <a:rPr lang="en-US" sz="1800" dirty="0" err="1">
                <a:solidFill>
                  <a:srgbClr val="222222"/>
                </a:solidFill>
                <a:latin typeface="Arial"/>
                <a:cs typeface="Arial"/>
              </a:rPr>
              <a:t>veriler</a:t>
            </a:r>
            <a:r>
              <a:rPr lang="en-US" sz="1800" dirty="0">
                <a:solidFill>
                  <a:srgbClr val="222222"/>
                </a:solidFill>
                <a:latin typeface="Arial"/>
                <a:cs typeface="Arial"/>
              </a:rPr>
              <a:t> </a:t>
            </a:r>
            <a:r>
              <a:rPr lang="en-US" sz="1800" dirty="0" err="1">
                <a:solidFill>
                  <a:srgbClr val="222222"/>
                </a:solidFill>
                <a:latin typeface="Arial"/>
                <a:cs typeface="Arial"/>
              </a:rPr>
              <a:t>üzerinde</a:t>
            </a:r>
            <a:r>
              <a:rPr lang="en-US" sz="1800" dirty="0">
                <a:solidFill>
                  <a:srgbClr val="222222"/>
                </a:solidFill>
                <a:latin typeface="Arial"/>
                <a:cs typeface="Arial"/>
              </a:rPr>
              <a:t> </a:t>
            </a:r>
            <a:r>
              <a:rPr lang="en-US" sz="1800" dirty="0" err="1">
                <a:solidFill>
                  <a:srgbClr val="222222"/>
                </a:solidFill>
                <a:latin typeface="Arial"/>
                <a:cs typeface="Arial"/>
              </a:rPr>
              <a:t>benzer</a:t>
            </a:r>
            <a:r>
              <a:rPr lang="en-US" sz="1800" dirty="0">
                <a:solidFill>
                  <a:srgbClr val="222222"/>
                </a:solidFill>
                <a:latin typeface="Arial"/>
                <a:cs typeface="Arial"/>
              </a:rPr>
              <a:t> </a:t>
            </a:r>
            <a:r>
              <a:rPr lang="en-US" sz="1800" dirty="0" err="1">
                <a:solidFill>
                  <a:srgbClr val="222222"/>
                </a:solidFill>
                <a:latin typeface="Arial"/>
                <a:cs typeface="Arial"/>
              </a:rPr>
              <a:t>yapıların</a:t>
            </a:r>
            <a:r>
              <a:rPr lang="en-US" sz="1800" dirty="0">
                <a:solidFill>
                  <a:srgbClr val="222222"/>
                </a:solidFill>
                <a:latin typeface="Arial"/>
                <a:cs typeface="Arial"/>
              </a:rPr>
              <a:t> </a:t>
            </a:r>
            <a:r>
              <a:rPr lang="en-US" sz="1800" dirty="0" err="1">
                <a:solidFill>
                  <a:srgbClr val="222222"/>
                </a:solidFill>
                <a:latin typeface="Arial"/>
                <a:cs typeface="Arial"/>
              </a:rPr>
              <a:t>keşfi</a:t>
            </a:r>
            <a:r>
              <a:rPr lang="en-US" sz="1800" dirty="0">
                <a:solidFill>
                  <a:srgbClr val="222222"/>
                </a:solidFill>
                <a:latin typeface="Arial"/>
                <a:cs typeface="Arial"/>
              </a:rPr>
              <a:t> </a:t>
            </a:r>
            <a:r>
              <a:rPr lang="en-US" sz="1800" dirty="0" err="1">
                <a:solidFill>
                  <a:srgbClr val="222222"/>
                </a:solidFill>
                <a:latin typeface="Arial"/>
                <a:cs typeface="Arial"/>
              </a:rPr>
              <a:t>için</a:t>
            </a:r>
            <a:r>
              <a:rPr lang="en-US" sz="1800" dirty="0">
                <a:solidFill>
                  <a:srgbClr val="222222"/>
                </a:solidFill>
                <a:latin typeface="Arial"/>
                <a:cs typeface="Arial"/>
              </a:rPr>
              <a:t> </a:t>
            </a:r>
            <a:r>
              <a:rPr lang="en-US" sz="1800" dirty="0" err="1">
                <a:solidFill>
                  <a:srgbClr val="222222"/>
                </a:solidFill>
                <a:latin typeface="Arial"/>
                <a:cs typeface="Arial"/>
              </a:rPr>
              <a:t>kullanılabilir</a:t>
            </a:r>
            <a:r>
              <a:rPr lang="en-US" sz="1800" dirty="0"/>
              <a:t>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7"/>
          <p:cNvSpPr txBox="1">
            <a:spLocks noGrp="1"/>
          </p:cNvSpPr>
          <p:nvPr>
            <p:ph type="title"/>
          </p:nvPr>
        </p:nvSpPr>
        <p:spPr>
          <a:xfrm>
            <a:off x="628649" y="273844"/>
            <a:ext cx="8340421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ctr" anchorCtr="0">
            <a:normAutofit/>
          </a:bodyPr>
          <a:lstStyle/>
          <a:p>
            <a:pPr lvl="0">
              <a:buSzPts val="4400"/>
            </a:pPr>
            <a:r>
              <a:rPr lang="tr-TR" dirty="0"/>
              <a:t>Yapay Zeka / Makine Öğrenme / Derin Öğrenme</a:t>
            </a:r>
            <a:endParaRPr dirty="0"/>
          </a:p>
        </p:txBody>
      </p:sp>
      <p:pic>
        <p:nvPicPr>
          <p:cNvPr id="188" name="Google Shape;188;p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640263" y="1358554"/>
            <a:ext cx="3477296" cy="351110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8"/>
          <p:cNvSpPr txBox="1">
            <a:spLocks noGrp="1"/>
          </p:cNvSpPr>
          <p:nvPr>
            <p:ph type="title"/>
          </p:nvPr>
        </p:nvSpPr>
        <p:spPr>
          <a:xfrm>
            <a:off x="435562" y="210353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ctr" anchorCtr="0">
            <a:normAutofit/>
          </a:bodyPr>
          <a:lstStyle/>
          <a:p>
            <a:pPr lvl="0">
              <a:buSzPts val="4400"/>
            </a:pPr>
            <a:r>
              <a:rPr lang="tr-TR" dirty="0"/>
              <a:t>Makine Öğrenmesi ve Veri Bilimi</a:t>
            </a:r>
            <a:endParaRPr dirty="0"/>
          </a:p>
        </p:txBody>
      </p:sp>
      <p:sp>
        <p:nvSpPr>
          <p:cNvPr id="194" name="Google Shape;194;p18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 w="9525" cap="flat" cmpd="sng">
            <a:solidFill>
              <a:schemeClr val="dk1">
                <a:alpha val="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69" tIns="34275" rIns="68569" bIns="34275" anchor="t" anchorCtr="0">
            <a:normAutofit/>
          </a:bodyPr>
          <a:lstStyle/>
          <a:p>
            <a:pPr marL="171450" indent="-171450">
              <a:buClr>
                <a:srgbClr val="333333"/>
              </a:buClr>
              <a:buSzPts val="2400"/>
            </a:pPr>
            <a:r>
              <a:rPr lang="tr-TR" sz="1800" dirty="0">
                <a:solidFill>
                  <a:srgbClr val="222222"/>
                </a:solidFill>
                <a:latin typeface="Arial"/>
                <a:cs typeface="Arial"/>
                <a:sym typeface="EB Garamond"/>
              </a:rPr>
              <a:t>Veri Bilimi, keşif, tahmin ve çıkarım yoluyla büyük ve çeşitli veri kümelerinden faydalı sonuçlar çıkarmakla ilgilidir</a:t>
            </a:r>
          </a:p>
          <a:p>
            <a:pPr marL="514350" lvl="1" indent="-171450">
              <a:spcBef>
                <a:spcPts val="0"/>
              </a:spcBef>
              <a:buClr>
                <a:srgbClr val="333333"/>
              </a:buClr>
              <a:buSzPts val="2400"/>
            </a:pPr>
            <a:r>
              <a:rPr lang="tr-TR" dirty="0">
                <a:solidFill>
                  <a:srgbClr val="FF0000"/>
                </a:solidFill>
                <a:latin typeface="Arial"/>
                <a:cs typeface="Arial"/>
                <a:sym typeface="EB Garamond"/>
              </a:rPr>
              <a:t>Keşif (Exploration)</a:t>
            </a:r>
            <a:r>
              <a:rPr lang="tr-TR" dirty="0">
                <a:solidFill>
                  <a:srgbClr val="222222"/>
                </a:solidFill>
                <a:latin typeface="Arial"/>
                <a:cs typeface="Arial"/>
                <a:sym typeface="EB Garamond"/>
              </a:rPr>
              <a:t>, bilgilerdeki kalıpları belirlemeyi içerir.</a:t>
            </a:r>
          </a:p>
          <a:p>
            <a:pPr marL="514350" lvl="1" indent="-171450">
              <a:spcBef>
                <a:spcPts val="0"/>
              </a:spcBef>
              <a:buClr>
                <a:srgbClr val="333333"/>
              </a:buClr>
              <a:buSzPts val="2400"/>
            </a:pPr>
            <a:r>
              <a:rPr lang="tr-TR" dirty="0">
                <a:solidFill>
                  <a:srgbClr val="FF0000"/>
                </a:solidFill>
                <a:latin typeface="Arial"/>
                <a:cs typeface="Arial"/>
                <a:sym typeface="EB Garamond"/>
              </a:rPr>
              <a:t>Tahmin (</a:t>
            </a:r>
            <a:r>
              <a:rPr lang="tr-TR" dirty="0" err="1">
                <a:solidFill>
                  <a:srgbClr val="FF0000"/>
                </a:solidFill>
                <a:latin typeface="Arial"/>
                <a:cs typeface="Arial"/>
                <a:sym typeface="EB Garamond"/>
              </a:rPr>
              <a:t>Prediction</a:t>
            </a:r>
            <a:r>
              <a:rPr lang="tr-TR" dirty="0">
                <a:solidFill>
                  <a:srgbClr val="FF0000"/>
                </a:solidFill>
                <a:latin typeface="Arial"/>
                <a:cs typeface="Arial"/>
                <a:sym typeface="EB Garamond"/>
              </a:rPr>
              <a:t>)</a:t>
            </a:r>
            <a:r>
              <a:rPr lang="tr-TR" dirty="0">
                <a:solidFill>
                  <a:srgbClr val="222222"/>
                </a:solidFill>
                <a:latin typeface="Arial"/>
                <a:cs typeface="Arial"/>
                <a:sym typeface="EB Garamond"/>
              </a:rPr>
              <a:t>, bildiğimiz bilgileri kullanarak bilmeyi dilediğimiz değerler hakkında bilinçli tahminlerde bulunmayı içerir.</a:t>
            </a:r>
          </a:p>
          <a:p>
            <a:pPr marL="514350" lvl="1" indent="-171450">
              <a:spcBef>
                <a:spcPts val="0"/>
              </a:spcBef>
              <a:buClr>
                <a:srgbClr val="333333"/>
              </a:buClr>
              <a:buSzPts val="2400"/>
            </a:pPr>
            <a:r>
              <a:rPr lang="tr-TR" dirty="0">
                <a:solidFill>
                  <a:srgbClr val="FF0000"/>
                </a:solidFill>
                <a:latin typeface="Arial"/>
                <a:cs typeface="Arial"/>
                <a:sym typeface="EB Garamond"/>
              </a:rPr>
              <a:t>Çıkarım (</a:t>
            </a:r>
            <a:r>
              <a:rPr lang="tr-TR" dirty="0" err="1">
                <a:solidFill>
                  <a:srgbClr val="FF0000"/>
                </a:solidFill>
                <a:latin typeface="Arial"/>
                <a:cs typeface="Arial"/>
                <a:sym typeface="EB Garamond"/>
              </a:rPr>
              <a:t>Inference</a:t>
            </a:r>
            <a:r>
              <a:rPr lang="tr-TR" dirty="0">
                <a:solidFill>
                  <a:srgbClr val="FF0000"/>
                </a:solidFill>
                <a:latin typeface="Arial"/>
                <a:cs typeface="Arial"/>
                <a:sym typeface="EB Garamond"/>
              </a:rPr>
              <a:t>),</a:t>
            </a:r>
            <a:r>
              <a:rPr lang="tr-TR" dirty="0">
                <a:solidFill>
                  <a:srgbClr val="222222"/>
                </a:solidFill>
                <a:latin typeface="Arial"/>
                <a:cs typeface="Arial"/>
                <a:sym typeface="EB Garamond"/>
              </a:rPr>
              <a:t> kesinlik derecemizi ölçmeyi içerir. </a:t>
            </a:r>
            <a:r>
              <a:rPr lang="en-US" dirty="0" err="1">
                <a:solidFill>
                  <a:srgbClr val="222222"/>
                </a:solidFill>
                <a:latin typeface="Arial"/>
                <a:cs typeface="Arial"/>
                <a:sym typeface="EB Garamond"/>
              </a:rPr>
              <a:t>V</a:t>
            </a:r>
            <a:r>
              <a:rPr lang="en-US" dirty="0" err="1">
                <a:solidFill>
                  <a:srgbClr val="222222"/>
                </a:solidFill>
                <a:latin typeface="Arial"/>
                <a:cs typeface="Arial"/>
              </a:rPr>
              <a:t>eriden</a:t>
            </a:r>
            <a:r>
              <a:rPr lang="en-US" dirty="0">
                <a:solidFill>
                  <a:srgbClr val="222222"/>
                </a:solidFill>
                <a:latin typeface="Arial"/>
                <a:cs typeface="Arial"/>
              </a:rPr>
              <a:t> </a:t>
            </a:r>
            <a:r>
              <a:rPr lang="en-US" dirty="0" err="1">
                <a:solidFill>
                  <a:srgbClr val="222222"/>
                </a:solidFill>
                <a:latin typeface="Arial"/>
                <a:cs typeface="Arial"/>
              </a:rPr>
              <a:t>bulduğumuz</a:t>
            </a:r>
            <a:r>
              <a:rPr lang="en-US" dirty="0">
                <a:solidFill>
                  <a:srgbClr val="222222"/>
                </a:solidFill>
                <a:latin typeface="Arial"/>
                <a:cs typeface="Arial"/>
              </a:rPr>
              <a:t> </a:t>
            </a:r>
            <a:r>
              <a:rPr lang="en-US" dirty="0" err="1">
                <a:solidFill>
                  <a:srgbClr val="222222"/>
                </a:solidFill>
                <a:latin typeface="Arial"/>
                <a:cs typeface="Arial"/>
              </a:rPr>
              <a:t>ilişkilerin</a:t>
            </a:r>
            <a:r>
              <a:rPr lang="en-US" dirty="0">
                <a:solidFill>
                  <a:srgbClr val="222222"/>
                </a:solidFill>
                <a:latin typeface="Arial"/>
                <a:cs typeface="Arial"/>
              </a:rPr>
              <a:t> </a:t>
            </a:r>
            <a:r>
              <a:rPr lang="en-US" dirty="0" err="1">
                <a:solidFill>
                  <a:srgbClr val="222222"/>
                </a:solidFill>
                <a:latin typeface="Arial"/>
                <a:cs typeface="Arial"/>
              </a:rPr>
              <a:t>genellenebilirliğini</a:t>
            </a:r>
            <a:r>
              <a:rPr lang="en-US" dirty="0">
                <a:solidFill>
                  <a:srgbClr val="222222"/>
                </a:solidFill>
                <a:latin typeface="Arial"/>
                <a:cs typeface="Arial"/>
              </a:rPr>
              <a:t> </a:t>
            </a:r>
            <a:r>
              <a:rPr lang="en-US" dirty="0" err="1">
                <a:solidFill>
                  <a:srgbClr val="222222"/>
                </a:solidFill>
                <a:latin typeface="Arial"/>
                <a:cs typeface="Arial"/>
              </a:rPr>
              <a:t>ve</a:t>
            </a:r>
            <a:r>
              <a:rPr lang="en-US" dirty="0">
                <a:solidFill>
                  <a:srgbClr val="222222"/>
                </a:solidFill>
                <a:latin typeface="Arial"/>
                <a:cs typeface="Arial"/>
              </a:rPr>
              <a:t> </a:t>
            </a:r>
            <a:r>
              <a:rPr lang="en-US" dirty="0" err="1">
                <a:solidFill>
                  <a:srgbClr val="222222"/>
                </a:solidFill>
                <a:latin typeface="Arial"/>
                <a:cs typeface="Arial"/>
              </a:rPr>
              <a:t>güvenilirliği</a:t>
            </a:r>
            <a:r>
              <a:rPr lang="en-US" dirty="0">
                <a:solidFill>
                  <a:srgbClr val="222222"/>
                </a:solidFill>
                <a:latin typeface="Arial"/>
                <a:cs typeface="Arial"/>
              </a:rPr>
              <a:t> </a:t>
            </a:r>
            <a:r>
              <a:rPr lang="en-US" dirty="0" err="1">
                <a:solidFill>
                  <a:srgbClr val="222222"/>
                </a:solidFill>
                <a:latin typeface="Arial"/>
                <a:cs typeface="Arial"/>
              </a:rPr>
              <a:t>nedir</a:t>
            </a:r>
            <a:r>
              <a:rPr lang="en-US" dirty="0">
                <a:solidFill>
                  <a:srgbClr val="222222"/>
                </a:solidFill>
                <a:latin typeface="Arial"/>
                <a:cs typeface="Arial"/>
              </a:rPr>
              <a:t>?</a:t>
            </a:r>
            <a:endParaRPr lang="tr-TR" dirty="0">
              <a:solidFill>
                <a:srgbClr val="222222"/>
              </a:solidFill>
              <a:latin typeface="Arial"/>
              <a:cs typeface="Arial"/>
              <a:sym typeface="EB Garamond"/>
            </a:endParaRPr>
          </a:p>
          <a:p>
            <a:pPr marL="514350" lvl="1" indent="-171450">
              <a:spcBef>
                <a:spcPts val="0"/>
              </a:spcBef>
              <a:buClr>
                <a:srgbClr val="333333"/>
              </a:buClr>
              <a:buSzPts val="2400"/>
            </a:pPr>
            <a:endParaRPr lang="tr-TR" dirty="0">
              <a:solidFill>
                <a:srgbClr val="222222"/>
              </a:solidFill>
              <a:latin typeface="Arial"/>
              <a:cs typeface="Arial"/>
              <a:sym typeface="EB Garamond"/>
            </a:endParaRPr>
          </a:p>
          <a:p>
            <a:pPr marL="171450" indent="-171450">
              <a:buClr>
                <a:srgbClr val="333333"/>
              </a:buClr>
              <a:buSzPts val="2400"/>
            </a:pPr>
            <a:r>
              <a:rPr lang="tr-TR" sz="1800" dirty="0">
                <a:solidFill>
                  <a:srgbClr val="222222"/>
                </a:solidFill>
                <a:latin typeface="Arial"/>
                <a:cs typeface="Arial"/>
                <a:sym typeface="EB Garamond"/>
              </a:rPr>
              <a:t>Keşif için kullandığımız temel araçlar </a:t>
            </a:r>
            <a:r>
              <a:rPr lang="tr-TR" sz="1800" dirty="0">
                <a:solidFill>
                  <a:srgbClr val="FF0000"/>
                </a:solidFill>
                <a:latin typeface="Arial"/>
                <a:cs typeface="Arial"/>
                <a:sym typeface="EB Garamond"/>
              </a:rPr>
              <a:t>görselleştirmeler ve tanımlayıcı (</a:t>
            </a:r>
            <a:r>
              <a:rPr lang="tr-TR" sz="1800" dirty="0" err="1">
                <a:solidFill>
                  <a:srgbClr val="FF0000"/>
                </a:solidFill>
                <a:latin typeface="Arial"/>
                <a:cs typeface="Arial"/>
                <a:sym typeface="EB Garamond"/>
              </a:rPr>
              <a:t>descriptive</a:t>
            </a:r>
            <a:r>
              <a:rPr lang="tr-TR" sz="1800" dirty="0">
                <a:solidFill>
                  <a:srgbClr val="FF0000"/>
                </a:solidFill>
                <a:latin typeface="Arial"/>
                <a:cs typeface="Arial"/>
                <a:sym typeface="EB Garamond"/>
              </a:rPr>
              <a:t>) istatistikler</a:t>
            </a:r>
            <a:r>
              <a:rPr lang="tr-TR" sz="1800" dirty="0">
                <a:solidFill>
                  <a:srgbClr val="222222"/>
                </a:solidFill>
                <a:latin typeface="Arial"/>
                <a:cs typeface="Arial"/>
                <a:sym typeface="EB Garamond"/>
              </a:rPr>
              <a:t>, tahmin için </a:t>
            </a:r>
            <a:r>
              <a:rPr lang="tr-TR" sz="1800" dirty="0">
                <a:solidFill>
                  <a:srgbClr val="FF0000"/>
                </a:solidFill>
                <a:latin typeface="Arial"/>
                <a:cs typeface="Arial"/>
                <a:sym typeface="EB Garamond"/>
              </a:rPr>
              <a:t>makine öğrenme ve optimizasyon</a:t>
            </a:r>
            <a:r>
              <a:rPr lang="tr-TR" sz="1800" dirty="0">
                <a:solidFill>
                  <a:srgbClr val="222222"/>
                </a:solidFill>
                <a:latin typeface="Arial"/>
                <a:cs typeface="Arial"/>
                <a:sym typeface="EB Garamond"/>
              </a:rPr>
              <a:t>, çıkarım için ise </a:t>
            </a:r>
            <a:r>
              <a:rPr lang="tr-TR" sz="1800" dirty="0">
                <a:solidFill>
                  <a:srgbClr val="FF0000"/>
                </a:solidFill>
                <a:latin typeface="Arial"/>
                <a:cs typeface="Arial"/>
                <a:sym typeface="EB Garamond"/>
              </a:rPr>
              <a:t>istatistiksel testler ve modeller</a:t>
            </a:r>
            <a:r>
              <a:rPr lang="tr-TR" sz="1800" dirty="0">
                <a:solidFill>
                  <a:srgbClr val="222222"/>
                </a:solidFill>
                <a:latin typeface="Arial"/>
                <a:cs typeface="Arial"/>
                <a:sym typeface="EB Garamond"/>
              </a:rPr>
              <a:t>dir.</a:t>
            </a:r>
            <a:endParaRPr sz="1800" dirty="0">
              <a:solidFill>
                <a:srgbClr val="222222"/>
              </a:solidFill>
              <a:latin typeface="Arial"/>
              <a:cs typeface="Arial"/>
              <a:sym typeface="EB Garamond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6"/>
          <p:cNvSpPr txBox="1">
            <a:spLocks noGrp="1"/>
          </p:cNvSpPr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Machine Learning 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6" name="Google Shape;116;p2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412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 dirty="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Before we jump into Neural Networks, </a:t>
            </a:r>
            <a:r>
              <a:rPr lang="en" sz="2900" dirty="0" err="1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Tensorflow</a:t>
            </a:r>
            <a:r>
              <a:rPr lang="en" sz="2900" dirty="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, </a:t>
            </a:r>
            <a:r>
              <a:rPr lang="en" sz="2900" dirty="0" err="1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Keras</a:t>
            </a:r>
            <a:r>
              <a:rPr lang="en" sz="2900" dirty="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API </a:t>
            </a:r>
            <a:r>
              <a:rPr lang="en" sz="2900" dirty="0" err="1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etc</a:t>
            </a:r>
            <a:r>
              <a:rPr lang="en" sz="2900" dirty="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… its a good idea to understand a few fundamental ideas regarding machine learning.</a:t>
            </a:r>
            <a:endParaRPr sz="2900" dirty="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412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 dirty="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In this lecture we’ll cover some important theory and concepts surrounding machine learning.</a:t>
            </a:r>
            <a:endParaRPr sz="2900" dirty="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7"/>
          <p:cNvSpPr txBox="1">
            <a:spLocks noGrp="1"/>
          </p:cNvSpPr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Machine Learning 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4" name="Google Shape;124;p2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412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 dirty="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Lecture Overview:</a:t>
            </a:r>
            <a:endParaRPr sz="2900" dirty="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371600" marR="0" lvl="1" indent="-412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 dirty="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What is Machine Learning?</a:t>
            </a:r>
            <a:endParaRPr sz="2900" dirty="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371600" marR="0" lvl="1" indent="-412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 dirty="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What is Deep Learning?</a:t>
            </a:r>
            <a:endParaRPr sz="2900" dirty="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371600" marR="0" lvl="1" indent="-412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 dirty="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Difference between Supervised and Unsupervised Learning</a:t>
            </a:r>
            <a:endParaRPr sz="2900" dirty="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371600" marR="0" lvl="1" indent="-412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 dirty="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Supervised Learning Process</a:t>
            </a:r>
            <a:endParaRPr sz="2900" dirty="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371600" marR="0" lvl="1" indent="-412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 dirty="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Evaluating performance</a:t>
            </a:r>
            <a:endParaRPr sz="2900" dirty="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371600" marR="0" lvl="1" indent="-412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 dirty="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Overfitting</a:t>
            </a:r>
            <a:endParaRPr sz="2900" dirty="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8"/>
          <p:cNvSpPr txBox="1"/>
          <p:nvPr/>
        </p:nvSpPr>
        <p:spPr>
          <a:xfrm>
            <a:off x="1042425" y="211038"/>
            <a:ext cx="7061700" cy="74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000"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4" name="Google Shape;134;p28"/>
          <p:cNvSpPr txBox="1"/>
          <p:nvPr/>
        </p:nvSpPr>
        <p:spPr>
          <a:xfrm>
            <a:off x="1109150" y="27825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2A3990"/>
                </a:solidFill>
                <a:latin typeface="Montserrat"/>
                <a:ea typeface="Montserrat"/>
                <a:cs typeface="Montserrat"/>
                <a:sym typeface="Montserrat"/>
              </a:rPr>
              <a:t>What is Machine Learning?</a:t>
            </a:r>
            <a:endParaRPr sz="3000">
              <a:solidFill>
                <a:srgbClr val="2A399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5" name="Google Shape;135;p28"/>
          <p:cNvSpPr txBox="1"/>
          <p:nvPr/>
        </p:nvSpPr>
        <p:spPr>
          <a:xfrm>
            <a:off x="311700" y="1229875"/>
            <a:ext cx="8520600" cy="333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937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600"/>
              <a:buFont typeface="Montserrat"/>
              <a:buChar char="●"/>
            </a:pPr>
            <a:r>
              <a:rPr lang="en" sz="2600" dirty="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Machine learning is a method of data analysis that automates analytical model building. </a:t>
            </a:r>
            <a:endParaRPr sz="2600" dirty="0">
              <a:solidFill>
                <a:srgbClr val="33333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3937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600"/>
              <a:buFont typeface="Montserrat"/>
              <a:buChar char="●"/>
            </a:pPr>
            <a:r>
              <a:rPr lang="en" sz="2600" dirty="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Using algorithms that iteratively learn from data, machine learning allows computers to find hidden insights without being </a:t>
            </a:r>
            <a:r>
              <a:rPr lang="en" sz="2600" u="sng" dirty="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explicitly programmed</a:t>
            </a:r>
            <a:r>
              <a:rPr lang="en" sz="2600" dirty="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 where to look.</a:t>
            </a:r>
            <a:endParaRPr sz="2600" dirty="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9"/>
          <p:cNvSpPr txBox="1"/>
          <p:nvPr/>
        </p:nvSpPr>
        <p:spPr>
          <a:xfrm>
            <a:off x="1042425" y="211038"/>
            <a:ext cx="7061700" cy="74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000"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3" name="Google Shape;143;p29"/>
          <p:cNvSpPr txBox="1"/>
          <p:nvPr/>
        </p:nvSpPr>
        <p:spPr>
          <a:xfrm>
            <a:off x="1109150" y="27825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2A3990"/>
                </a:solidFill>
                <a:latin typeface="Montserrat"/>
                <a:ea typeface="Montserrat"/>
                <a:cs typeface="Montserrat"/>
                <a:sym typeface="Montserrat"/>
              </a:rPr>
              <a:t>What is it used for?</a:t>
            </a:r>
            <a:endParaRPr sz="3000">
              <a:solidFill>
                <a:srgbClr val="2A399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4" name="Google Shape;144;p29"/>
          <p:cNvSpPr txBox="1"/>
          <p:nvPr/>
        </p:nvSpPr>
        <p:spPr>
          <a:xfrm>
            <a:off x="517400" y="1011875"/>
            <a:ext cx="8626500" cy="333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355600" lvl="0" indent="-342900" algn="l" rtl="0">
              <a:lnSpc>
                <a:spcPct val="150000"/>
              </a:lnSpc>
              <a:spcBef>
                <a:spcPts val="1500"/>
              </a:spcBef>
              <a:spcAft>
                <a:spcPts val="0"/>
              </a:spcAft>
              <a:buClr>
                <a:srgbClr val="333333"/>
              </a:buClr>
              <a:buSzPts val="1800"/>
              <a:buFont typeface="Montserrat"/>
              <a:buChar char="●"/>
            </a:pPr>
            <a:r>
              <a:rPr lang="en" sz="1800" dirty="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Fraud detection.</a:t>
            </a:r>
            <a:endParaRPr sz="1800" dirty="0">
              <a:solidFill>
                <a:srgbClr val="33333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3556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800"/>
              <a:buFont typeface="Montserrat"/>
              <a:buChar char="●"/>
            </a:pPr>
            <a:r>
              <a:rPr lang="en" sz="1800" dirty="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Web search results.</a:t>
            </a:r>
            <a:endParaRPr sz="1800" dirty="0">
              <a:solidFill>
                <a:srgbClr val="33333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3556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800"/>
              <a:buFont typeface="Montserrat"/>
              <a:buChar char="●"/>
            </a:pPr>
            <a:r>
              <a:rPr lang="en" sz="1800" dirty="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Real-time ads on web pages </a:t>
            </a:r>
            <a:endParaRPr sz="1800" dirty="0">
              <a:solidFill>
                <a:srgbClr val="33333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3556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800"/>
              <a:buFont typeface="Montserrat"/>
              <a:buChar char="●"/>
            </a:pPr>
            <a:r>
              <a:rPr lang="en" sz="1800" dirty="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Credit scoring.</a:t>
            </a:r>
            <a:endParaRPr sz="1800" dirty="0">
              <a:solidFill>
                <a:srgbClr val="33333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800"/>
              <a:buFont typeface="Montserrat"/>
              <a:buChar char="●"/>
            </a:pPr>
            <a:r>
              <a:rPr lang="en" sz="1800" dirty="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Prediction of equipment failures.</a:t>
            </a:r>
            <a:endParaRPr sz="1800" dirty="0">
              <a:solidFill>
                <a:srgbClr val="33333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800"/>
              <a:buFont typeface="Montserrat"/>
              <a:buChar char="●"/>
            </a:pPr>
            <a:r>
              <a:rPr lang="en" sz="1800" dirty="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New pricing models.</a:t>
            </a:r>
            <a:endParaRPr sz="1800" dirty="0">
              <a:solidFill>
                <a:srgbClr val="33333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800"/>
              <a:buFont typeface="Montserrat"/>
              <a:buChar char="●"/>
            </a:pPr>
            <a:r>
              <a:rPr lang="en" sz="1800" dirty="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Network intrusion detection.</a:t>
            </a:r>
            <a:endParaRPr sz="1800" dirty="0">
              <a:solidFill>
                <a:srgbClr val="33333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150000"/>
              </a:lnSpc>
              <a:spcBef>
                <a:spcPts val="2700"/>
              </a:spcBef>
              <a:spcAft>
                <a:spcPts val="0"/>
              </a:spcAft>
              <a:buNone/>
            </a:pPr>
            <a:endParaRPr sz="1800" dirty="0">
              <a:solidFill>
                <a:srgbClr val="33333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115000"/>
              </a:lnSpc>
              <a:spcBef>
                <a:spcPts val="27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800" dirty="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endParaRPr sz="1800" dirty="0">
              <a:solidFill>
                <a:srgbClr val="33333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5" name="Google Shape;145;p29"/>
          <p:cNvSpPr txBox="1"/>
          <p:nvPr/>
        </p:nvSpPr>
        <p:spPr>
          <a:xfrm>
            <a:off x="4977725" y="1011875"/>
            <a:ext cx="4116000" cy="333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355600" lvl="0" indent="-342900" algn="l" rtl="0">
              <a:lnSpc>
                <a:spcPct val="150000"/>
              </a:lnSpc>
              <a:spcBef>
                <a:spcPts val="1500"/>
              </a:spcBef>
              <a:spcAft>
                <a:spcPts val="0"/>
              </a:spcAft>
              <a:buClr>
                <a:srgbClr val="333333"/>
              </a:buClr>
              <a:buSzPts val="1800"/>
              <a:buFont typeface="Montserrat"/>
              <a:buChar char="●"/>
            </a:pPr>
            <a:r>
              <a:rPr lang="en" sz="180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Recommendation Engines</a:t>
            </a:r>
            <a:endParaRPr sz="1800">
              <a:solidFill>
                <a:srgbClr val="33333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3556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800"/>
              <a:buFont typeface="Montserrat"/>
              <a:buChar char="●"/>
            </a:pPr>
            <a:r>
              <a:rPr lang="en" sz="180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Customer Segmentation</a:t>
            </a:r>
            <a:endParaRPr sz="1800">
              <a:solidFill>
                <a:srgbClr val="33333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3556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800"/>
              <a:buFont typeface="Montserrat"/>
              <a:buChar char="●"/>
            </a:pPr>
            <a:r>
              <a:rPr lang="en" sz="180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Text Sentiment Analysis</a:t>
            </a:r>
            <a:endParaRPr sz="1800">
              <a:solidFill>
                <a:srgbClr val="33333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3556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800"/>
              <a:buFont typeface="Montserrat"/>
              <a:buChar char="●"/>
            </a:pPr>
            <a:r>
              <a:rPr lang="en" sz="180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Customer Churn</a:t>
            </a:r>
            <a:endParaRPr sz="1800">
              <a:solidFill>
                <a:srgbClr val="33333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800"/>
              <a:buFont typeface="Montserrat"/>
              <a:buChar char="●"/>
            </a:pPr>
            <a:r>
              <a:rPr lang="en" sz="180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Pattern and image recognition.</a:t>
            </a:r>
            <a:endParaRPr sz="1800">
              <a:solidFill>
                <a:srgbClr val="33333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800"/>
              <a:buFont typeface="Montserrat"/>
              <a:buChar char="●"/>
            </a:pPr>
            <a:r>
              <a:rPr lang="en" sz="180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Email spam filtering.</a:t>
            </a:r>
            <a:endParaRPr sz="1800">
              <a:solidFill>
                <a:srgbClr val="33333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0" algn="l" rtl="0">
              <a:lnSpc>
                <a:spcPct val="150000"/>
              </a:lnSpc>
              <a:spcBef>
                <a:spcPts val="2700"/>
              </a:spcBef>
              <a:spcAft>
                <a:spcPts val="0"/>
              </a:spcAft>
              <a:buNone/>
            </a:pPr>
            <a:endParaRPr sz="1800">
              <a:solidFill>
                <a:srgbClr val="33333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115000"/>
              </a:lnSpc>
              <a:spcBef>
                <a:spcPts val="27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endParaRPr sz="2400">
              <a:solidFill>
                <a:srgbClr val="33333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30"/>
          <p:cNvSpPr txBox="1"/>
          <p:nvPr/>
        </p:nvSpPr>
        <p:spPr>
          <a:xfrm>
            <a:off x="1042425" y="211038"/>
            <a:ext cx="7061700" cy="74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000"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3" name="Google Shape;153;p30"/>
          <p:cNvSpPr txBox="1"/>
          <p:nvPr/>
        </p:nvSpPr>
        <p:spPr>
          <a:xfrm>
            <a:off x="1109150" y="27825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2A3990"/>
                </a:solidFill>
                <a:latin typeface="Montserrat"/>
                <a:ea typeface="Montserrat"/>
                <a:cs typeface="Montserrat"/>
                <a:sym typeface="Montserrat"/>
              </a:rPr>
              <a:t>What are Neural Networks?</a:t>
            </a:r>
            <a:endParaRPr sz="3000">
              <a:solidFill>
                <a:srgbClr val="2A399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4" name="Google Shape;154;p30"/>
          <p:cNvSpPr txBox="1"/>
          <p:nvPr/>
        </p:nvSpPr>
        <p:spPr>
          <a:xfrm>
            <a:off x="311700" y="1229875"/>
            <a:ext cx="8520600" cy="333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937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600"/>
              <a:buFont typeface="Montserrat"/>
              <a:buChar char="●"/>
            </a:pPr>
            <a:r>
              <a:rPr lang="en" sz="2600" dirty="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Neural Networks are a way of modeling biological neuron systems mathematically.</a:t>
            </a:r>
            <a:endParaRPr sz="2600" dirty="0">
              <a:solidFill>
                <a:srgbClr val="33333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3937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600"/>
              <a:buFont typeface="Montserrat"/>
              <a:buChar char="●"/>
            </a:pPr>
            <a:r>
              <a:rPr lang="en" sz="2600" dirty="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These networks can then be used to solve tasks that many other types of algorithms can not (e.g. image classification)</a:t>
            </a:r>
            <a:endParaRPr sz="2600" dirty="0">
              <a:solidFill>
                <a:srgbClr val="33333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3937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600"/>
              <a:buFont typeface="Montserrat"/>
              <a:buChar char="●"/>
            </a:pPr>
            <a:r>
              <a:rPr lang="en" sz="2600" u="sng" dirty="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Deep Learning simply refers to neural networks with more than one hidden layer.</a:t>
            </a:r>
            <a:endParaRPr sz="2600" u="sng" dirty="0">
              <a:solidFill>
                <a:srgbClr val="33333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31"/>
          <p:cNvSpPr txBox="1"/>
          <p:nvPr/>
        </p:nvSpPr>
        <p:spPr>
          <a:xfrm>
            <a:off x="1042425" y="211038"/>
            <a:ext cx="7061700" cy="74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000"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2" name="Google Shape;162;p31"/>
          <p:cNvSpPr txBox="1"/>
          <p:nvPr/>
        </p:nvSpPr>
        <p:spPr>
          <a:xfrm>
            <a:off x="1109150" y="27825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2A3990"/>
                </a:solidFill>
                <a:latin typeface="Montserrat"/>
                <a:ea typeface="Montserrat"/>
                <a:cs typeface="Montserrat"/>
                <a:sym typeface="Montserrat"/>
              </a:rPr>
              <a:t>Machine Learning</a:t>
            </a:r>
            <a:endParaRPr sz="3000">
              <a:solidFill>
                <a:srgbClr val="2A399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3" name="Google Shape;163;p31"/>
          <p:cNvSpPr txBox="1"/>
          <p:nvPr/>
        </p:nvSpPr>
        <p:spPr>
          <a:xfrm>
            <a:off x="311700" y="1229875"/>
            <a:ext cx="8520600" cy="333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937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600"/>
              <a:buFont typeface="Montserrat"/>
              <a:buChar char="●"/>
            </a:pPr>
            <a:r>
              <a:rPr lang="en" sz="260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There are different types of machine learning we will focus on during the next sections of the course:</a:t>
            </a:r>
            <a:endParaRPr sz="2600">
              <a:solidFill>
                <a:srgbClr val="33333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914400" lvl="1" indent="-3937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600"/>
              <a:buFont typeface="Montserrat"/>
              <a:buChar char="○"/>
            </a:pPr>
            <a:r>
              <a:rPr lang="en" sz="260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Supervised Learning</a:t>
            </a:r>
            <a:endParaRPr sz="2600">
              <a:solidFill>
                <a:srgbClr val="33333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914400" lvl="1" indent="-3937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600"/>
              <a:buFont typeface="Montserrat"/>
              <a:buChar char="○"/>
            </a:pPr>
            <a:r>
              <a:rPr lang="en" sz="260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Unsupervised Learning</a:t>
            </a:r>
            <a:endParaRPr sz="2600">
              <a:solidFill>
                <a:srgbClr val="33333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endParaRPr sz="2600">
              <a:solidFill>
                <a:srgbClr val="33333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32"/>
          <p:cNvSpPr txBox="1"/>
          <p:nvPr/>
        </p:nvSpPr>
        <p:spPr>
          <a:xfrm>
            <a:off x="1042425" y="211038"/>
            <a:ext cx="7061700" cy="74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000"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0" name="Google Shape;170;p32"/>
          <p:cNvSpPr txBox="1"/>
          <p:nvPr/>
        </p:nvSpPr>
        <p:spPr>
          <a:xfrm>
            <a:off x="1109150" y="27825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2A3990"/>
                </a:solidFill>
                <a:latin typeface="Montserrat"/>
                <a:ea typeface="Montserrat"/>
                <a:cs typeface="Montserrat"/>
                <a:sym typeface="Montserrat"/>
              </a:rPr>
              <a:t>Machine Learning</a:t>
            </a:r>
            <a:endParaRPr sz="3000">
              <a:solidFill>
                <a:srgbClr val="2A399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1" name="Google Shape;171;p32"/>
          <p:cNvSpPr txBox="1"/>
          <p:nvPr/>
        </p:nvSpPr>
        <p:spPr>
          <a:xfrm>
            <a:off x="311700" y="1229875"/>
            <a:ext cx="8520600" cy="333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937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600"/>
              <a:buFont typeface="Montserrat"/>
              <a:buChar char="●"/>
            </a:pPr>
            <a:r>
              <a:rPr lang="en" sz="260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Machine Learning</a:t>
            </a:r>
            <a:endParaRPr sz="2600">
              <a:solidFill>
                <a:srgbClr val="33333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914400" lvl="1" indent="-3937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600"/>
              <a:buFont typeface="Montserrat"/>
              <a:buChar char="○"/>
            </a:pPr>
            <a:r>
              <a:rPr lang="en" sz="260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Automated analytical models.</a:t>
            </a:r>
            <a:endParaRPr sz="2600">
              <a:solidFill>
                <a:srgbClr val="33333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3937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600"/>
              <a:buFont typeface="Montserrat"/>
              <a:buChar char="●"/>
            </a:pPr>
            <a:r>
              <a:rPr lang="en" sz="260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Neural Networks</a:t>
            </a:r>
            <a:endParaRPr sz="2600">
              <a:solidFill>
                <a:srgbClr val="33333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914400" lvl="1" indent="-3937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600"/>
              <a:buFont typeface="Montserrat"/>
              <a:buChar char="○"/>
            </a:pPr>
            <a:r>
              <a:rPr lang="en" sz="260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A type of machine learning architecture modeled after biological neurons.</a:t>
            </a:r>
            <a:endParaRPr sz="2600">
              <a:solidFill>
                <a:srgbClr val="33333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3937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600"/>
              <a:buFont typeface="Montserrat"/>
              <a:buChar char="●"/>
            </a:pPr>
            <a:r>
              <a:rPr lang="en" sz="260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Deep Learning</a:t>
            </a:r>
            <a:endParaRPr sz="2600">
              <a:solidFill>
                <a:srgbClr val="33333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914400" lvl="1" indent="-3937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600"/>
              <a:buFont typeface="Montserrat"/>
              <a:buChar char="○"/>
            </a:pPr>
            <a:r>
              <a:rPr lang="en" sz="260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A neural network with more than one hidden layer.</a:t>
            </a:r>
            <a:endParaRPr sz="2600">
              <a:solidFill>
                <a:srgbClr val="33333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endParaRPr sz="2600">
              <a:solidFill>
                <a:srgbClr val="33333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33"/>
          <p:cNvSpPr txBox="1"/>
          <p:nvPr/>
        </p:nvSpPr>
        <p:spPr>
          <a:xfrm>
            <a:off x="1042425" y="211038"/>
            <a:ext cx="7061700" cy="74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000"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9" name="Google Shape;179;p33"/>
          <p:cNvSpPr txBox="1"/>
          <p:nvPr/>
        </p:nvSpPr>
        <p:spPr>
          <a:xfrm>
            <a:off x="1109150" y="27825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2A3990"/>
                </a:solidFill>
                <a:latin typeface="Montserrat"/>
                <a:ea typeface="Montserrat"/>
                <a:cs typeface="Montserrat"/>
                <a:sym typeface="Montserrat"/>
              </a:rPr>
              <a:t>Machine Learning</a:t>
            </a:r>
            <a:endParaRPr sz="3000">
              <a:solidFill>
                <a:srgbClr val="2A399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0" name="Google Shape;180;p33"/>
          <p:cNvSpPr txBox="1"/>
          <p:nvPr/>
        </p:nvSpPr>
        <p:spPr>
          <a:xfrm>
            <a:off x="311700" y="1229875"/>
            <a:ext cx="8520600" cy="333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937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600"/>
              <a:buFont typeface="Montserrat"/>
              <a:buChar char="●"/>
            </a:pPr>
            <a:r>
              <a:rPr lang="en" sz="2600" dirty="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Let’s begin by learning about one of the most common machine learning tasks: Supervised Learning!</a:t>
            </a:r>
            <a:endParaRPr sz="2600" dirty="0">
              <a:solidFill>
                <a:srgbClr val="33333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endParaRPr sz="2600" dirty="0">
              <a:solidFill>
                <a:srgbClr val="33333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34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Montserrat"/>
                <a:ea typeface="Montserrat"/>
                <a:cs typeface="Montserrat"/>
                <a:sym typeface="Montserrat"/>
              </a:rPr>
              <a:t>Supervised Learning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35"/>
          <p:cNvSpPr txBox="1"/>
          <p:nvPr/>
        </p:nvSpPr>
        <p:spPr>
          <a:xfrm>
            <a:off x="1042425" y="211038"/>
            <a:ext cx="7061700" cy="74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000"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6" name="Google Shape;196;p35"/>
          <p:cNvSpPr txBox="1"/>
          <p:nvPr/>
        </p:nvSpPr>
        <p:spPr>
          <a:xfrm>
            <a:off x="1109150" y="27825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2A3990"/>
                </a:solidFill>
                <a:latin typeface="Roboto"/>
                <a:ea typeface="Roboto"/>
                <a:cs typeface="Roboto"/>
                <a:sym typeface="Roboto"/>
              </a:rPr>
              <a:t>Supervised Learning</a:t>
            </a:r>
            <a:endParaRPr sz="3000">
              <a:solidFill>
                <a:srgbClr val="2A399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7" name="Google Shape;197;p35"/>
          <p:cNvSpPr txBox="1"/>
          <p:nvPr/>
        </p:nvSpPr>
        <p:spPr>
          <a:xfrm>
            <a:off x="311700" y="1229875"/>
            <a:ext cx="8520600" cy="333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937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Arial"/>
              <a:buChar char="●"/>
            </a:pPr>
            <a:r>
              <a:rPr lang="en" sz="2600" b="1" dirty="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Supervised learning </a:t>
            </a:r>
            <a:r>
              <a:rPr lang="en" sz="2600" dirty="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algorithms are trained using </a:t>
            </a:r>
            <a:r>
              <a:rPr lang="en" sz="2600" b="1" dirty="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labeled</a:t>
            </a:r>
            <a:r>
              <a:rPr lang="en" sz="2600" dirty="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examples, such as an input where the desired output is known. </a:t>
            </a:r>
            <a:endParaRPr sz="2600" dirty="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3937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Montserrat"/>
              <a:buChar char="●"/>
            </a:pPr>
            <a:r>
              <a:rPr lang="en" sz="2600" dirty="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For example, a segment of text could have a category label, such as:</a:t>
            </a:r>
            <a:endParaRPr sz="2600" dirty="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914400" lvl="1" indent="-3937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Montserrat"/>
              <a:buChar char="○"/>
            </a:pPr>
            <a:r>
              <a:rPr lang="en" sz="2600" b="1" dirty="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Spam</a:t>
            </a:r>
            <a:r>
              <a:rPr lang="en" sz="2600" dirty="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vs. </a:t>
            </a:r>
            <a:r>
              <a:rPr lang="en" sz="2600" b="1" dirty="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Legitimate</a:t>
            </a:r>
            <a:r>
              <a:rPr lang="en" sz="2600" dirty="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Email</a:t>
            </a:r>
            <a:endParaRPr sz="2600" dirty="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914400" lvl="1" indent="-3937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Montserrat"/>
              <a:buChar char="○"/>
            </a:pPr>
            <a:r>
              <a:rPr lang="en" sz="2600" b="1" dirty="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Positive</a:t>
            </a:r>
            <a:r>
              <a:rPr lang="en" sz="2600" dirty="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vs. </a:t>
            </a:r>
            <a:r>
              <a:rPr lang="en" sz="2600" b="1" dirty="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Negative</a:t>
            </a:r>
            <a:r>
              <a:rPr lang="en" sz="2600" dirty="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Movie Review</a:t>
            </a:r>
            <a:endParaRPr sz="2600" dirty="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endParaRPr sz="2600" dirty="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36"/>
          <p:cNvSpPr txBox="1"/>
          <p:nvPr/>
        </p:nvSpPr>
        <p:spPr>
          <a:xfrm>
            <a:off x="1042425" y="211038"/>
            <a:ext cx="7061700" cy="74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000"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5" name="Google Shape;205;p36"/>
          <p:cNvSpPr txBox="1"/>
          <p:nvPr/>
        </p:nvSpPr>
        <p:spPr>
          <a:xfrm>
            <a:off x="1109150" y="27825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2A3990"/>
                </a:solidFill>
                <a:latin typeface="Roboto"/>
                <a:ea typeface="Roboto"/>
                <a:cs typeface="Roboto"/>
                <a:sym typeface="Roboto"/>
              </a:rPr>
              <a:t>Supervised Learning</a:t>
            </a:r>
            <a:endParaRPr sz="3000">
              <a:solidFill>
                <a:srgbClr val="2A399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6" name="Google Shape;206;p36"/>
          <p:cNvSpPr txBox="1"/>
          <p:nvPr/>
        </p:nvSpPr>
        <p:spPr>
          <a:xfrm>
            <a:off x="311700" y="1229875"/>
            <a:ext cx="8520600" cy="333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937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600"/>
              <a:buFont typeface="Montserrat"/>
              <a:buChar char="●"/>
            </a:pPr>
            <a:r>
              <a:rPr lang="en" sz="260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The network receives a set of inputs along with the corresponding correct outputs, and the algorithm learns by comparing its actual output with correct outputs to find errors. </a:t>
            </a:r>
            <a:endParaRPr sz="2600">
              <a:solidFill>
                <a:srgbClr val="33333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3937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600"/>
              <a:buFont typeface="Montserrat"/>
              <a:buChar char="●"/>
            </a:pPr>
            <a:r>
              <a:rPr lang="en" sz="260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It then modifies the model accordingly. </a:t>
            </a:r>
            <a:endParaRPr sz="2600" b="1">
              <a:solidFill>
                <a:srgbClr val="33333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37"/>
          <p:cNvSpPr txBox="1"/>
          <p:nvPr/>
        </p:nvSpPr>
        <p:spPr>
          <a:xfrm>
            <a:off x="1042425" y="211038"/>
            <a:ext cx="7061700" cy="74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000"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4" name="Google Shape;214;p37"/>
          <p:cNvSpPr txBox="1"/>
          <p:nvPr/>
        </p:nvSpPr>
        <p:spPr>
          <a:xfrm>
            <a:off x="1109150" y="27825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2A3990"/>
                </a:solidFill>
                <a:latin typeface="Roboto"/>
                <a:ea typeface="Roboto"/>
                <a:cs typeface="Roboto"/>
                <a:sym typeface="Roboto"/>
              </a:rPr>
              <a:t>Supervised Learning</a:t>
            </a:r>
            <a:endParaRPr sz="3000">
              <a:solidFill>
                <a:srgbClr val="2A399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5" name="Google Shape;215;p37"/>
          <p:cNvSpPr txBox="1"/>
          <p:nvPr/>
        </p:nvSpPr>
        <p:spPr>
          <a:xfrm>
            <a:off x="311700" y="1229875"/>
            <a:ext cx="8520600" cy="333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937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600"/>
              <a:buFont typeface="Montserrat"/>
              <a:buChar char="●"/>
            </a:pPr>
            <a:r>
              <a:rPr lang="en" sz="260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Supervised learning is commonly used in applications where historical data predicts likely future events. </a:t>
            </a:r>
            <a:endParaRPr sz="2600" b="1">
              <a:solidFill>
                <a:srgbClr val="33333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38"/>
          <p:cNvSpPr txBox="1"/>
          <p:nvPr/>
        </p:nvSpPr>
        <p:spPr>
          <a:xfrm>
            <a:off x="1042425" y="211038"/>
            <a:ext cx="7061700" cy="74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000"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3" name="Google Shape;223;p38"/>
          <p:cNvSpPr txBox="1"/>
          <p:nvPr/>
        </p:nvSpPr>
        <p:spPr>
          <a:xfrm>
            <a:off x="1109150" y="27825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2A3990"/>
                </a:solidFill>
                <a:latin typeface="Roboto"/>
                <a:ea typeface="Roboto"/>
                <a:cs typeface="Roboto"/>
                <a:sym typeface="Roboto"/>
              </a:rPr>
              <a:t>Machine Learning Process</a:t>
            </a:r>
            <a:endParaRPr sz="3000">
              <a:solidFill>
                <a:srgbClr val="2A399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4" name="Google Shape;224;p38"/>
          <p:cNvSpPr/>
          <p:nvPr/>
        </p:nvSpPr>
        <p:spPr>
          <a:xfrm>
            <a:off x="185125" y="2707875"/>
            <a:ext cx="1340400" cy="907800"/>
          </a:xfrm>
          <a:prstGeom prst="roundRect">
            <a:avLst>
              <a:gd name="adj" fmla="val 16667"/>
            </a:avLst>
          </a:prstGeom>
          <a:solidFill>
            <a:srgbClr val="20124D"/>
          </a:solidFill>
          <a:ln w="9525" cap="flat" cmpd="sng">
            <a:solidFill>
              <a:srgbClr val="3D85C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5" name="Google Shape;225;p38"/>
          <p:cNvSpPr/>
          <p:nvPr/>
        </p:nvSpPr>
        <p:spPr>
          <a:xfrm>
            <a:off x="1948450" y="2707875"/>
            <a:ext cx="1340400" cy="907800"/>
          </a:xfrm>
          <a:prstGeom prst="roundRect">
            <a:avLst>
              <a:gd name="adj" fmla="val 16667"/>
            </a:avLst>
          </a:prstGeom>
          <a:solidFill>
            <a:srgbClr val="20124D"/>
          </a:solidFill>
          <a:ln w="9525" cap="flat" cmpd="sng">
            <a:solidFill>
              <a:srgbClr val="3D85C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6" name="Google Shape;226;p38"/>
          <p:cNvSpPr/>
          <p:nvPr/>
        </p:nvSpPr>
        <p:spPr>
          <a:xfrm>
            <a:off x="3813975" y="2707875"/>
            <a:ext cx="1340400" cy="907800"/>
          </a:xfrm>
          <a:prstGeom prst="roundRect">
            <a:avLst>
              <a:gd name="adj" fmla="val 16667"/>
            </a:avLst>
          </a:prstGeom>
          <a:solidFill>
            <a:srgbClr val="20124D"/>
          </a:solidFill>
          <a:ln w="9525" cap="flat" cmpd="sng">
            <a:solidFill>
              <a:srgbClr val="3D85C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7" name="Google Shape;227;p38"/>
          <p:cNvSpPr/>
          <p:nvPr/>
        </p:nvSpPr>
        <p:spPr>
          <a:xfrm>
            <a:off x="5628400" y="2707875"/>
            <a:ext cx="1340400" cy="907800"/>
          </a:xfrm>
          <a:prstGeom prst="roundRect">
            <a:avLst>
              <a:gd name="adj" fmla="val 16667"/>
            </a:avLst>
          </a:prstGeom>
          <a:solidFill>
            <a:srgbClr val="20124D"/>
          </a:solidFill>
          <a:ln w="9525" cap="flat" cmpd="sng">
            <a:solidFill>
              <a:srgbClr val="3D85C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8" name="Google Shape;228;p38"/>
          <p:cNvSpPr/>
          <p:nvPr/>
        </p:nvSpPr>
        <p:spPr>
          <a:xfrm>
            <a:off x="7442825" y="2707875"/>
            <a:ext cx="1340400" cy="907800"/>
          </a:xfrm>
          <a:prstGeom prst="roundRect">
            <a:avLst>
              <a:gd name="adj" fmla="val 16667"/>
            </a:avLst>
          </a:prstGeom>
          <a:solidFill>
            <a:srgbClr val="20124D"/>
          </a:solidFill>
          <a:ln w="9525" cap="flat" cmpd="sng">
            <a:solidFill>
              <a:srgbClr val="3D85C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9" name="Google Shape;229;p38"/>
          <p:cNvSpPr/>
          <p:nvPr/>
        </p:nvSpPr>
        <p:spPr>
          <a:xfrm>
            <a:off x="3813975" y="1562850"/>
            <a:ext cx="1340400" cy="907800"/>
          </a:xfrm>
          <a:prstGeom prst="roundRect">
            <a:avLst>
              <a:gd name="adj" fmla="val 16667"/>
            </a:avLst>
          </a:prstGeom>
          <a:solidFill>
            <a:srgbClr val="20124D"/>
          </a:solidFill>
          <a:ln w="9525" cap="flat" cmpd="sng">
            <a:solidFill>
              <a:srgbClr val="3D85C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230" name="Google Shape;230;p38"/>
          <p:cNvCxnSpPr>
            <a:stCxn id="224" idx="3"/>
            <a:endCxn id="225" idx="1"/>
          </p:cNvCxnSpPr>
          <p:nvPr/>
        </p:nvCxnSpPr>
        <p:spPr>
          <a:xfrm>
            <a:off x="1525525" y="3161775"/>
            <a:ext cx="423000" cy="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31" name="Google Shape;231;p38"/>
          <p:cNvCxnSpPr>
            <a:endCxn id="226" idx="1"/>
          </p:cNvCxnSpPr>
          <p:nvPr/>
        </p:nvCxnSpPr>
        <p:spPr>
          <a:xfrm>
            <a:off x="3288975" y="3161775"/>
            <a:ext cx="525000" cy="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32" name="Google Shape;232;p38"/>
          <p:cNvCxnSpPr>
            <a:endCxn id="227" idx="1"/>
          </p:cNvCxnSpPr>
          <p:nvPr/>
        </p:nvCxnSpPr>
        <p:spPr>
          <a:xfrm>
            <a:off x="5154400" y="3161775"/>
            <a:ext cx="474000" cy="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33" name="Google Shape;233;p38"/>
          <p:cNvCxnSpPr>
            <a:endCxn id="228" idx="1"/>
          </p:cNvCxnSpPr>
          <p:nvPr/>
        </p:nvCxnSpPr>
        <p:spPr>
          <a:xfrm>
            <a:off x="6968825" y="3161775"/>
            <a:ext cx="474000" cy="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34" name="Google Shape;234;p38"/>
          <p:cNvCxnSpPr>
            <a:stCxn id="227" idx="2"/>
            <a:endCxn id="226" idx="2"/>
          </p:cNvCxnSpPr>
          <p:nvPr/>
        </p:nvCxnSpPr>
        <p:spPr>
          <a:xfrm rot="5400000">
            <a:off x="5391100" y="2708775"/>
            <a:ext cx="600" cy="1814400"/>
          </a:xfrm>
          <a:prstGeom prst="curvedConnector3">
            <a:avLst>
              <a:gd name="adj1" fmla="val 39687500"/>
            </a:avLst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35" name="Google Shape;235;p38"/>
          <p:cNvCxnSpPr>
            <a:stCxn id="225" idx="0"/>
            <a:endCxn id="229" idx="1"/>
          </p:cNvCxnSpPr>
          <p:nvPr/>
        </p:nvCxnSpPr>
        <p:spPr>
          <a:xfrm rot="-5400000">
            <a:off x="2870650" y="1764675"/>
            <a:ext cx="691200" cy="1195200"/>
          </a:xfrm>
          <a:prstGeom prst="curvedConnector2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36" name="Google Shape;236;p38"/>
          <p:cNvCxnSpPr>
            <a:stCxn id="229" idx="3"/>
            <a:endCxn id="227" idx="0"/>
          </p:cNvCxnSpPr>
          <p:nvPr/>
        </p:nvCxnSpPr>
        <p:spPr>
          <a:xfrm>
            <a:off x="5154375" y="2016750"/>
            <a:ext cx="1144200" cy="691200"/>
          </a:xfrm>
          <a:prstGeom prst="curvedConnector2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37" name="Google Shape;237;p38"/>
          <p:cNvSpPr txBox="1"/>
          <p:nvPr/>
        </p:nvSpPr>
        <p:spPr>
          <a:xfrm>
            <a:off x="185125" y="2800650"/>
            <a:ext cx="1340400" cy="6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Data</a:t>
            </a:r>
            <a:endParaRPr sz="18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Acquisition </a:t>
            </a:r>
            <a:endParaRPr sz="18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8" name="Google Shape;238;p38"/>
          <p:cNvSpPr txBox="1"/>
          <p:nvPr/>
        </p:nvSpPr>
        <p:spPr>
          <a:xfrm>
            <a:off x="1948450" y="2800650"/>
            <a:ext cx="1340400" cy="6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Data</a:t>
            </a:r>
            <a:endParaRPr sz="18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Cleaning</a:t>
            </a:r>
            <a:endParaRPr sz="18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9" name="Google Shape;239;p38"/>
          <p:cNvSpPr txBox="1"/>
          <p:nvPr/>
        </p:nvSpPr>
        <p:spPr>
          <a:xfrm>
            <a:off x="3813975" y="1636650"/>
            <a:ext cx="1340400" cy="6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Test</a:t>
            </a:r>
            <a:endParaRPr sz="18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Data</a:t>
            </a:r>
            <a:endParaRPr sz="18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0" name="Google Shape;240;p38"/>
          <p:cNvSpPr txBox="1"/>
          <p:nvPr/>
        </p:nvSpPr>
        <p:spPr>
          <a:xfrm>
            <a:off x="3813975" y="2631663"/>
            <a:ext cx="1340400" cy="6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Model</a:t>
            </a:r>
            <a:endParaRPr sz="18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Training &amp;</a:t>
            </a:r>
            <a:endParaRPr sz="18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Building</a:t>
            </a:r>
            <a:endParaRPr sz="18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1" name="Google Shape;241;p38"/>
          <p:cNvSpPr txBox="1"/>
          <p:nvPr/>
        </p:nvSpPr>
        <p:spPr>
          <a:xfrm>
            <a:off x="5628400" y="2781713"/>
            <a:ext cx="1340400" cy="6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Model</a:t>
            </a:r>
            <a:endParaRPr sz="18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Testing</a:t>
            </a:r>
            <a:endParaRPr sz="18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2" name="Google Shape;242;p38"/>
          <p:cNvSpPr txBox="1"/>
          <p:nvPr/>
        </p:nvSpPr>
        <p:spPr>
          <a:xfrm>
            <a:off x="7398275" y="2800650"/>
            <a:ext cx="1429500" cy="6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Model </a:t>
            </a:r>
            <a:endParaRPr sz="18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Deployment</a:t>
            </a:r>
            <a:endParaRPr sz="18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39"/>
          <p:cNvSpPr txBox="1"/>
          <p:nvPr/>
        </p:nvSpPr>
        <p:spPr>
          <a:xfrm>
            <a:off x="1042425" y="211038"/>
            <a:ext cx="7061700" cy="74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000"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0" name="Google Shape;250;p39"/>
          <p:cNvSpPr txBox="1"/>
          <p:nvPr/>
        </p:nvSpPr>
        <p:spPr>
          <a:xfrm>
            <a:off x="1109150" y="27825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2A3990"/>
                </a:solidFill>
                <a:latin typeface="Roboto"/>
                <a:ea typeface="Roboto"/>
                <a:cs typeface="Roboto"/>
                <a:sym typeface="Roboto"/>
              </a:rPr>
              <a:t>Machine Learning Process</a:t>
            </a:r>
            <a:endParaRPr sz="3000">
              <a:solidFill>
                <a:srgbClr val="2A399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1" name="Google Shape;251;p39"/>
          <p:cNvSpPr/>
          <p:nvPr/>
        </p:nvSpPr>
        <p:spPr>
          <a:xfrm>
            <a:off x="185125" y="2707875"/>
            <a:ext cx="1340400" cy="907800"/>
          </a:xfrm>
          <a:prstGeom prst="roundRect">
            <a:avLst>
              <a:gd name="adj" fmla="val 16667"/>
            </a:avLst>
          </a:prstGeom>
          <a:solidFill>
            <a:srgbClr val="20124D"/>
          </a:solidFill>
          <a:ln w="9525" cap="flat" cmpd="sng">
            <a:solidFill>
              <a:srgbClr val="3D85C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2" name="Google Shape;252;p39"/>
          <p:cNvSpPr txBox="1"/>
          <p:nvPr/>
        </p:nvSpPr>
        <p:spPr>
          <a:xfrm>
            <a:off x="185125" y="2800650"/>
            <a:ext cx="1340400" cy="6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Data</a:t>
            </a:r>
            <a:endParaRPr sz="18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Acquisition </a:t>
            </a:r>
            <a:endParaRPr sz="18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3" name="Google Shape;253;p39"/>
          <p:cNvSpPr txBox="1"/>
          <p:nvPr/>
        </p:nvSpPr>
        <p:spPr>
          <a:xfrm>
            <a:off x="387275" y="1161825"/>
            <a:ext cx="8455500" cy="79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93700" algn="l" rtl="0">
              <a:spcBef>
                <a:spcPts val="0"/>
              </a:spcBef>
              <a:spcAft>
                <a:spcPts val="0"/>
              </a:spcAft>
              <a:buSzPts val="2600"/>
              <a:buFont typeface="Montserrat"/>
              <a:buChar char="●"/>
            </a:pPr>
            <a:r>
              <a:rPr lang="en" sz="2600">
                <a:latin typeface="Montserrat"/>
                <a:ea typeface="Montserrat"/>
                <a:cs typeface="Montserrat"/>
                <a:sym typeface="Montserrat"/>
              </a:rPr>
              <a:t>Get your data! Customers, Sensors, etc...</a:t>
            </a:r>
            <a:endParaRPr sz="260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40"/>
          <p:cNvSpPr txBox="1"/>
          <p:nvPr/>
        </p:nvSpPr>
        <p:spPr>
          <a:xfrm>
            <a:off x="1042425" y="211038"/>
            <a:ext cx="7061700" cy="74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000"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1" name="Google Shape;261;p40"/>
          <p:cNvSpPr txBox="1"/>
          <p:nvPr/>
        </p:nvSpPr>
        <p:spPr>
          <a:xfrm>
            <a:off x="1109150" y="27825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2A3990"/>
                </a:solidFill>
                <a:latin typeface="Roboto"/>
                <a:ea typeface="Roboto"/>
                <a:cs typeface="Roboto"/>
                <a:sym typeface="Roboto"/>
              </a:rPr>
              <a:t>Machine Learning Process</a:t>
            </a:r>
            <a:endParaRPr sz="3000">
              <a:solidFill>
                <a:srgbClr val="2A399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2" name="Google Shape;262;p40"/>
          <p:cNvSpPr/>
          <p:nvPr/>
        </p:nvSpPr>
        <p:spPr>
          <a:xfrm>
            <a:off x="185125" y="2707875"/>
            <a:ext cx="1340400" cy="907800"/>
          </a:xfrm>
          <a:prstGeom prst="roundRect">
            <a:avLst>
              <a:gd name="adj" fmla="val 16667"/>
            </a:avLst>
          </a:prstGeom>
          <a:solidFill>
            <a:srgbClr val="20124D"/>
          </a:solidFill>
          <a:ln w="9525" cap="flat" cmpd="sng">
            <a:solidFill>
              <a:srgbClr val="3D85C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3" name="Google Shape;263;p40"/>
          <p:cNvSpPr/>
          <p:nvPr/>
        </p:nvSpPr>
        <p:spPr>
          <a:xfrm>
            <a:off x="1948450" y="2707875"/>
            <a:ext cx="1340400" cy="907800"/>
          </a:xfrm>
          <a:prstGeom prst="roundRect">
            <a:avLst>
              <a:gd name="adj" fmla="val 16667"/>
            </a:avLst>
          </a:prstGeom>
          <a:solidFill>
            <a:srgbClr val="20124D"/>
          </a:solidFill>
          <a:ln w="9525" cap="flat" cmpd="sng">
            <a:solidFill>
              <a:srgbClr val="3D85C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264" name="Google Shape;264;p40"/>
          <p:cNvCxnSpPr>
            <a:stCxn id="262" idx="3"/>
            <a:endCxn id="263" idx="1"/>
          </p:cNvCxnSpPr>
          <p:nvPr/>
        </p:nvCxnSpPr>
        <p:spPr>
          <a:xfrm>
            <a:off x="1525525" y="3161775"/>
            <a:ext cx="423000" cy="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65" name="Google Shape;265;p40"/>
          <p:cNvSpPr txBox="1"/>
          <p:nvPr/>
        </p:nvSpPr>
        <p:spPr>
          <a:xfrm>
            <a:off x="185125" y="2800650"/>
            <a:ext cx="1340400" cy="6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Data</a:t>
            </a:r>
            <a:endParaRPr sz="18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Acquisition </a:t>
            </a:r>
            <a:endParaRPr sz="18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6" name="Google Shape;266;p40"/>
          <p:cNvSpPr txBox="1"/>
          <p:nvPr/>
        </p:nvSpPr>
        <p:spPr>
          <a:xfrm>
            <a:off x="1948450" y="2800650"/>
            <a:ext cx="1340400" cy="6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Data</a:t>
            </a:r>
            <a:endParaRPr sz="18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Cleaning</a:t>
            </a:r>
            <a:endParaRPr sz="18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7" name="Google Shape;267;p40"/>
          <p:cNvSpPr txBox="1"/>
          <p:nvPr/>
        </p:nvSpPr>
        <p:spPr>
          <a:xfrm>
            <a:off x="387275" y="1161825"/>
            <a:ext cx="8455500" cy="79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93700" algn="l" rtl="0">
              <a:spcBef>
                <a:spcPts val="0"/>
              </a:spcBef>
              <a:spcAft>
                <a:spcPts val="0"/>
              </a:spcAft>
              <a:buSzPts val="2600"/>
              <a:buFont typeface="Montserrat"/>
              <a:buChar char="●"/>
            </a:pPr>
            <a:r>
              <a:rPr lang="en" sz="2600">
                <a:latin typeface="Montserrat"/>
                <a:ea typeface="Montserrat"/>
                <a:cs typeface="Montserrat"/>
                <a:sym typeface="Montserrat"/>
              </a:rPr>
              <a:t>Clean and format your data (using Pandas)</a:t>
            </a:r>
            <a:endParaRPr sz="260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41"/>
          <p:cNvSpPr txBox="1"/>
          <p:nvPr/>
        </p:nvSpPr>
        <p:spPr>
          <a:xfrm>
            <a:off x="1042425" y="211038"/>
            <a:ext cx="7061700" cy="74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000"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5" name="Google Shape;275;p41"/>
          <p:cNvSpPr txBox="1"/>
          <p:nvPr/>
        </p:nvSpPr>
        <p:spPr>
          <a:xfrm>
            <a:off x="1109150" y="27825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2A3990"/>
                </a:solidFill>
                <a:latin typeface="Roboto"/>
                <a:ea typeface="Roboto"/>
                <a:cs typeface="Roboto"/>
                <a:sym typeface="Roboto"/>
              </a:rPr>
              <a:t>Machine Learning Process</a:t>
            </a:r>
            <a:endParaRPr sz="3000">
              <a:solidFill>
                <a:srgbClr val="2A399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6" name="Google Shape;276;p41"/>
          <p:cNvSpPr/>
          <p:nvPr/>
        </p:nvSpPr>
        <p:spPr>
          <a:xfrm>
            <a:off x="185125" y="2707875"/>
            <a:ext cx="1340400" cy="907800"/>
          </a:xfrm>
          <a:prstGeom prst="roundRect">
            <a:avLst>
              <a:gd name="adj" fmla="val 16667"/>
            </a:avLst>
          </a:prstGeom>
          <a:solidFill>
            <a:srgbClr val="20124D"/>
          </a:solidFill>
          <a:ln w="9525" cap="flat" cmpd="sng">
            <a:solidFill>
              <a:srgbClr val="3D85C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7" name="Google Shape;277;p41"/>
          <p:cNvSpPr/>
          <p:nvPr/>
        </p:nvSpPr>
        <p:spPr>
          <a:xfrm>
            <a:off x="1948450" y="2707875"/>
            <a:ext cx="1340400" cy="907800"/>
          </a:xfrm>
          <a:prstGeom prst="roundRect">
            <a:avLst>
              <a:gd name="adj" fmla="val 16667"/>
            </a:avLst>
          </a:prstGeom>
          <a:solidFill>
            <a:srgbClr val="20124D"/>
          </a:solidFill>
          <a:ln w="9525" cap="flat" cmpd="sng">
            <a:solidFill>
              <a:srgbClr val="3D85C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8" name="Google Shape;278;p41"/>
          <p:cNvSpPr/>
          <p:nvPr/>
        </p:nvSpPr>
        <p:spPr>
          <a:xfrm>
            <a:off x="3813975" y="2707875"/>
            <a:ext cx="1340400" cy="907800"/>
          </a:xfrm>
          <a:prstGeom prst="roundRect">
            <a:avLst>
              <a:gd name="adj" fmla="val 16667"/>
            </a:avLst>
          </a:prstGeom>
          <a:solidFill>
            <a:srgbClr val="20124D"/>
          </a:solidFill>
          <a:ln w="9525" cap="flat" cmpd="sng">
            <a:solidFill>
              <a:srgbClr val="3D85C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9" name="Google Shape;279;p41"/>
          <p:cNvSpPr/>
          <p:nvPr/>
        </p:nvSpPr>
        <p:spPr>
          <a:xfrm>
            <a:off x="3813975" y="1562850"/>
            <a:ext cx="1340400" cy="907800"/>
          </a:xfrm>
          <a:prstGeom prst="roundRect">
            <a:avLst>
              <a:gd name="adj" fmla="val 16667"/>
            </a:avLst>
          </a:prstGeom>
          <a:solidFill>
            <a:srgbClr val="20124D"/>
          </a:solidFill>
          <a:ln w="9525" cap="flat" cmpd="sng">
            <a:solidFill>
              <a:srgbClr val="3D85C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280" name="Google Shape;280;p41"/>
          <p:cNvCxnSpPr>
            <a:stCxn id="276" idx="3"/>
            <a:endCxn id="277" idx="1"/>
          </p:cNvCxnSpPr>
          <p:nvPr/>
        </p:nvCxnSpPr>
        <p:spPr>
          <a:xfrm>
            <a:off x="1525525" y="3161775"/>
            <a:ext cx="423000" cy="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81" name="Google Shape;281;p41"/>
          <p:cNvCxnSpPr>
            <a:endCxn id="278" idx="1"/>
          </p:cNvCxnSpPr>
          <p:nvPr/>
        </p:nvCxnSpPr>
        <p:spPr>
          <a:xfrm>
            <a:off x="3288975" y="3161775"/>
            <a:ext cx="525000" cy="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82" name="Google Shape;282;p41"/>
          <p:cNvCxnSpPr>
            <a:stCxn id="277" idx="0"/>
            <a:endCxn id="279" idx="1"/>
          </p:cNvCxnSpPr>
          <p:nvPr/>
        </p:nvCxnSpPr>
        <p:spPr>
          <a:xfrm rot="-5400000">
            <a:off x="2870650" y="1764675"/>
            <a:ext cx="691200" cy="1195200"/>
          </a:xfrm>
          <a:prstGeom prst="curvedConnector2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83" name="Google Shape;283;p41"/>
          <p:cNvSpPr txBox="1"/>
          <p:nvPr/>
        </p:nvSpPr>
        <p:spPr>
          <a:xfrm>
            <a:off x="185125" y="2800650"/>
            <a:ext cx="1340400" cy="6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Data</a:t>
            </a:r>
            <a:endParaRPr sz="18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Acquisition </a:t>
            </a:r>
            <a:endParaRPr sz="18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4" name="Google Shape;284;p41"/>
          <p:cNvSpPr txBox="1"/>
          <p:nvPr/>
        </p:nvSpPr>
        <p:spPr>
          <a:xfrm>
            <a:off x="1948450" y="2800650"/>
            <a:ext cx="1340400" cy="6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Data</a:t>
            </a:r>
            <a:endParaRPr sz="18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Cleaning</a:t>
            </a:r>
            <a:endParaRPr sz="18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5" name="Google Shape;285;p41"/>
          <p:cNvSpPr txBox="1"/>
          <p:nvPr/>
        </p:nvSpPr>
        <p:spPr>
          <a:xfrm>
            <a:off x="3813975" y="1636650"/>
            <a:ext cx="1340400" cy="6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Test</a:t>
            </a:r>
            <a:endParaRPr sz="18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Data</a:t>
            </a:r>
            <a:endParaRPr sz="18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6" name="Google Shape;286;p41"/>
          <p:cNvSpPr txBox="1"/>
          <p:nvPr/>
        </p:nvSpPr>
        <p:spPr>
          <a:xfrm>
            <a:off x="3813975" y="2631663"/>
            <a:ext cx="1340400" cy="6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Training</a:t>
            </a:r>
            <a:endParaRPr sz="18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Data</a:t>
            </a:r>
            <a:endParaRPr sz="18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42"/>
          <p:cNvSpPr txBox="1"/>
          <p:nvPr/>
        </p:nvSpPr>
        <p:spPr>
          <a:xfrm>
            <a:off x="1042425" y="211038"/>
            <a:ext cx="7061700" cy="74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000"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4" name="Google Shape;294;p42"/>
          <p:cNvSpPr txBox="1"/>
          <p:nvPr/>
        </p:nvSpPr>
        <p:spPr>
          <a:xfrm>
            <a:off x="1109150" y="27825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2A3990"/>
                </a:solidFill>
                <a:latin typeface="Roboto"/>
                <a:ea typeface="Roboto"/>
                <a:cs typeface="Roboto"/>
                <a:sym typeface="Roboto"/>
              </a:rPr>
              <a:t>Machine Learning Process</a:t>
            </a:r>
            <a:endParaRPr sz="3000">
              <a:solidFill>
                <a:srgbClr val="2A399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5" name="Google Shape;295;p42"/>
          <p:cNvSpPr/>
          <p:nvPr/>
        </p:nvSpPr>
        <p:spPr>
          <a:xfrm>
            <a:off x="185125" y="2707875"/>
            <a:ext cx="1340400" cy="907800"/>
          </a:xfrm>
          <a:prstGeom prst="roundRect">
            <a:avLst>
              <a:gd name="adj" fmla="val 16667"/>
            </a:avLst>
          </a:prstGeom>
          <a:solidFill>
            <a:srgbClr val="20124D"/>
          </a:solidFill>
          <a:ln w="9525" cap="flat" cmpd="sng">
            <a:solidFill>
              <a:srgbClr val="3D85C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6" name="Google Shape;296;p42"/>
          <p:cNvSpPr/>
          <p:nvPr/>
        </p:nvSpPr>
        <p:spPr>
          <a:xfrm>
            <a:off x="1948450" y="2707875"/>
            <a:ext cx="1340400" cy="907800"/>
          </a:xfrm>
          <a:prstGeom prst="roundRect">
            <a:avLst>
              <a:gd name="adj" fmla="val 16667"/>
            </a:avLst>
          </a:prstGeom>
          <a:solidFill>
            <a:srgbClr val="20124D"/>
          </a:solidFill>
          <a:ln w="9525" cap="flat" cmpd="sng">
            <a:solidFill>
              <a:srgbClr val="3D85C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7" name="Google Shape;297;p42"/>
          <p:cNvSpPr/>
          <p:nvPr/>
        </p:nvSpPr>
        <p:spPr>
          <a:xfrm>
            <a:off x="3813975" y="2707875"/>
            <a:ext cx="1340400" cy="907800"/>
          </a:xfrm>
          <a:prstGeom prst="roundRect">
            <a:avLst>
              <a:gd name="adj" fmla="val 16667"/>
            </a:avLst>
          </a:prstGeom>
          <a:solidFill>
            <a:srgbClr val="C27BA0"/>
          </a:solidFill>
          <a:ln w="9525" cap="flat" cmpd="sng">
            <a:solidFill>
              <a:srgbClr val="3D85C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8" name="Google Shape;298;p42"/>
          <p:cNvSpPr/>
          <p:nvPr/>
        </p:nvSpPr>
        <p:spPr>
          <a:xfrm>
            <a:off x="3813975" y="1562850"/>
            <a:ext cx="1340400" cy="907800"/>
          </a:xfrm>
          <a:prstGeom prst="roundRect">
            <a:avLst>
              <a:gd name="adj" fmla="val 16667"/>
            </a:avLst>
          </a:prstGeom>
          <a:solidFill>
            <a:srgbClr val="20124D"/>
          </a:solidFill>
          <a:ln w="9525" cap="flat" cmpd="sng">
            <a:solidFill>
              <a:srgbClr val="3D85C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299" name="Google Shape;299;p42"/>
          <p:cNvCxnSpPr>
            <a:stCxn id="295" idx="3"/>
            <a:endCxn id="296" idx="1"/>
          </p:cNvCxnSpPr>
          <p:nvPr/>
        </p:nvCxnSpPr>
        <p:spPr>
          <a:xfrm>
            <a:off x="1525525" y="3161775"/>
            <a:ext cx="423000" cy="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00" name="Google Shape;300;p42"/>
          <p:cNvCxnSpPr>
            <a:endCxn id="297" idx="1"/>
          </p:cNvCxnSpPr>
          <p:nvPr/>
        </p:nvCxnSpPr>
        <p:spPr>
          <a:xfrm>
            <a:off x="3288975" y="3161775"/>
            <a:ext cx="525000" cy="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01" name="Google Shape;301;p42"/>
          <p:cNvCxnSpPr>
            <a:stCxn id="296" idx="0"/>
            <a:endCxn id="298" idx="1"/>
          </p:cNvCxnSpPr>
          <p:nvPr/>
        </p:nvCxnSpPr>
        <p:spPr>
          <a:xfrm rot="-5400000">
            <a:off x="2870650" y="1764675"/>
            <a:ext cx="691200" cy="1195200"/>
          </a:xfrm>
          <a:prstGeom prst="curvedConnector2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302" name="Google Shape;302;p42"/>
          <p:cNvSpPr txBox="1"/>
          <p:nvPr/>
        </p:nvSpPr>
        <p:spPr>
          <a:xfrm>
            <a:off x="185125" y="2800650"/>
            <a:ext cx="1340400" cy="6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Data</a:t>
            </a:r>
            <a:endParaRPr sz="18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Acquisition </a:t>
            </a:r>
            <a:endParaRPr sz="18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3" name="Google Shape;303;p42"/>
          <p:cNvSpPr txBox="1"/>
          <p:nvPr/>
        </p:nvSpPr>
        <p:spPr>
          <a:xfrm>
            <a:off x="1948450" y="2800650"/>
            <a:ext cx="1340400" cy="6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Data</a:t>
            </a:r>
            <a:endParaRPr sz="18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Cleaning</a:t>
            </a:r>
            <a:endParaRPr sz="18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4" name="Google Shape;304;p42"/>
          <p:cNvSpPr txBox="1"/>
          <p:nvPr/>
        </p:nvSpPr>
        <p:spPr>
          <a:xfrm>
            <a:off x="3813975" y="1636650"/>
            <a:ext cx="1340400" cy="6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Test</a:t>
            </a:r>
            <a:endParaRPr sz="18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Data</a:t>
            </a:r>
            <a:endParaRPr sz="18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5" name="Google Shape;305;p42"/>
          <p:cNvSpPr txBox="1"/>
          <p:nvPr/>
        </p:nvSpPr>
        <p:spPr>
          <a:xfrm>
            <a:off x="3813975" y="2631663"/>
            <a:ext cx="1340400" cy="6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Model</a:t>
            </a:r>
            <a:endParaRPr sz="18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Training &amp;</a:t>
            </a:r>
            <a:endParaRPr sz="18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Building</a:t>
            </a:r>
            <a:endParaRPr sz="18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43"/>
          <p:cNvSpPr txBox="1"/>
          <p:nvPr/>
        </p:nvSpPr>
        <p:spPr>
          <a:xfrm>
            <a:off x="1042425" y="211038"/>
            <a:ext cx="7061700" cy="74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000"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3" name="Google Shape;313;p43"/>
          <p:cNvSpPr txBox="1"/>
          <p:nvPr/>
        </p:nvSpPr>
        <p:spPr>
          <a:xfrm>
            <a:off x="1109150" y="27825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2A3990"/>
                </a:solidFill>
                <a:latin typeface="Roboto"/>
                <a:ea typeface="Roboto"/>
                <a:cs typeface="Roboto"/>
                <a:sym typeface="Roboto"/>
              </a:rPr>
              <a:t>Machine Learning Process</a:t>
            </a:r>
            <a:endParaRPr sz="3000">
              <a:solidFill>
                <a:srgbClr val="2A399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4" name="Google Shape;314;p43"/>
          <p:cNvSpPr/>
          <p:nvPr/>
        </p:nvSpPr>
        <p:spPr>
          <a:xfrm>
            <a:off x="185125" y="2707875"/>
            <a:ext cx="1340400" cy="907800"/>
          </a:xfrm>
          <a:prstGeom prst="roundRect">
            <a:avLst>
              <a:gd name="adj" fmla="val 16667"/>
            </a:avLst>
          </a:prstGeom>
          <a:solidFill>
            <a:srgbClr val="20124D"/>
          </a:solidFill>
          <a:ln w="9525" cap="flat" cmpd="sng">
            <a:solidFill>
              <a:srgbClr val="3D85C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5" name="Google Shape;315;p43"/>
          <p:cNvSpPr/>
          <p:nvPr/>
        </p:nvSpPr>
        <p:spPr>
          <a:xfrm>
            <a:off x="1948450" y="2707875"/>
            <a:ext cx="1340400" cy="907800"/>
          </a:xfrm>
          <a:prstGeom prst="roundRect">
            <a:avLst>
              <a:gd name="adj" fmla="val 16667"/>
            </a:avLst>
          </a:prstGeom>
          <a:solidFill>
            <a:srgbClr val="20124D"/>
          </a:solidFill>
          <a:ln w="9525" cap="flat" cmpd="sng">
            <a:solidFill>
              <a:srgbClr val="3D85C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6" name="Google Shape;316;p43"/>
          <p:cNvSpPr/>
          <p:nvPr/>
        </p:nvSpPr>
        <p:spPr>
          <a:xfrm>
            <a:off x="3813975" y="2707875"/>
            <a:ext cx="1340400" cy="907800"/>
          </a:xfrm>
          <a:prstGeom prst="roundRect">
            <a:avLst>
              <a:gd name="adj" fmla="val 16667"/>
            </a:avLst>
          </a:prstGeom>
          <a:solidFill>
            <a:srgbClr val="20124D"/>
          </a:solidFill>
          <a:ln w="9525" cap="flat" cmpd="sng">
            <a:solidFill>
              <a:srgbClr val="3D85C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7" name="Google Shape;317;p43"/>
          <p:cNvSpPr/>
          <p:nvPr/>
        </p:nvSpPr>
        <p:spPr>
          <a:xfrm>
            <a:off x="5628400" y="2707875"/>
            <a:ext cx="1340400" cy="907800"/>
          </a:xfrm>
          <a:prstGeom prst="roundRect">
            <a:avLst>
              <a:gd name="adj" fmla="val 16667"/>
            </a:avLst>
          </a:prstGeom>
          <a:solidFill>
            <a:srgbClr val="C27BA0"/>
          </a:solidFill>
          <a:ln w="9525" cap="flat" cmpd="sng">
            <a:solidFill>
              <a:srgbClr val="351C7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8" name="Google Shape;318;p43"/>
          <p:cNvSpPr/>
          <p:nvPr/>
        </p:nvSpPr>
        <p:spPr>
          <a:xfrm>
            <a:off x="3813975" y="1562850"/>
            <a:ext cx="1340400" cy="907800"/>
          </a:xfrm>
          <a:prstGeom prst="roundRect">
            <a:avLst>
              <a:gd name="adj" fmla="val 16667"/>
            </a:avLst>
          </a:prstGeom>
          <a:solidFill>
            <a:srgbClr val="C27BA0"/>
          </a:solidFill>
          <a:ln w="9525" cap="flat" cmpd="sng">
            <a:solidFill>
              <a:srgbClr val="351C7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319" name="Google Shape;319;p43"/>
          <p:cNvCxnSpPr>
            <a:stCxn id="314" idx="3"/>
            <a:endCxn id="315" idx="1"/>
          </p:cNvCxnSpPr>
          <p:nvPr/>
        </p:nvCxnSpPr>
        <p:spPr>
          <a:xfrm>
            <a:off x="1525525" y="3161775"/>
            <a:ext cx="423000" cy="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20" name="Google Shape;320;p43"/>
          <p:cNvCxnSpPr>
            <a:endCxn id="316" idx="1"/>
          </p:cNvCxnSpPr>
          <p:nvPr/>
        </p:nvCxnSpPr>
        <p:spPr>
          <a:xfrm>
            <a:off x="3288975" y="3161775"/>
            <a:ext cx="525000" cy="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21" name="Google Shape;321;p43"/>
          <p:cNvCxnSpPr>
            <a:endCxn id="317" idx="1"/>
          </p:cNvCxnSpPr>
          <p:nvPr/>
        </p:nvCxnSpPr>
        <p:spPr>
          <a:xfrm>
            <a:off x="5154400" y="3161775"/>
            <a:ext cx="474000" cy="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22" name="Google Shape;322;p43"/>
          <p:cNvCxnSpPr>
            <a:stCxn id="315" idx="0"/>
            <a:endCxn id="318" idx="1"/>
          </p:cNvCxnSpPr>
          <p:nvPr/>
        </p:nvCxnSpPr>
        <p:spPr>
          <a:xfrm rot="-5400000">
            <a:off x="2870650" y="1764675"/>
            <a:ext cx="691200" cy="1195200"/>
          </a:xfrm>
          <a:prstGeom prst="curvedConnector2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23" name="Google Shape;323;p43"/>
          <p:cNvCxnSpPr>
            <a:stCxn id="318" idx="3"/>
            <a:endCxn id="317" idx="0"/>
          </p:cNvCxnSpPr>
          <p:nvPr/>
        </p:nvCxnSpPr>
        <p:spPr>
          <a:xfrm>
            <a:off x="5154375" y="2016750"/>
            <a:ext cx="1144200" cy="691200"/>
          </a:xfrm>
          <a:prstGeom prst="curvedConnector2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324" name="Google Shape;324;p43"/>
          <p:cNvSpPr txBox="1"/>
          <p:nvPr/>
        </p:nvSpPr>
        <p:spPr>
          <a:xfrm>
            <a:off x="185125" y="2800650"/>
            <a:ext cx="1340400" cy="6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Data</a:t>
            </a:r>
            <a:endParaRPr sz="18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Acquisition </a:t>
            </a:r>
            <a:endParaRPr sz="18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25" name="Google Shape;325;p43"/>
          <p:cNvSpPr txBox="1"/>
          <p:nvPr/>
        </p:nvSpPr>
        <p:spPr>
          <a:xfrm>
            <a:off x="1948450" y="2800650"/>
            <a:ext cx="1340400" cy="6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Data</a:t>
            </a:r>
            <a:endParaRPr sz="18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Cleaning</a:t>
            </a:r>
            <a:endParaRPr sz="18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26" name="Google Shape;326;p43"/>
          <p:cNvSpPr txBox="1"/>
          <p:nvPr/>
        </p:nvSpPr>
        <p:spPr>
          <a:xfrm>
            <a:off x="3813975" y="1636650"/>
            <a:ext cx="1340400" cy="6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Test</a:t>
            </a:r>
            <a:endParaRPr sz="18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Data</a:t>
            </a:r>
            <a:endParaRPr sz="18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27" name="Google Shape;327;p43"/>
          <p:cNvSpPr txBox="1"/>
          <p:nvPr/>
        </p:nvSpPr>
        <p:spPr>
          <a:xfrm>
            <a:off x="3813975" y="2631663"/>
            <a:ext cx="1340400" cy="6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Model</a:t>
            </a:r>
            <a:endParaRPr sz="18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Training &amp;</a:t>
            </a:r>
            <a:endParaRPr sz="18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Building</a:t>
            </a:r>
            <a:endParaRPr sz="18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28" name="Google Shape;328;p43"/>
          <p:cNvSpPr txBox="1"/>
          <p:nvPr/>
        </p:nvSpPr>
        <p:spPr>
          <a:xfrm>
            <a:off x="5628400" y="2781713"/>
            <a:ext cx="1340400" cy="6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Model</a:t>
            </a:r>
            <a:endParaRPr sz="18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Testing</a:t>
            </a:r>
            <a:endParaRPr sz="18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44"/>
          <p:cNvSpPr txBox="1"/>
          <p:nvPr/>
        </p:nvSpPr>
        <p:spPr>
          <a:xfrm>
            <a:off x="1042425" y="211038"/>
            <a:ext cx="7061700" cy="74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000"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6" name="Google Shape;336;p44"/>
          <p:cNvSpPr txBox="1"/>
          <p:nvPr/>
        </p:nvSpPr>
        <p:spPr>
          <a:xfrm>
            <a:off x="1109150" y="27825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2A3990"/>
                </a:solidFill>
                <a:latin typeface="Roboto"/>
                <a:ea typeface="Roboto"/>
                <a:cs typeface="Roboto"/>
                <a:sym typeface="Roboto"/>
              </a:rPr>
              <a:t>Machine Learning Process</a:t>
            </a:r>
            <a:endParaRPr sz="3000">
              <a:solidFill>
                <a:srgbClr val="2A399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7" name="Google Shape;337;p44"/>
          <p:cNvSpPr/>
          <p:nvPr/>
        </p:nvSpPr>
        <p:spPr>
          <a:xfrm>
            <a:off x="185125" y="2707875"/>
            <a:ext cx="1340400" cy="907800"/>
          </a:xfrm>
          <a:prstGeom prst="roundRect">
            <a:avLst>
              <a:gd name="adj" fmla="val 16667"/>
            </a:avLst>
          </a:prstGeom>
          <a:solidFill>
            <a:srgbClr val="20124D"/>
          </a:solidFill>
          <a:ln w="9525" cap="flat" cmpd="sng">
            <a:solidFill>
              <a:srgbClr val="3D85C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8" name="Google Shape;338;p44"/>
          <p:cNvSpPr/>
          <p:nvPr/>
        </p:nvSpPr>
        <p:spPr>
          <a:xfrm>
            <a:off x="1948450" y="2707875"/>
            <a:ext cx="1340400" cy="907800"/>
          </a:xfrm>
          <a:prstGeom prst="roundRect">
            <a:avLst>
              <a:gd name="adj" fmla="val 16667"/>
            </a:avLst>
          </a:prstGeom>
          <a:solidFill>
            <a:srgbClr val="20124D"/>
          </a:solidFill>
          <a:ln w="9525" cap="flat" cmpd="sng">
            <a:solidFill>
              <a:srgbClr val="3D85C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9" name="Google Shape;339;p44"/>
          <p:cNvSpPr/>
          <p:nvPr/>
        </p:nvSpPr>
        <p:spPr>
          <a:xfrm>
            <a:off x="3813975" y="2707875"/>
            <a:ext cx="1340400" cy="907800"/>
          </a:xfrm>
          <a:prstGeom prst="roundRect">
            <a:avLst>
              <a:gd name="adj" fmla="val 16667"/>
            </a:avLst>
          </a:prstGeom>
          <a:solidFill>
            <a:srgbClr val="20124D"/>
          </a:solidFill>
          <a:ln w="9525" cap="flat" cmpd="sng">
            <a:solidFill>
              <a:srgbClr val="3D85C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0" name="Google Shape;340;p44"/>
          <p:cNvSpPr/>
          <p:nvPr/>
        </p:nvSpPr>
        <p:spPr>
          <a:xfrm>
            <a:off x="5628400" y="2707875"/>
            <a:ext cx="1340400" cy="907800"/>
          </a:xfrm>
          <a:prstGeom prst="roundRect">
            <a:avLst>
              <a:gd name="adj" fmla="val 16667"/>
            </a:avLst>
          </a:prstGeom>
          <a:solidFill>
            <a:srgbClr val="C27BA0"/>
          </a:solidFill>
          <a:ln w="9525" cap="flat" cmpd="sng">
            <a:solidFill>
              <a:srgbClr val="351C7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1" name="Google Shape;341;p44"/>
          <p:cNvSpPr/>
          <p:nvPr/>
        </p:nvSpPr>
        <p:spPr>
          <a:xfrm>
            <a:off x="3813975" y="1562850"/>
            <a:ext cx="1340400" cy="907800"/>
          </a:xfrm>
          <a:prstGeom prst="roundRect">
            <a:avLst>
              <a:gd name="adj" fmla="val 16667"/>
            </a:avLst>
          </a:prstGeom>
          <a:solidFill>
            <a:srgbClr val="C27BA0"/>
          </a:solidFill>
          <a:ln w="9525" cap="flat" cmpd="sng">
            <a:solidFill>
              <a:srgbClr val="351C7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342" name="Google Shape;342;p44"/>
          <p:cNvCxnSpPr>
            <a:stCxn id="337" idx="3"/>
            <a:endCxn id="338" idx="1"/>
          </p:cNvCxnSpPr>
          <p:nvPr/>
        </p:nvCxnSpPr>
        <p:spPr>
          <a:xfrm>
            <a:off x="1525525" y="3161775"/>
            <a:ext cx="423000" cy="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43" name="Google Shape;343;p44"/>
          <p:cNvCxnSpPr>
            <a:endCxn id="339" idx="1"/>
          </p:cNvCxnSpPr>
          <p:nvPr/>
        </p:nvCxnSpPr>
        <p:spPr>
          <a:xfrm>
            <a:off x="3288975" y="3161775"/>
            <a:ext cx="525000" cy="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44" name="Google Shape;344;p44"/>
          <p:cNvCxnSpPr>
            <a:endCxn id="340" idx="1"/>
          </p:cNvCxnSpPr>
          <p:nvPr/>
        </p:nvCxnSpPr>
        <p:spPr>
          <a:xfrm>
            <a:off x="5154400" y="3161775"/>
            <a:ext cx="474000" cy="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45" name="Google Shape;345;p44"/>
          <p:cNvCxnSpPr>
            <a:stCxn id="338" idx="0"/>
            <a:endCxn id="341" idx="1"/>
          </p:cNvCxnSpPr>
          <p:nvPr/>
        </p:nvCxnSpPr>
        <p:spPr>
          <a:xfrm rot="-5400000">
            <a:off x="2870650" y="1764675"/>
            <a:ext cx="691200" cy="1195200"/>
          </a:xfrm>
          <a:prstGeom prst="curvedConnector2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46" name="Google Shape;346;p44"/>
          <p:cNvCxnSpPr>
            <a:stCxn id="341" idx="3"/>
            <a:endCxn id="340" idx="0"/>
          </p:cNvCxnSpPr>
          <p:nvPr/>
        </p:nvCxnSpPr>
        <p:spPr>
          <a:xfrm>
            <a:off x="5154375" y="2016750"/>
            <a:ext cx="1144200" cy="691200"/>
          </a:xfrm>
          <a:prstGeom prst="curvedConnector2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347" name="Google Shape;347;p44"/>
          <p:cNvSpPr txBox="1"/>
          <p:nvPr/>
        </p:nvSpPr>
        <p:spPr>
          <a:xfrm>
            <a:off x="185125" y="2800650"/>
            <a:ext cx="1340400" cy="6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Data</a:t>
            </a:r>
            <a:endParaRPr sz="18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Acquisition </a:t>
            </a:r>
            <a:endParaRPr sz="18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8" name="Google Shape;348;p44"/>
          <p:cNvSpPr txBox="1"/>
          <p:nvPr/>
        </p:nvSpPr>
        <p:spPr>
          <a:xfrm>
            <a:off x="1948450" y="2800650"/>
            <a:ext cx="1340400" cy="6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Data</a:t>
            </a:r>
            <a:endParaRPr sz="18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Cleaning</a:t>
            </a:r>
            <a:endParaRPr sz="18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9" name="Google Shape;349;p44"/>
          <p:cNvSpPr txBox="1"/>
          <p:nvPr/>
        </p:nvSpPr>
        <p:spPr>
          <a:xfrm>
            <a:off x="3813975" y="1636650"/>
            <a:ext cx="1340400" cy="6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Test</a:t>
            </a:r>
            <a:endParaRPr sz="18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Data</a:t>
            </a:r>
            <a:endParaRPr sz="18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50" name="Google Shape;350;p44"/>
          <p:cNvSpPr txBox="1"/>
          <p:nvPr/>
        </p:nvSpPr>
        <p:spPr>
          <a:xfrm>
            <a:off x="3813975" y="2631663"/>
            <a:ext cx="1340400" cy="6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Model</a:t>
            </a:r>
            <a:endParaRPr sz="18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Training &amp;</a:t>
            </a:r>
            <a:endParaRPr sz="18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Building</a:t>
            </a:r>
            <a:endParaRPr sz="18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51" name="Google Shape;351;p44"/>
          <p:cNvSpPr txBox="1"/>
          <p:nvPr/>
        </p:nvSpPr>
        <p:spPr>
          <a:xfrm>
            <a:off x="5628400" y="2781713"/>
            <a:ext cx="1340400" cy="6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Model</a:t>
            </a:r>
            <a:endParaRPr sz="18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Testing</a:t>
            </a:r>
            <a:endParaRPr sz="18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52" name="Google Shape;352;p44"/>
          <p:cNvCxnSpPr/>
          <p:nvPr/>
        </p:nvCxnSpPr>
        <p:spPr>
          <a:xfrm rot="5400000">
            <a:off x="5391100" y="2708775"/>
            <a:ext cx="600" cy="1814400"/>
          </a:xfrm>
          <a:prstGeom prst="curvedConnector3">
            <a:avLst>
              <a:gd name="adj1" fmla="val 39687500"/>
            </a:avLst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353" name="Google Shape;353;p44"/>
          <p:cNvSpPr txBox="1"/>
          <p:nvPr/>
        </p:nvSpPr>
        <p:spPr>
          <a:xfrm>
            <a:off x="4811450" y="3803275"/>
            <a:ext cx="1340400" cy="69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Montserrat"/>
                <a:ea typeface="Montserrat"/>
                <a:cs typeface="Montserrat"/>
                <a:sym typeface="Montserrat"/>
              </a:rPr>
              <a:t>Adjust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Montserrat"/>
                <a:ea typeface="Montserrat"/>
                <a:cs typeface="Montserrat"/>
                <a:sym typeface="Montserrat"/>
              </a:rPr>
              <a:t>Model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Montserrat"/>
                <a:ea typeface="Montserrat"/>
                <a:cs typeface="Montserrat"/>
                <a:sym typeface="Montserrat"/>
              </a:rPr>
              <a:t>Parameters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45"/>
          <p:cNvSpPr txBox="1"/>
          <p:nvPr/>
        </p:nvSpPr>
        <p:spPr>
          <a:xfrm>
            <a:off x="1042425" y="211038"/>
            <a:ext cx="7061700" cy="74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000"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61" name="Google Shape;361;p45"/>
          <p:cNvSpPr txBox="1"/>
          <p:nvPr/>
        </p:nvSpPr>
        <p:spPr>
          <a:xfrm>
            <a:off x="1109150" y="27825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2A3990"/>
                </a:solidFill>
                <a:latin typeface="Roboto"/>
                <a:ea typeface="Roboto"/>
                <a:cs typeface="Roboto"/>
                <a:sym typeface="Roboto"/>
              </a:rPr>
              <a:t>Machine Learning Process</a:t>
            </a:r>
            <a:endParaRPr sz="3000">
              <a:solidFill>
                <a:srgbClr val="2A399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62" name="Google Shape;362;p45"/>
          <p:cNvSpPr/>
          <p:nvPr/>
        </p:nvSpPr>
        <p:spPr>
          <a:xfrm>
            <a:off x="185125" y="2707875"/>
            <a:ext cx="1340400" cy="907800"/>
          </a:xfrm>
          <a:prstGeom prst="roundRect">
            <a:avLst>
              <a:gd name="adj" fmla="val 16667"/>
            </a:avLst>
          </a:prstGeom>
          <a:solidFill>
            <a:srgbClr val="20124D"/>
          </a:solidFill>
          <a:ln w="9525" cap="flat" cmpd="sng">
            <a:solidFill>
              <a:srgbClr val="3D85C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3" name="Google Shape;363;p45"/>
          <p:cNvSpPr/>
          <p:nvPr/>
        </p:nvSpPr>
        <p:spPr>
          <a:xfrm>
            <a:off x="1948450" y="2707875"/>
            <a:ext cx="1340400" cy="907800"/>
          </a:xfrm>
          <a:prstGeom prst="roundRect">
            <a:avLst>
              <a:gd name="adj" fmla="val 16667"/>
            </a:avLst>
          </a:prstGeom>
          <a:solidFill>
            <a:srgbClr val="20124D"/>
          </a:solidFill>
          <a:ln w="9525" cap="flat" cmpd="sng">
            <a:solidFill>
              <a:srgbClr val="3D85C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4" name="Google Shape;364;p45"/>
          <p:cNvSpPr/>
          <p:nvPr/>
        </p:nvSpPr>
        <p:spPr>
          <a:xfrm>
            <a:off x="3813975" y="2707875"/>
            <a:ext cx="1340400" cy="907800"/>
          </a:xfrm>
          <a:prstGeom prst="roundRect">
            <a:avLst>
              <a:gd name="adj" fmla="val 16667"/>
            </a:avLst>
          </a:prstGeom>
          <a:solidFill>
            <a:srgbClr val="20124D"/>
          </a:solidFill>
          <a:ln w="9525" cap="flat" cmpd="sng">
            <a:solidFill>
              <a:srgbClr val="3D85C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5" name="Google Shape;365;p45"/>
          <p:cNvSpPr/>
          <p:nvPr/>
        </p:nvSpPr>
        <p:spPr>
          <a:xfrm>
            <a:off x="5628400" y="2707875"/>
            <a:ext cx="1340400" cy="907800"/>
          </a:xfrm>
          <a:prstGeom prst="roundRect">
            <a:avLst>
              <a:gd name="adj" fmla="val 16667"/>
            </a:avLst>
          </a:prstGeom>
          <a:solidFill>
            <a:srgbClr val="20124D"/>
          </a:solidFill>
          <a:ln w="9525" cap="flat" cmpd="sng">
            <a:solidFill>
              <a:srgbClr val="3D85C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6" name="Google Shape;366;p45"/>
          <p:cNvSpPr/>
          <p:nvPr/>
        </p:nvSpPr>
        <p:spPr>
          <a:xfrm>
            <a:off x="7442825" y="2707875"/>
            <a:ext cx="1340400" cy="907800"/>
          </a:xfrm>
          <a:prstGeom prst="roundRect">
            <a:avLst>
              <a:gd name="adj" fmla="val 16667"/>
            </a:avLst>
          </a:prstGeom>
          <a:solidFill>
            <a:srgbClr val="20124D"/>
          </a:solidFill>
          <a:ln w="9525" cap="flat" cmpd="sng">
            <a:solidFill>
              <a:srgbClr val="3D85C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7" name="Google Shape;367;p45"/>
          <p:cNvSpPr/>
          <p:nvPr/>
        </p:nvSpPr>
        <p:spPr>
          <a:xfrm>
            <a:off x="3813975" y="1562850"/>
            <a:ext cx="1340400" cy="907800"/>
          </a:xfrm>
          <a:prstGeom prst="roundRect">
            <a:avLst>
              <a:gd name="adj" fmla="val 16667"/>
            </a:avLst>
          </a:prstGeom>
          <a:solidFill>
            <a:srgbClr val="20124D"/>
          </a:solidFill>
          <a:ln w="9525" cap="flat" cmpd="sng">
            <a:solidFill>
              <a:srgbClr val="3D85C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368" name="Google Shape;368;p45"/>
          <p:cNvCxnSpPr>
            <a:stCxn id="362" idx="3"/>
            <a:endCxn id="363" idx="1"/>
          </p:cNvCxnSpPr>
          <p:nvPr/>
        </p:nvCxnSpPr>
        <p:spPr>
          <a:xfrm>
            <a:off x="1525525" y="3161775"/>
            <a:ext cx="423000" cy="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69" name="Google Shape;369;p45"/>
          <p:cNvCxnSpPr>
            <a:endCxn id="364" idx="1"/>
          </p:cNvCxnSpPr>
          <p:nvPr/>
        </p:nvCxnSpPr>
        <p:spPr>
          <a:xfrm>
            <a:off x="3288975" y="3161775"/>
            <a:ext cx="525000" cy="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70" name="Google Shape;370;p45"/>
          <p:cNvCxnSpPr>
            <a:endCxn id="365" idx="1"/>
          </p:cNvCxnSpPr>
          <p:nvPr/>
        </p:nvCxnSpPr>
        <p:spPr>
          <a:xfrm>
            <a:off x="5154400" y="3161775"/>
            <a:ext cx="474000" cy="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71" name="Google Shape;371;p45"/>
          <p:cNvCxnSpPr>
            <a:endCxn id="366" idx="1"/>
          </p:cNvCxnSpPr>
          <p:nvPr/>
        </p:nvCxnSpPr>
        <p:spPr>
          <a:xfrm>
            <a:off x="6968825" y="3161775"/>
            <a:ext cx="474000" cy="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72" name="Google Shape;372;p45"/>
          <p:cNvCxnSpPr>
            <a:stCxn id="365" idx="2"/>
            <a:endCxn id="364" idx="2"/>
          </p:cNvCxnSpPr>
          <p:nvPr/>
        </p:nvCxnSpPr>
        <p:spPr>
          <a:xfrm rot="5400000">
            <a:off x="5391100" y="2708775"/>
            <a:ext cx="600" cy="1814400"/>
          </a:xfrm>
          <a:prstGeom prst="curvedConnector3">
            <a:avLst>
              <a:gd name="adj1" fmla="val 39687500"/>
            </a:avLst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73" name="Google Shape;373;p45"/>
          <p:cNvCxnSpPr>
            <a:stCxn id="363" idx="0"/>
            <a:endCxn id="367" idx="1"/>
          </p:cNvCxnSpPr>
          <p:nvPr/>
        </p:nvCxnSpPr>
        <p:spPr>
          <a:xfrm rot="-5400000">
            <a:off x="2870650" y="1764675"/>
            <a:ext cx="691200" cy="1195200"/>
          </a:xfrm>
          <a:prstGeom prst="curvedConnector2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74" name="Google Shape;374;p45"/>
          <p:cNvCxnSpPr>
            <a:stCxn id="367" idx="3"/>
            <a:endCxn id="365" idx="0"/>
          </p:cNvCxnSpPr>
          <p:nvPr/>
        </p:nvCxnSpPr>
        <p:spPr>
          <a:xfrm>
            <a:off x="5154375" y="2016750"/>
            <a:ext cx="1144200" cy="691200"/>
          </a:xfrm>
          <a:prstGeom prst="curvedConnector2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375" name="Google Shape;375;p45"/>
          <p:cNvSpPr txBox="1"/>
          <p:nvPr/>
        </p:nvSpPr>
        <p:spPr>
          <a:xfrm>
            <a:off x="185125" y="2800650"/>
            <a:ext cx="1340400" cy="6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Data</a:t>
            </a:r>
            <a:endParaRPr sz="18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Acquisition </a:t>
            </a:r>
            <a:endParaRPr sz="18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76" name="Google Shape;376;p45"/>
          <p:cNvSpPr txBox="1"/>
          <p:nvPr/>
        </p:nvSpPr>
        <p:spPr>
          <a:xfrm>
            <a:off x="1948450" y="2800650"/>
            <a:ext cx="1340400" cy="6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Data</a:t>
            </a:r>
            <a:endParaRPr sz="18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Cleaning</a:t>
            </a:r>
            <a:endParaRPr sz="18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77" name="Google Shape;377;p45"/>
          <p:cNvSpPr txBox="1"/>
          <p:nvPr/>
        </p:nvSpPr>
        <p:spPr>
          <a:xfrm>
            <a:off x="3813975" y="1636650"/>
            <a:ext cx="1340400" cy="6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Test</a:t>
            </a:r>
            <a:endParaRPr sz="18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Data</a:t>
            </a:r>
            <a:endParaRPr sz="18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78" name="Google Shape;378;p45"/>
          <p:cNvSpPr txBox="1"/>
          <p:nvPr/>
        </p:nvSpPr>
        <p:spPr>
          <a:xfrm>
            <a:off x="3813975" y="2631663"/>
            <a:ext cx="1340400" cy="6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Model</a:t>
            </a:r>
            <a:endParaRPr sz="18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Training &amp;</a:t>
            </a:r>
            <a:endParaRPr sz="18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Building</a:t>
            </a:r>
            <a:endParaRPr sz="18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79" name="Google Shape;379;p45"/>
          <p:cNvSpPr txBox="1"/>
          <p:nvPr/>
        </p:nvSpPr>
        <p:spPr>
          <a:xfrm>
            <a:off x="5628400" y="2781713"/>
            <a:ext cx="1340400" cy="6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Model</a:t>
            </a:r>
            <a:endParaRPr sz="18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Testing</a:t>
            </a:r>
            <a:endParaRPr sz="18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80" name="Google Shape;380;p45"/>
          <p:cNvSpPr txBox="1"/>
          <p:nvPr/>
        </p:nvSpPr>
        <p:spPr>
          <a:xfrm>
            <a:off x="7398275" y="2800650"/>
            <a:ext cx="1429500" cy="6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Model </a:t>
            </a:r>
            <a:endParaRPr sz="18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Deployment</a:t>
            </a:r>
            <a:endParaRPr sz="18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46"/>
          <p:cNvSpPr txBox="1"/>
          <p:nvPr/>
        </p:nvSpPr>
        <p:spPr>
          <a:xfrm>
            <a:off x="1042425" y="211038"/>
            <a:ext cx="7061700" cy="74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000"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88" name="Google Shape;388;p46"/>
          <p:cNvSpPr txBox="1"/>
          <p:nvPr/>
        </p:nvSpPr>
        <p:spPr>
          <a:xfrm>
            <a:off x="1109150" y="27825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2A3990"/>
                </a:solidFill>
                <a:latin typeface="Roboto"/>
                <a:ea typeface="Roboto"/>
                <a:cs typeface="Roboto"/>
                <a:sym typeface="Roboto"/>
              </a:rPr>
              <a:t>Supervised Learning</a:t>
            </a:r>
            <a:endParaRPr sz="3000">
              <a:solidFill>
                <a:srgbClr val="2A399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89" name="Google Shape;389;p46"/>
          <p:cNvSpPr txBox="1"/>
          <p:nvPr/>
        </p:nvSpPr>
        <p:spPr>
          <a:xfrm>
            <a:off x="311700" y="1229875"/>
            <a:ext cx="8520600" cy="333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937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600"/>
              <a:buFont typeface="Montserrat"/>
              <a:buChar char="●"/>
            </a:pPr>
            <a:r>
              <a:rPr lang="en" sz="260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What we just showed is a simplified approach to supervised learning, it contains an issue!</a:t>
            </a:r>
            <a:endParaRPr sz="2600">
              <a:solidFill>
                <a:srgbClr val="33333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3937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600"/>
              <a:buFont typeface="Montserrat"/>
              <a:buChar char="●"/>
            </a:pPr>
            <a:r>
              <a:rPr lang="en" sz="260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Is it fair to use our single split of the data to evaluate our models performance?</a:t>
            </a:r>
            <a:endParaRPr sz="2600">
              <a:solidFill>
                <a:srgbClr val="33333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3937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600"/>
              <a:buFont typeface="Montserrat"/>
              <a:buChar char="●"/>
            </a:pPr>
            <a:r>
              <a:rPr lang="en" sz="260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After all, we were given the chance to update the model parameters again and again.</a:t>
            </a:r>
            <a:endParaRPr sz="2600">
              <a:solidFill>
                <a:srgbClr val="33333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47"/>
          <p:cNvSpPr txBox="1"/>
          <p:nvPr/>
        </p:nvSpPr>
        <p:spPr>
          <a:xfrm>
            <a:off x="1042425" y="211038"/>
            <a:ext cx="7061700" cy="74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000"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96" name="Google Shape;396;p47"/>
          <p:cNvSpPr txBox="1"/>
          <p:nvPr/>
        </p:nvSpPr>
        <p:spPr>
          <a:xfrm>
            <a:off x="1109150" y="27825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2A3990"/>
                </a:solidFill>
                <a:latin typeface="Roboto"/>
                <a:ea typeface="Roboto"/>
                <a:cs typeface="Roboto"/>
                <a:sym typeface="Roboto"/>
              </a:rPr>
              <a:t>Supervised Learning</a:t>
            </a:r>
            <a:endParaRPr sz="3000">
              <a:solidFill>
                <a:srgbClr val="2A399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97" name="Google Shape;397;p47"/>
          <p:cNvSpPr txBox="1"/>
          <p:nvPr/>
        </p:nvSpPr>
        <p:spPr>
          <a:xfrm>
            <a:off x="311700" y="1229875"/>
            <a:ext cx="8832300" cy="333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937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600"/>
              <a:buFont typeface="Montserrat"/>
              <a:buChar char="●"/>
            </a:pPr>
            <a:r>
              <a:rPr lang="en" sz="260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To fix this issue, data is often split into </a:t>
            </a:r>
            <a:r>
              <a:rPr lang="en" sz="2600" b="1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3 sets</a:t>
            </a:r>
            <a:endParaRPr sz="2600">
              <a:solidFill>
                <a:srgbClr val="33333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914400" lvl="1" indent="-3937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600"/>
              <a:buFont typeface="Montserrat"/>
              <a:buChar char="○"/>
            </a:pPr>
            <a:r>
              <a:rPr lang="en" sz="260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Training Data</a:t>
            </a:r>
            <a:endParaRPr sz="2600">
              <a:solidFill>
                <a:srgbClr val="33333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371600" lvl="2" indent="-3937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600"/>
              <a:buFont typeface="Montserrat"/>
              <a:buChar char="■"/>
            </a:pPr>
            <a:r>
              <a:rPr lang="en" sz="260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Used to train model parameters</a:t>
            </a:r>
            <a:endParaRPr sz="2600">
              <a:solidFill>
                <a:srgbClr val="33333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914400" lvl="1" indent="-3937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600"/>
              <a:buFont typeface="Montserrat"/>
              <a:buChar char="○"/>
            </a:pPr>
            <a:r>
              <a:rPr lang="en" sz="260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Validation Data</a:t>
            </a:r>
            <a:endParaRPr sz="2600">
              <a:solidFill>
                <a:srgbClr val="33333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371600" lvl="2" indent="-3937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600"/>
              <a:buFont typeface="Montserrat"/>
              <a:buChar char="■"/>
            </a:pPr>
            <a:r>
              <a:rPr lang="en" sz="260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Used to determine what model hyperparameters to adjust</a:t>
            </a:r>
            <a:endParaRPr sz="2600">
              <a:solidFill>
                <a:srgbClr val="33333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914400" lvl="1" indent="-3937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600"/>
              <a:buFont typeface="Montserrat"/>
              <a:buChar char="○"/>
            </a:pPr>
            <a:r>
              <a:rPr lang="en" sz="260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Test Data</a:t>
            </a:r>
            <a:endParaRPr sz="2600">
              <a:solidFill>
                <a:srgbClr val="33333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371600" lvl="2" indent="-3937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600"/>
              <a:buFont typeface="Montserrat"/>
              <a:buChar char="■"/>
            </a:pPr>
            <a:r>
              <a:rPr lang="en" sz="260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Used to get some final performance metric</a:t>
            </a:r>
            <a:endParaRPr sz="2600">
              <a:solidFill>
                <a:srgbClr val="33333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48"/>
          <p:cNvSpPr txBox="1"/>
          <p:nvPr/>
        </p:nvSpPr>
        <p:spPr>
          <a:xfrm>
            <a:off x="1042425" y="211038"/>
            <a:ext cx="7061700" cy="74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000"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04" name="Google Shape;404;p48"/>
          <p:cNvSpPr txBox="1"/>
          <p:nvPr/>
        </p:nvSpPr>
        <p:spPr>
          <a:xfrm>
            <a:off x="1109150" y="27825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2A3990"/>
                </a:solidFill>
                <a:latin typeface="Roboto"/>
                <a:ea typeface="Roboto"/>
                <a:cs typeface="Roboto"/>
                <a:sym typeface="Roboto"/>
              </a:rPr>
              <a:t>Supervised Learning</a:t>
            </a:r>
            <a:endParaRPr sz="3000">
              <a:solidFill>
                <a:srgbClr val="2A399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05" name="Google Shape;405;p48"/>
          <p:cNvSpPr txBox="1"/>
          <p:nvPr/>
        </p:nvSpPr>
        <p:spPr>
          <a:xfrm>
            <a:off x="311700" y="1229875"/>
            <a:ext cx="8832300" cy="333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937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600"/>
              <a:buFont typeface="Montserrat"/>
              <a:buChar char="●"/>
            </a:pPr>
            <a:r>
              <a:rPr lang="en" sz="260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This means after we see the results on the </a:t>
            </a:r>
            <a:r>
              <a:rPr lang="en" sz="2600" b="1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final test set</a:t>
            </a:r>
            <a:r>
              <a:rPr lang="en" sz="260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 we don’t get to go back and adjust any model parameters!</a:t>
            </a:r>
            <a:endParaRPr sz="2600">
              <a:solidFill>
                <a:srgbClr val="33333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3937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600"/>
              <a:buFont typeface="Montserrat"/>
              <a:buChar char="●"/>
            </a:pPr>
            <a:r>
              <a:rPr lang="en" sz="260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This final measure is what we label the true performance of the model to be.</a:t>
            </a:r>
            <a:endParaRPr sz="2600">
              <a:solidFill>
                <a:srgbClr val="33333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49"/>
          <p:cNvSpPr txBox="1"/>
          <p:nvPr/>
        </p:nvSpPr>
        <p:spPr>
          <a:xfrm>
            <a:off x="1042425" y="211038"/>
            <a:ext cx="7061700" cy="74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000"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12" name="Google Shape;412;p49"/>
          <p:cNvSpPr txBox="1"/>
          <p:nvPr/>
        </p:nvSpPr>
        <p:spPr>
          <a:xfrm>
            <a:off x="1109150" y="27825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2A3990"/>
                </a:solidFill>
                <a:latin typeface="Roboto"/>
                <a:ea typeface="Roboto"/>
                <a:cs typeface="Roboto"/>
                <a:sym typeface="Roboto"/>
              </a:rPr>
              <a:t>Supervised Learning</a:t>
            </a:r>
            <a:endParaRPr sz="3000">
              <a:solidFill>
                <a:srgbClr val="2A399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13" name="Google Shape;413;p49"/>
          <p:cNvSpPr txBox="1"/>
          <p:nvPr/>
        </p:nvSpPr>
        <p:spPr>
          <a:xfrm>
            <a:off x="311700" y="1229875"/>
            <a:ext cx="8832300" cy="333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937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600"/>
              <a:buFont typeface="Montserrat"/>
              <a:buChar char="●"/>
            </a:pPr>
            <a:r>
              <a:rPr lang="en" sz="260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In this course, in general we will simplify our data by using a simple </a:t>
            </a:r>
            <a:r>
              <a:rPr lang="en" sz="2600" b="1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train/test split.</a:t>
            </a:r>
            <a:endParaRPr sz="2600">
              <a:solidFill>
                <a:srgbClr val="33333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3937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600"/>
              <a:buFont typeface="Montserrat"/>
              <a:buChar char="●"/>
            </a:pPr>
            <a:r>
              <a:rPr lang="en" sz="260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We will simply train and then evaluate on a test set (leaving the option to students to go back and adjust parameters).</a:t>
            </a:r>
            <a:endParaRPr sz="2600">
              <a:solidFill>
                <a:srgbClr val="33333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3937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600"/>
              <a:buFont typeface="Montserrat"/>
              <a:buChar char="●"/>
            </a:pPr>
            <a:r>
              <a:rPr lang="en" sz="260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After going through the course, you will be able to easily perform another split to get </a:t>
            </a:r>
            <a:r>
              <a:rPr lang="en" sz="2600" b="1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3 data sets</a:t>
            </a:r>
            <a:r>
              <a:rPr lang="en" sz="260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 if you desire.</a:t>
            </a:r>
            <a:endParaRPr sz="2600">
              <a:solidFill>
                <a:srgbClr val="33333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50"/>
          <p:cNvSpPr txBox="1">
            <a:spLocks noGrp="1"/>
          </p:cNvSpPr>
          <p:nvPr>
            <p:ph type="ctrTitle"/>
          </p:nvPr>
        </p:nvSpPr>
        <p:spPr>
          <a:xfrm>
            <a:off x="335850" y="807750"/>
            <a:ext cx="8520600" cy="2053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Montserrat"/>
                <a:ea typeface="Montserrat"/>
                <a:cs typeface="Montserrat"/>
                <a:sym typeface="Montserrat"/>
              </a:rPr>
              <a:t>Overfitting and Underfitting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51"/>
          <p:cNvSpPr txBox="1"/>
          <p:nvPr/>
        </p:nvSpPr>
        <p:spPr>
          <a:xfrm>
            <a:off x="1042425" y="211038"/>
            <a:ext cx="7061700" cy="74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000"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28" name="Google Shape;428;p51"/>
          <p:cNvSpPr txBox="1"/>
          <p:nvPr/>
        </p:nvSpPr>
        <p:spPr>
          <a:xfrm>
            <a:off x="1109150" y="27825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2A3990"/>
                </a:solidFill>
                <a:latin typeface="Montserrat"/>
                <a:ea typeface="Montserrat"/>
                <a:cs typeface="Montserrat"/>
                <a:sym typeface="Montserrat"/>
              </a:rPr>
              <a:t>Machine Learning</a:t>
            </a:r>
            <a:endParaRPr sz="3000">
              <a:solidFill>
                <a:srgbClr val="2A399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29" name="Google Shape;429;p51"/>
          <p:cNvSpPr txBox="1"/>
          <p:nvPr/>
        </p:nvSpPr>
        <p:spPr>
          <a:xfrm>
            <a:off x="311700" y="1229875"/>
            <a:ext cx="8520600" cy="333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937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Arial"/>
              <a:buChar char="●"/>
            </a:pPr>
            <a:r>
              <a:rPr lang="en" sz="26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Now that we understand the full process for supervised learning, let’s touch upon the important topics of </a:t>
            </a:r>
            <a:r>
              <a:rPr lang="en" sz="2600" b="1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overfitting </a:t>
            </a:r>
            <a:r>
              <a:rPr lang="en" sz="26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and </a:t>
            </a:r>
            <a:r>
              <a:rPr lang="en" sz="2600" b="1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underfitting.</a:t>
            </a:r>
            <a:endParaRPr sz="2600" b="1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endParaRPr sz="26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52"/>
          <p:cNvSpPr txBox="1"/>
          <p:nvPr/>
        </p:nvSpPr>
        <p:spPr>
          <a:xfrm>
            <a:off x="1042425" y="211038"/>
            <a:ext cx="7061700" cy="74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000"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37" name="Google Shape;437;p52"/>
          <p:cNvSpPr txBox="1"/>
          <p:nvPr/>
        </p:nvSpPr>
        <p:spPr>
          <a:xfrm>
            <a:off x="1109150" y="27825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2A3990"/>
                </a:solidFill>
                <a:latin typeface="Montserrat"/>
                <a:ea typeface="Montserrat"/>
                <a:cs typeface="Montserrat"/>
                <a:sym typeface="Montserrat"/>
              </a:rPr>
              <a:t>Machine Learning</a:t>
            </a:r>
            <a:endParaRPr sz="3000">
              <a:solidFill>
                <a:srgbClr val="2A399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38" name="Google Shape;438;p52"/>
          <p:cNvSpPr txBox="1"/>
          <p:nvPr/>
        </p:nvSpPr>
        <p:spPr>
          <a:xfrm>
            <a:off x="311700" y="1229875"/>
            <a:ext cx="8520600" cy="333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937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Arial"/>
              <a:buChar char="●"/>
            </a:pPr>
            <a:r>
              <a:rPr lang="en" sz="2600" b="1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Overfitting </a:t>
            </a:r>
            <a:endParaRPr sz="2600" b="1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914400" marR="0" lvl="1" indent="-3937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Montserrat"/>
              <a:buChar char="○"/>
            </a:pPr>
            <a:r>
              <a:rPr lang="en" sz="26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The model fits too much to the noise from the data.</a:t>
            </a:r>
            <a:endParaRPr sz="26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914400" marR="0" lvl="1" indent="-3937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Montserrat"/>
              <a:buChar char="○"/>
            </a:pPr>
            <a:r>
              <a:rPr lang="en" sz="26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This often results in </a:t>
            </a:r>
            <a:r>
              <a:rPr lang="en" sz="2600" b="1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low error on training sets but high error on test/validation sets.</a:t>
            </a:r>
            <a:endParaRPr sz="2600" b="1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endParaRPr sz="26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p53"/>
          <p:cNvSpPr txBox="1"/>
          <p:nvPr/>
        </p:nvSpPr>
        <p:spPr>
          <a:xfrm>
            <a:off x="1042425" y="211038"/>
            <a:ext cx="7061700" cy="74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000"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46" name="Google Shape;446;p53"/>
          <p:cNvSpPr txBox="1"/>
          <p:nvPr/>
        </p:nvSpPr>
        <p:spPr>
          <a:xfrm>
            <a:off x="1109150" y="27825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2A3990"/>
                </a:solidFill>
                <a:latin typeface="Montserrat"/>
                <a:ea typeface="Montserrat"/>
                <a:cs typeface="Montserrat"/>
                <a:sym typeface="Montserrat"/>
              </a:rPr>
              <a:t>Machine Learning</a:t>
            </a:r>
            <a:endParaRPr sz="3000">
              <a:solidFill>
                <a:srgbClr val="2A399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47" name="Google Shape;447;p53"/>
          <p:cNvSpPr txBox="1"/>
          <p:nvPr/>
        </p:nvSpPr>
        <p:spPr>
          <a:xfrm>
            <a:off x="311700" y="1229875"/>
            <a:ext cx="8520600" cy="333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2600" b="1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Data</a:t>
            </a:r>
            <a:endParaRPr sz="26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448" name="Google Shape;448;p53"/>
          <p:cNvCxnSpPr/>
          <p:nvPr/>
        </p:nvCxnSpPr>
        <p:spPr>
          <a:xfrm>
            <a:off x="3098025" y="1933375"/>
            <a:ext cx="0" cy="19320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triangle" w="med" len="med"/>
            <a:tailEnd type="none" w="med" len="med"/>
          </a:ln>
        </p:spPr>
      </p:cxnSp>
      <p:cxnSp>
        <p:nvCxnSpPr>
          <p:cNvPr id="449" name="Google Shape;449;p53"/>
          <p:cNvCxnSpPr/>
          <p:nvPr/>
        </p:nvCxnSpPr>
        <p:spPr>
          <a:xfrm rot="10800000">
            <a:off x="3098025" y="3865375"/>
            <a:ext cx="29505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triangle" w="med" len="med"/>
            <a:tailEnd type="none" w="med" len="med"/>
          </a:ln>
        </p:spPr>
      </p:cxnSp>
      <p:sp>
        <p:nvSpPr>
          <p:cNvPr id="450" name="Google Shape;450;p53"/>
          <p:cNvSpPr/>
          <p:nvPr/>
        </p:nvSpPr>
        <p:spPr>
          <a:xfrm>
            <a:off x="3604075" y="3314300"/>
            <a:ext cx="117900" cy="1179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1" name="Google Shape;451;p53"/>
          <p:cNvSpPr/>
          <p:nvPr/>
        </p:nvSpPr>
        <p:spPr>
          <a:xfrm>
            <a:off x="3721975" y="2840425"/>
            <a:ext cx="117900" cy="1179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2" name="Google Shape;452;p53"/>
          <p:cNvSpPr/>
          <p:nvPr/>
        </p:nvSpPr>
        <p:spPr>
          <a:xfrm>
            <a:off x="4126200" y="2802575"/>
            <a:ext cx="117900" cy="1179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3" name="Google Shape;453;p53"/>
          <p:cNvSpPr/>
          <p:nvPr/>
        </p:nvSpPr>
        <p:spPr>
          <a:xfrm>
            <a:off x="4284625" y="2449400"/>
            <a:ext cx="117900" cy="1179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4" name="Google Shape;454;p53"/>
          <p:cNvSpPr/>
          <p:nvPr/>
        </p:nvSpPr>
        <p:spPr>
          <a:xfrm>
            <a:off x="4708700" y="2631975"/>
            <a:ext cx="117900" cy="1179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5" name="Google Shape;455;p53"/>
          <p:cNvSpPr/>
          <p:nvPr/>
        </p:nvSpPr>
        <p:spPr>
          <a:xfrm>
            <a:off x="4957675" y="2350363"/>
            <a:ext cx="117900" cy="1179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6" name="Google Shape;456;p53"/>
          <p:cNvSpPr/>
          <p:nvPr/>
        </p:nvSpPr>
        <p:spPr>
          <a:xfrm>
            <a:off x="5375700" y="2631975"/>
            <a:ext cx="117900" cy="1179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7" name="Google Shape;457;p53"/>
          <p:cNvSpPr/>
          <p:nvPr/>
        </p:nvSpPr>
        <p:spPr>
          <a:xfrm>
            <a:off x="5135700" y="2567300"/>
            <a:ext cx="117900" cy="1179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8" name="Google Shape;458;p53"/>
          <p:cNvSpPr/>
          <p:nvPr/>
        </p:nvSpPr>
        <p:spPr>
          <a:xfrm>
            <a:off x="5553725" y="2350363"/>
            <a:ext cx="117900" cy="1179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9" name="Google Shape;459;p53"/>
          <p:cNvSpPr/>
          <p:nvPr/>
        </p:nvSpPr>
        <p:spPr>
          <a:xfrm>
            <a:off x="5802725" y="2749875"/>
            <a:ext cx="117900" cy="1179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0" name="Google Shape;460;p53"/>
          <p:cNvSpPr/>
          <p:nvPr/>
        </p:nvSpPr>
        <p:spPr>
          <a:xfrm>
            <a:off x="3908575" y="3111700"/>
            <a:ext cx="117900" cy="1179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1" name="Google Shape;461;p53"/>
          <p:cNvSpPr/>
          <p:nvPr/>
        </p:nvSpPr>
        <p:spPr>
          <a:xfrm>
            <a:off x="3292100" y="3402975"/>
            <a:ext cx="117900" cy="1179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2" name="Google Shape;462;p53"/>
          <p:cNvSpPr txBox="1"/>
          <p:nvPr/>
        </p:nvSpPr>
        <p:spPr>
          <a:xfrm>
            <a:off x="2481200" y="2617038"/>
            <a:ext cx="645900" cy="44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Overpass"/>
                <a:ea typeface="Overpass"/>
                <a:cs typeface="Overpass"/>
                <a:sym typeface="Overpass"/>
              </a:rPr>
              <a:t>Y</a:t>
            </a:r>
            <a:endParaRPr b="1">
              <a:latin typeface="Overpass"/>
              <a:ea typeface="Overpass"/>
              <a:cs typeface="Overpass"/>
              <a:sym typeface="Overpass"/>
            </a:endParaRPr>
          </a:p>
        </p:txBody>
      </p:sp>
      <p:sp>
        <p:nvSpPr>
          <p:cNvPr id="463" name="Google Shape;463;p53"/>
          <p:cNvSpPr txBox="1"/>
          <p:nvPr/>
        </p:nvSpPr>
        <p:spPr>
          <a:xfrm>
            <a:off x="4311775" y="3899688"/>
            <a:ext cx="645900" cy="44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Overpass"/>
                <a:ea typeface="Overpass"/>
                <a:cs typeface="Overpass"/>
                <a:sym typeface="Overpass"/>
              </a:rPr>
              <a:t>X</a:t>
            </a:r>
            <a:endParaRPr b="1">
              <a:latin typeface="Overpass"/>
              <a:ea typeface="Overpass"/>
              <a:cs typeface="Overpass"/>
              <a:sym typeface="Overpass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p54"/>
          <p:cNvSpPr txBox="1"/>
          <p:nvPr/>
        </p:nvSpPr>
        <p:spPr>
          <a:xfrm>
            <a:off x="1042425" y="211038"/>
            <a:ext cx="7061700" cy="74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000"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71" name="Google Shape;471;p54"/>
          <p:cNvSpPr txBox="1"/>
          <p:nvPr/>
        </p:nvSpPr>
        <p:spPr>
          <a:xfrm>
            <a:off x="1109150" y="27825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2A3990"/>
                </a:solidFill>
                <a:latin typeface="Montserrat"/>
                <a:ea typeface="Montserrat"/>
                <a:cs typeface="Montserrat"/>
                <a:sym typeface="Montserrat"/>
              </a:rPr>
              <a:t>Machine Learning</a:t>
            </a:r>
            <a:endParaRPr sz="3000">
              <a:solidFill>
                <a:srgbClr val="2A399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72" name="Google Shape;472;p54"/>
          <p:cNvSpPr txBox="1"/>
          <p:nvPr/>
        </p:nvSpPr>
        <p:spPr>
          <a:xfrm>
            <a:off x="311700" y="1229875"/>
            <a:ext cx="8520600" cy="333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2600" b="1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Good Model</a:t>
            </a:r>
            <a:endParaRPr sz="26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473" name="Google Shape;473;p54"/>
          <p:cNvCxnSpPr/>
          <p:nvPr/>
        </p:nvCxnSpPr>
        <p:spPr>
          <a:xfrm>
            <a:off x="3098025" y="1933375"/>
            <a:ext cx="0" cy="19320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triangle" w="med" len="med"/>
            <a:tailEnd type="none" w="med" len="med"/>
          </a:ln>
        </p:spPr>
      </p:cxnSp>
      <p:cxnSp>
        <p:nvCxnSpPr>
          <p:cNvPr id="474" name="Google Shape;474;p54"/>
          <p:cNvCxnSpPr/>
          <p:nvPr/>
        </p:nvCxnSpPr>
        <p:spPr>
          <a:xfrm rot="10800000">
            <a:off x="3098025" y="3865375"/>
            <a:ext cx="29505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triangle" w="med" len="med"/>
            <a:tailEnd type="none" w="med" len="med"/>
          </a:ln>
        </p:spPr>
      </p:cxnSp>
      <p:sp>
        <p:nvSpPr>
          <p:cNvPr id="475" name="Google Shape;475;p54"/>
          <p:cNvSpPr/>
          <p:nvPr/>
        </p:nvSpPr>
        <p:spPr>
          <a:xfrm>
            <a:off x="3604075" y="3314300"/>
            <a:ext cx="117900" cy="1179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6" name="Google Shape;476;p54"/>
          <p:cNvSpPr/>
          <p:nvPr/>
        </p:nvSpPr>
        <p:spPr>
          <a:xfrm>
            <a:off x="3721975" y="2840425"/>
            <a:ext cx="117900" cy="1179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7" name="Google Shape;477;p54"/>
          <p:cNvSpPr/>
          <p:nvPr/>
        </p:nvSpPr>
        <p:spPr>
          <a:xfrm>
            <a:off x="4126200" y="2802575"/>
            <a:ext cx="117900" cy="1179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8" name="Google Shape;478;p54"/>
          <p:cNvSpPr/>
          <p:nvPr/>
        </p:nvSpPr>
        <p:spPr>
          <a:xfrm>
            <a:off x="4284625" y="2449400"/>
            <a:ext cx="117900" cy="1179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9" name="Google Shape;479;p54"/>
          <p:cNvSpPr/>
          <p:nvPr/>
        </p:nvSpPr>
        <p:spPr>
          <a:xfrm>
            <a:off x="4708700" y="2631975"/>
            <a:ext cx="117900" cy="1179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0" name="Google Shape;480;p54"/>
          <p:cNvSpPr/>
          <p:nvPr/>
        </p:nvSpPr>
        <p:spPr>
          <a:xfrm>
            <a:off x="4957675" y="2350363"/>
            <a:ext cx="117900" cy="1179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1" name="Google Shape;481;p54"/>
          <p:cNvSpPr/>
          <p:nvPr/>
        </p:nvSpPr>
        <p:spPr>
          <a:xfrm>
            <a:off x="5375700" y="2631975"/>
            <a:ext cx="117900" cy="1179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2" name="Google Shape;482;p54"/>
          <p:cNvSpPr/>
          <p:nvPr/>
        </p:nvSpPr>
        <p:spPr>
          <a:xfrm>
            <a:off x="5135700" y="2567300"/>
            <a:ext cx="117900" cy="1179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3" name="Google Shape;483;p54"/>
          <p:cNvSpPr/>
          <p:nvPr/>
        </p:nvSpPr>
        <p:spPr>
          <a:xfrm>
            <a:off x="5553725" y="2350363"/>
            <a:ext cx="117900" cy="1179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4" name="Google Shape;484;p54"/>
          <p:cNvSpPr/>
          <p:nvPr/>
        </p:nvSpPr>
        <p:spPr>
          <a:xfrm>
            <a:off x="5802725" y="2749875"/>
            <a:ext cx="117900" cy="1179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5" name="Google Shape;485;p54"/>
          <p:cNvSpPr/>
          <p:nvPr/>
        </p:nvSpPr>
        <p:spPr>
          <a:xfrm>
            <a:off x="3908575" y="3111700"/>
            <a:ext cx="117900" cy="1179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6" name="Google Shape;486;p54"/>
          <p:cNvSpPr/>
          <p:nvPr/>
        </p:nvSpPr>
        <p:spPr>
          <a:xfrm>
            <a:off x="3292100" y="3402975"/>
            <a:ext cx="117900" cy="1179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7" name="Google Shape;487;p54"/>
          <p:cNvSpPr/>
          <p:nvPr/>
        </p:nvSpPr>
        <p:spPr>
          <a:xfrm>
            <a:off x="3266000" y="2471160"/>
            <a:ext cx="2577800" cy="1199325"/>
          </a:xfrm>
          <a:custGeom>
            <a:avLst/>
            <a:gdLst/>
            <a:ahLst/>
            <a:cxnLst/>
            <a:rect l="l" t="t" r="r" b="b"/>
            <a:pathLst>
              <a:path w="103112" h="47973" extrusionOk="0">
                <a:moveTo>
                  <a:pt x="0" y="47973"/>
                </a:moveTo>
                <a:cubicBezTo>
                  <a:pt x="8412" y="40568"/>
                  <a:pt x="33284" y="11067"/>
                  <a:pt x="50469" y="3541"/>
                </a:cubicBezTo>
                <a:cubicBezTo>
                  <a:pt x="67654" y="-3985"/>
                  <a:pt x="94338" y="2938"/>
                  <a:pt x="103112" y="2817"/>
                </a:cubicBezTo>
              </a:path>
            </a:pathLst>
          </a:custGeom>
          <a:noFill/>
          <a:ln w="19050" cap="flat" cmpd="sng">
            <a:solidFill>
              <a:srgbClr val="38761D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488" name="Google Shape;488;p54"/>
          <p:cNvSpPr txBox="1"/>
          <p:nvPr/>
        </p:nvSpPr>
        <p:spPr>
          <a:xfrm>
            <a:off x="2481200" y="2617038"/>
            <a:ext cx="645900" cy="44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Overpass"/>
                <a:ea typeface="Overpass"/>
                <a:cs typeface="Overpass"/>
                <a:sym typeface="Overpass"/>
              </a:rPr>
              <a:t>Y</a:t>
            </a:r>
            <a:endParaRPr b="1">
              <a:latin typeface="Overpass"/>
              <a:ea typeface="Overpass"/>
              <a:cs typeface="Overpass"/>
              <a:sym typeface="Overpass"/>
            </a:endParaRPr>
          </a:p>
        </p:txBody>
      </p:sp>
      <p:sp>
        <p:nvSpPr>
          <p:cNvPr id="489" name="Google Shape;489;p54"/>
          <p:cNvSpPr txBox="1"/>
          <p:nvPr/>
        </p:nvSpPr>
        <p:spPr>
          <a:xfrm>
            <a:off x="4311775" y="3899688"/>
            <a:ext cx="645900" cy="44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Overpass"/>
                <a:ea typeface="Overpass"/>
                <a:cs typeface="Overpass"/>
                <a:sym typeface="Overpass"/>
              </a:rPr>
              <a:t>X</a:t>
            </a:r>
            <a:endParaRPr b="1">
              <a:latin typeface="Overpass"/>
              <a:ea typeface="Overpass"/>
              <a:cs typeface="Overpass"/>
              <a:sym typeface="Overpass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p55"/>
          <p:cNvSpPr txBox="1"/>
          <p:nvPr/>
        </p:nvSpPr>
        <p:spPr>
          <a:xfrm>
            <a:off x="1042425" y="211038"/>
            <a:ext cx="7061700" cy="74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000"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97" name="Google Shape;497;p55"/>
          <p:cNvSpPr txBox="1"/>
          <p:nvPr/>
        </p:nvSpPr>
        <p:spPr>
          <a:xfrm>
            <a:off x="1109150" y="27825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2A3990"/>
                </a:solidFill>
                <a:latin typeface="Montserrat"/>
                <a:ea typeface="Montserrat"/>
                <a:cs typeface="Montserrat"/>
                <a:sym typeface="Montserrat"/>
              </a:rPr>
              <a:t>Machine Learning</a:t>
            </a:r>
            <a:endParaRPr sz="3000">
              <a:solidFill>
                <a:srgbClr val="2A399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98" name="Google Shape;498;p55"/>
          <p:cNvSpPr txBox="1"/>
          <p:nvPr/>
        </p:nvSpPr>
        <p:spPr>
          <a:xfrm>
            <a:off x="311700" y="1229875"/>
            <a:ext cx="8520600" cy="333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937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Arial"/>
              <a:buChar char="●"/>
            </a:pPr>
            <a:r>
              <a:rPr lang="en" sz="2600" b="1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Overfitting </a:t>
            </a:r>
            <a:endParaRPr sz="2600" b="1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endParaRPr sz="26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499" name="Google Shape;499;p55"/>
          <p:cNvCxnSpPr/>
          <p:nvPr/>
        </p:nvCxnSpPr>
        <p:spPr>
          <a:xfrm>
            <a:off x="3098025" y="1933375"/>
            <a:ext cx="0" cy="19320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triangle" w="med" len="med"/>
            <a:tailEnd type="none" w="med" len="med"/>
          </a:ln>
        </p:spPr>
      </p:cxnSp>
      <p:cxnSp>
        <p:nvCxnSpPr>
          <p:cNvPr id="500" name="Google Shape;500;p55"/>
          <p:cNvCxnSpPr/>
          <p:nvPr/>
        </p:nvCxnSpPr>
        <p:spPr>
          <a:xfrm rot="10800000">
            <a:off x="3098025" y="3865375"/>
            <a:ext cx="29505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triangle" w="med" len="med"/>
            <a:tailEnd type="none" w="med" len="med"/>
          </a:ln>
        </p:spPr>
      </p:cxnSp>
      <p:sp>
        <p:nvSpPr>
          <p:cNvPr id="501" name="Google Shape;501;p55"/>
          <p:cNvSpPr/>
          <p:nvPr/>
        </p:nvSpPr>
        <p:spPr>
          <a:xfrm>
            <a:off x="3604075" y="3314300"/>
            <a:ext cx="117900" cy="1179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2" name="Google Shape;502;p55"/>
          <p:cNvSpPr/>
          <p:nvPr/>
        </p:nvSpPr>
        <p:spPr>
          <a:xfrm>
            <a:off x="3721975" y="2840425"/>
            <a:ext cx="117900" cy="1179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3" name="Google Shape;503;p55"/>
          <p:cNvSpPr/>
          <p:nvPr/>
        </p:nvSpPr>
        <p:spPr>
          <a:xfrm>
            <a:off x="4126200" y="2802575"/>
            <a:ext cx="117900" cy="1179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4" name="Google Shape;504;p55"/>
          <p:cNvSpPr/>
          <p:nvPr/>
        </p:nvSpPr>
        <p:spPr>
          <a:xfrm>
            <a:off x="4284625" y="2449400"/>
            <a:ext cx="117900" cy="1179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5" name="Google Shape;505;p55"/>
          <p:cNvSpPr/>
          <p:nvPr/>
        </p:nvSpPr>
        <p:spPr>
          <a:xfrm>
            <a:off x="4708700" y="2631975"/>
            <a:ext cx="117900" cy="1179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6" name="Google Shape;506;p55"/>
          <p:cNvSpPr/>
          <p:nvPr/>
        </p:nvSpPr>
        <p:spPr>
          <a:xfrm>
            <a:off x="4957675" y="2350363"/>
            <a:ext cx="117900" cy="1179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7" name="Google Shape;507;p55"/>
          <p:cNvSpPr/>
          <p:nvPr/>
        </p:nvSpPr>
        <p:spPr>
          <a:xfrm>
            <a:off x="5375700" y="2631975"/>
            <a:ext cx="117900" cy="1179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8" name="Google Shape;508;p55"/>
          <p:cNvSpPr/>
          <p:nvPr/>
        </p:nvSpPr>
        <p:spPr>
          <a:xfrm>
            <a:off x="5135700" y="2567300"/>
            <a:ext cx="117900" cy="1179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9" name="Google Shape;509;p55"/>
          <p:cNvSpPr/>
          <p:nvPr/>
        </p:nvSpPr>
        <p:spPr>
          <a:xfrm>
            <a:off x="5553725" y="2350363"/>
            <a:ext cx="117900" cy="1179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0" name="Google Shape;510;p55"/>
          <p:cNvSpPr/>
          <p:nvPr/>
        </p:nvSpPr>
        <p:spPr>
          <a:xfrm>
            <a:off x="5802725" y="2749875"/>
            <a:ext cx="117900" cy="1179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1" name="Google Shape;511;p55"/>
          <p:cNvSpPr/>
          <p:nvPr/>
        </p:nvSpPr>
        <p:spPr>
          <a:xfrm>
            <a:off x="3908575" y="3111700"/>
            <a:ext cx="117900" cy="1179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2" name="Google Shape;512;p55"/>
          <p:cNvSpPr/>
          <p:nvPr/>
        </p:nvSpPr>
        <p:spPr>
          <a:xfrm>
            <a:off x="3292100" y="3402975"/>
            <a:ext cx="117900" cy="1179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3" name="Google Shape;513;p55"/>
          <p:cNvSpPr txBox="1"/>
          <p:nvPr/>
        </p:nvSpPr>
        <p:spPr>
          <a:xfrm>
            <a:off x="2481200" y="2617038"/>
            <a:ext cx="645900" cy="44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Overpass"/>
                <a:ea typeface="Overpass"/>
                <a:cs typeface="Overpass"/>
                <a:sym typeface="Overpass"/>
              </a:rPr>
              <a:t>Y</a:t>
            </a:r>
            <a:endParaRPr b="1">
              <a:latin typeface="Overpass"/>
              <a:ea typeface="Overpass"/>
              <a:cs typeface="Overpass"/>
              <a:sym typeface="Overpass"/>
            </a:endParaRPr>
          </a:p>
        </p:txBody>
      </p:sp>
      <p:sp>
        <p:nvSpPr>
          <p:cNvPr id="514" name="Google Shape;514;p55"/>
          <p:cNvSpPr txBox="1"/>
          <p:nvPr/>
        </p:nvSpPr>
        <p:spPr>
          <a:xfrm>
            <a:off x="4311775" y="3899688"/>
            <a:ext cx="645900" cy="44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Overpass"/>
                <a:ea typeface="Overpass"/>
                <a:cs typeface="Overpass"/>
                <a:sym typeface="Overpass"/>
              </a:rPr>
              <a:t>X</a:t>
            </a:r>
            <a:endParaRPr b="1">
              <a:latin typeface="Overpass"/>
              <a:ea typeface="Overpass"/>
              <a:cs typeface="Overpass"/>
              <a:sym typeface="Overpass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p56"/>
          <p:cNvSpPr txBox="1"/>
          <p:nvPr/>
        </p:nvSpPr>
        <p:spPr>
          <a:xfrm>
            <a:off x="1042425" y="211038"/>
            <a:ext cx="7061700" cy="74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000"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22" name="Google Shape;522;p56"/>
          <p:cNvSpPr txBox="1"/>
          <p:nvPr/>
        </p:nvSpPr>
        <p:spPr>
          <a:xfrm>
            <a:off x="1109150" y="27825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2A3990"/>
                </a:solidFill>
                <a:latin typeface="Montserrat"/>
                <a:ea typeface="Montserrat"/>
                <a:cs typeface="Montserrat"/>
                <a:sym typeface="Montserrat"/>
              </a:rPr>
              <a:t>Machine Learning</a:t>
            </a:r>
            <a:endParaRPr sz="3000">
              <a:solidFill>
                <a:srgbClr val="2A399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23" name="Google Shape;523;p56"/>
          <p:cNvSpPr txBox="1"/>
          <p:nvPr/>
        </p:nvSpPr>
        <p:spPr>
          <a:xfrm>
            <a:off x="311700" y="1229875"/>
            <a:ext cx="8520600" cy="333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937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Arial"/>
              <a:buChar char="●"/>
            </a:pPr>
            <a:r>
              <a:rPr lang="en" sz="2600" b="1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Overfitting </a:t>
            </a:r>
            <a:endParaRPr sz="2600" b="1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endParaRPr sz="26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524" name="Google Shape;524;p56"/>
          <p:cNvCxnSpPr/>
          <p:nvPr/>
        </p:nvCxnSpPr>
        <p:spPr>
          <a:xfrm>
            <a:off x="3098025" y="1933375"/>
            <a:ext cx="0" cy="19320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triangle" w="med" len="med"/>
            <a:tailEnd type="none" w="med" len="med"/>
          </a:ln>
        </p:spPr>
      </p:cxnSp>
      <p:cxnSp>
        <p:nvCxnSpPr>
          <p:cNvPr id="525" name="Google Shape;525;p56"/>
          <p:cNvCxnSpPr/>
          <p:nvPr/>
        </p:nvCxnSpPr>
        <p:spPr>
          <a:xfrm rot="10800000">
            <a:off x="3098025" y="3865375"/>
            <a:ext cx="29505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triangle" w="med" len="med"/>
            <a:tailEnd type="none" w="med" len="med"/>
          </a:ln>
        </p:spPr>
      </p:cxnSp>
      <p:sp>
        <p:nvSpPr>
          <p:cNvPr id="526" name="Google Shape;526;p56"/>
          <p:cNvSpPr/>
          <p:nvPr/>
        </p:nvSpPr>
        <p:spPr>
          <a:xfrm>
            <a:off x="3604075" y="3314300"/>
            <a:ext cx="117900" cy="1179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7" name="Google Shape;527;p56"/>
          <p:cNvSpPr/>
          <p:nvPr/>
        </p:nvSpPr>
        <p:spPr>
          <a:xfrm>
            <a:off x="3721975" y="2840425"/>
            <a:ext cx="117900" cy="1179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8" name="Google Shape;528;p56"/>
          <p:cNvSpPr/>
          <p:nvPr/>
        </p:nvSpPr>
        <p:spPr>
          <a:xfrm>
            <a:off x="4126200" y="2802575"/>
            <a:ext cx="117900" cy="1179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9" name="Google Shape;529;p56"/>
          <p:cNvSpPr/>
          <p:nvPr/>
        </p:nvSpPr>
        <p:spPr>
          <a:xfrm>
            <a:off x="4284625" y="2449400"/>
            <a:ext cx="117900" cy="1179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0" name="Google Shape;530;p56"/>
          <p:cNvSpPr/>
          <p:nvPr/>
        </p:nvSpPr>
        <p:spPr>
          <a:xfrm>
            <a:off x="4708700" y="2631975"/>
            <a:ext cx="117900" cy="1179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1" name="Google Shape;531;p56"/>
          <p:cNvSpPr/>
          <p:nvPr/>
        </p:nvSpPr>
        <p:spPr>
          <a:xfrm>
            <a:off x="4957675" y="2350363"/>
            <a:ext cx="117900" cy="1179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2" name="Google Shape;532;p56"/>
          <p:cNvSpPr/>
          <p:nvPr/>
        </p:nvSpPr>
        <p:spPr>
          <a:xfrm>
            <a:off x="5375700" y="2631975"/>
            <a:ext cx="117900" cy="1179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3" name="Google Shape;533;p56"/>
          <p:cNvSpPr/>
          <p:nvPr/>
        </p:nvSpPr>
        <p:spPr>
          <a:xfrm>
            <a:off x="5135700" y="2567300"/>
            <a:ext cx="117900" cy="1179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4" name="Google Shape;534;p56"/>
          <p:cNvSpPr/>
          <p:nvPr/>
        </p:nvSpPr>
        <p:spPr>
          <a:xfrm>
            <a:off x="5553725" y="2350363"/>
            <a:ext cx="117900" cy="1179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5" name="Google Shape;535;p56"/>
          <p:cNvSpPr/>
          <p:nvPr/>
        </p:nvSpPr>
        <p:spPr>
          <a:xfrm>
            <a:off x="5802725" y="2749875"/>
            <a:ext cx="117900" cy="1179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6" name="Google Shape;536;p56"/>
          <p:cNvSpPr/>
          <p:nvPr/>
        </p:nvSpPr>
        <p:spPr>
          <a:xfrm>
            <a:off x="3908575" y="3111700"/>
            <a:ext cx="117900" cy="1179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7" name="Google Shape;537;p56"/>
          <p:cNvSpPr/>
          <p:nvPr/>
        </p:nvSpPr>
        <p:spPr>
          <a:xfrm>
            <a:off x="3292100" y="3402975"/>
            <a:ext cx="117900" cy="1179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8" name="Google Shape;538;p56"/>
          <p:cNvSpPr/>
          <p:nvPr/>
        </p:nvSpPr>
        <p:spPr>
          <a:xfrm>
            <a:off x="3211675" y="1844240"/>
            <a:ext cx="2813225" cy="1883825"/>
          </a:xfrm>
          <a:custGeom>
            <a:avLst/>
            <a:gdLst/>
            <a:ahLst/>
            <a:cxnLst/>
            <a:rect l="l" t="t" r="r" b="b"/>
            <a:pathLst>
              <a:path w="112529" h="75353" extrusionOk="0">
                <a:moveTo>
                  <a:pt x="0" y="20165"/>
                </a:moveTo>
                <a:cubicBezTo>
                  <a:pt x="845" y="27611"/>
                  <a:pt x="2656" y="55663"/>
                  <a:pt x="5071" y="64839"/>
                </a:cubicBezTo>
                <a:cubicBezTo>
                  <a:pt x="7486" y="74015"/>
                  <a:pt x="12234" y="75745"/>
                  <a:pt x="14488" y="75222"/>
                </a:cubicBezTo>
                <a:cubicBezTo>
                  <a:pt x="16742" y="74699"/>
                  <a:pt x="17266" y="67335"/>
                  <a:pt x="18594" y="61700"/>
                </a:cubicBezTo>
                <a:cubicBezTo>
                  <a:pt x="19922" y="56066"/>
                  <a:pt x="21330" y="48378"/>
                  <a:pt x="22457" y="41415"/>
                </a:cubicBezTo>
                <a:cubicBezTo>
                  <a:pt x="23584" y="34452"/>
                  <a:pt x="23946" y="17710"/>
                  <a:pt x="25355" y="19924"/>
                </a:cubicBezTo>
                <a:cubicBezTo>
                  <a:pt x="26764" y="22138"/>
                  <a:pt x="29702" y="46447"/>
                  <a:pt x="30909" y="54697"/>
                </a:cubicBezTo>
                <a:cubicBezTo>
                  <a:pt x="32116" y="62948"/>
                  <a:pt x="31110" y="71480"/>
                  <a:pt x="32599" y="69427"/>
                </a:cubicBezTo>
                <a:cubicBezTo>
                  <a:pt x="34088" y="67374"/>
                  <a:pt x="37751" y="49625"/>
                  <a:pt x="39844" y="42381"/>
                </a:cubicBezTo>
                <a:cubicBezTo>
                  <a:pt x="41937" y="35137"/>
                  <a:pt x="42902" y="31515"/>
                  <a:pt x="45156" y="25961"/>
                </a:cubicBezTo>
                <a:cubicBezTo>
                  <a:pt x="47410" y="20407"/>
                  <a:pt x="50550" y="7367"/>
                  <a:pt x="53367" y="9057"/>
                </a:cubicBezTo>
                <a:cubicBezTo>
                  <a:pt x="56184" y="10747"/>
                  <a:pt x="59364" y="25719"/>
                  <a:pt x="62060" y="36103"/>
                </a:cubicBezTo>
                <a:cubicBezTo>
                  <a:pt x="64757" y="46487"/>
                  <a:pt x="67775" y="75022"/>
                  <a:pt x="69546" y="71359"/>
                </a:cubicBezTo>
                <a:cubicBezTo>
                  <a:pt x="71317" y="67697"/>
                  <a:pt x="71518" y="25880"/>
                  <a:pt x="72685" y="14128"/>
                </a:cubicBezTo>
                <a:cubicBezTo>
                  <a:pt x="73852" y="2376"/>
                  <a:pt x="75382" y="-1930"/>
                  <a:pt x="76549" y="847"/>
                </a:cubicBezTo>
                <a:cubicBezTo>
                  <a:pt x="77716" y="3624"/>
                  <a:pt x="78642" y="20205"/>
                  <a:pt x="79688" y="30790"/>
                </a:cubicBezTo>
                <a:cubicBezTo>
                  <a:pt x="80734" y="41375"/>
                  <a:pt x="81258" y="64356"/>
                  <a:pt x="82827" y="64356"/>
                </a:cubicBezTo>
                <a:cubicBezTo>
                  <a:pt x="84397" y="64356"/>
                  <a:pt x="87576" y="40972"/>
                  <a:pt x="89105" y="30790"/>
                </a:cubicBezTo>
                <a:cubicBezTo>
                  <a:pt x="90634" y="20608"/>
                  <a:pt x="90715" y="4469"/>
                  <a:pt x="92003" y="3262"/>
                </a:cubicBezTo>
                <a:cubicBezTo>
                  <a:pt x="93291" y="2055"/>
                  <a:pt x="95787" y="14491"/>
                  <a:pt x="96833" y="23546"/>
                </a:cubicBezTo>
                <a:cubicBezTo>
                  <a:pt x="97880" y="32602"/>
                  <a:pt x="96753" y="55301"/>
                  <a:pt x="98282" y="57595"/>
                </a:cubicBezTo>
                <a:cubicBezTo>
                  <a:pt x="99811" y="59889"/>
                  <a:pt x="103635" y="44635"/>
                  <a:pt x="106009" y="37310"/>
                </a:cubicBezTo>
                <a:cubicBezTo>
                  <a:pt x="108384" y="29985"/>
                  <a:pt x="111442" y="17589"/>
                  <a:pt x="112529" y="13645"/>
                </a:cubicBezTo>
              </a:path>
            </a:pathLst>
          </a:custGeom>
          <a:noFill/>
          <a:ln w="9525" cap="flat" cmpd="sng">
            <a:solidFill>
              <a:srgbClr val="CC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539" name="Google Shape;539;p56"/>
          <p:cNvSpPr txBox="1"/>
          <p:nvPr/>
        </p:nvSpPr>
        <p:spPr>
          <a:xfrm>
            <a:off x="2481200" y="2617038"/>
            <a:ext cx="645900" cy="44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Overpass"/>
                <a:ea typeface="Overpass"/>
                <a:cs typeface="Overpass"/>
                <a:sym typeface="Overpass"/>
              </a:rPr>
              <a:t>Y</a:t>
            </a:r>
            <a:endParaRPr b="1">
              <a:latin typeface="Overpass"/>
              <a:ea typeface="Overpass"/>
              <a:cs typeface="Overpass"/>
              <a:sym typeface="Overpass"/>
            </a:endParaRPr>
          </a:p>
        </p:txBody>
      </p:sp>
      <p:sp>
        <p:nvSpPr>
          <p:cNvPr id="540" name="Google Shape;540;p56"/>
          <p:cNvSpPr txBox="1"/>
          <p:nvPr/>
        </p:nvSpPr>
        <p:spPr>
          <a:xfrm>
            <a:off x="4311775" y="3899688"/>
            <a:ext cx="645900" cy="44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Overpass"/>
                <a:ea typeface="Overpass"/>
                <a:cs typeface="Overpass"/>
                <a:sym typeface="Overpass"/>
              </a:rPr>
              <a:t>X</a:t>
            </a:r>
            <a:endParaRPr b="1">
              <a:latin typeface="Overpass"/>
              <a:ea typeface="Overpass"/>
              <a:cs typeface="Overpass"/>
              <a:sym typeface="Overpass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Google Shape;546;p57"/>
          <p:cNvSpPr txBox="1"/>
          <p:nvPr/>
        </p:nvSpPr>
        <p:spPr>
          <a:xfrm>
            <a:off x="1042425" y="211038"/>
            <a:ext cx="7061700" cy="74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000"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48" name="Google Shape;548;p57"/>
          <p:cNvSpPr txBox="1"/>
          <p:nvPr/>
        </p:nvSpPr>
        <p:spPr>
          <a:xfrm>
            <a:off x="1109150" y="27825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2A3990"/>
                </a:solidFill>
                <a:latin typeface="Montserrat"/>
                <a:ea typeface="Montserrat"/>
                <a:cs typeface="Montserrat"/>
                <a:sym typeface="Montserrat"/>
              </a:rPr>
              <a:t>Machine Learning</a:t>
            </a:r>
            <a:endParaRPr sz="3000">
              <a:solidFill>
                <a:srgbClr val="2A399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49" name="Google Shape;549;p57"/>
          <p:cNvSpPr txBox="1"/>
          <p:nvPr/>
        </p:nvSpPr>
        <p:spPr>
          <a:xfrm>
            <a:off x="311700" y="1229875"/>
            <a:ext cx="8520600" cy="333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937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Arial"/>
              <a:buChar char="●"/>
            </a:pPr>
            <a:r>
              <a:rPr lang="en" sz="2600" b="1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Overfitting </a:t>
            </a:r>
            <a:endParaRPr sz="2600" b="1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endParaRPr sz="26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550" name="Google Shape;550;p57"/>
          <p:cNvCxnSpPr/>
          <p:nvPr/>
        </p:nvCxnSpPr>
        <p:spPr>
          <a:xfrm>
            <a:off x="3098025" y="1933375"/>
            <a:ext cx="0" cy="19320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triangle" w="med" len="med"/>
            <a:tailEnd type="none" w="med" len="med"/>
          </a:ln>
        </p:spPr>
      </p:cxnSp>
      <p:cxnSp>
        <p:nvCxnSpPr>
          <p:cNvPr id="551" name="Google Shape;551;p57"/>
          <p:cNvCxnSpPr/>
          <p:nvPr/>
        </p:nvCxnSpPr>
        <p:spPr>
          <a:xfrm rot="10800000">
            <a:off x="3098025" y="3865375"/>
            <a:ext cx="29505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triangle" w="med" len="med"/>
            <a:tailEnd type="none" w="med" len="med"/>
          </a:ln>
        </p:spPr>
      </p:cxnSp>
      <p:sp>
        <p:nvSpPr>
          <p:cNvPr id="552" name="Google Shape;552;p57"/>
          <p:cNvSpPr/>
          <p:nvPr/>
        </p:nvSpPr>
        <p:spPr>
          <a:xfrm>
            <a:off x="3604075" y="3314300"/>
            <a:ext cx="117900" cy="1179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3" name="Google Shape;553;p57"/>
          <p:cNvSpPr/>
          <p:nvPr/>
        </p:nvSpPr>
        <p:spPr>
          <a:xfrm>
            <a:off x="3721975" y="2840425"/>
            <a:ext cx="117900" cy="1179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4" name="Google Shape;554;p57"/>
          <p:cNvSpPr/>
          <p:nvPr/>
        </p:nvSpPr>
        <p:spPr>
          <a:xfrm>
            <a:off x="4126200" y="2802575"/>
            <a:ext cx="117900" cy="1179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5" name="Google Shape;555;p57"/>
          <p:cNvSpPr/>
          <p:nvPr/>
        </p:nvSpPr>
        <p:spPr>
          <a:xfrm>
            <a:off x="4284625" y="2449400"/>
            <a:ext cx="117900" cy="1179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6" name="Google Shape;556;p57"/>
          <p:cNvSpPr/>
          <p:nvPr/>
        </p:nvSpPr>
        <p:spPr>
          <a:xfrm>
            <a:off x="4708700" y="2631975"/>
            <a:ext cx="117900" cy="1179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7" name="Google Shape;557;p57"/>
          <p:cNvSpPr/>
          <p:nvPr/>
        </p:nvSpPr>
        <p:spPr>
          <a:xfrm>
            <a:off x="4957675" y="2350363"/>
            <a:ext cx="117900" cy="1179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8" name="Google Shape;558;p57"/>
          <p:cNvSpPr/>
          <p:nvPr/>
        </p:nvSpPr>
        <p:spPr>
          <a:xfrm>
            <a:off x="5375700" y="2631975"/>
            <a:ext cx="117900" cy="1179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9" name="Google Shape;559;p57"/>
          <p:cNvSpPr/>
          <p:nvPr/>
        </p:nvSpPr>
        <p:spPr>
          <a:xfrm>
            <a:off x="5135700" y="2567300"/>
            <a:ext cx="117900" cy="1179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0" name="Google Shape;560;p57"/>
          <p:cNvSpPr/>
          <p:nvPr/>
        </p:nvSpPr>
        <p:spPr>
          <a:xfrm>
            <a:off x="5553725" y="2350363"/>
            <a:ext cx="117900" cy="1179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1" name="Google Shape;561;p57"/>
          <p:cNvSpPr/>
          <p:nvPr/>
        </p:nvSpPr>
        <p:spPr>
          <a:xfrm>
            <a:off x="5802725" y="2749875"/>
            <a:ext cx="117900" cy="1179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2" name="Google Shape;562;p57"/>
          <p:cNvSpPr/>
          <p:nvPr/>
        </p:nvSpPr>
        <p:spPr>
          <a:xfrm>
            <a:off x="3908575" y="3111700"/>
            <a:ext cx="117900" cy="1179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3" name="Google Shape;563;p57"/>
          <p:cNvSpPr/>
          <p:nvPr/>
        </p:nvSpPr>
        <p:spPr>
          <a:xfrm>
            <a:off x="3292100" y="3402975"/>
            <a:ext cx="117900" cy="1179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4" name="Google Shape;564;p57"/>
          <p:cNvSpPr/>
          <p:nvPr/>
        </p:nvSpPr>
        <p:spPr>
          <a:xfrm>
            <a:off x="3211675" y="1844240"/>
            <a:ext cx="2813225" cy="1883825"/>
          </a:xfrm>
          <a:custGeom>
            <a:avLst/>
            <a:gdLst/>
            <a:ahLst/>
            <a:cxnLst/>
            <a:rect l="l" t="t" r="r" b="b"/>
            <a:pathLst>
              <a:path w="112529" h="75353" extrusionOk="0">
                <a:moveTo>
                  <a:pt x="0" y="20165"/>
                </a:moveTo>
                <a:cubicBezTo>
                  <a:pt x="845" y="27611"/>
                  <a:pt x="2656" y="55663"/>
                  <a:pt x="5071" y="64839"/>
                </a:cubicBezTo>
                <a:cubicBezTo>
                  <a:pt x="7486" y="74015"/>
                  <a:pt x="12234" y="75745"/>
                  <a:pt x="14488" y="75222"/>
                </a:cubicBezTo>
                <a:cubicBezTo>
                  <a:pt x="16742" y="74699"/>
                  <a:pt x="17266" y="67335"/>
                  <a:pt x="18594" y="61700"/>
                </a:cubicBezTo>
                <a:cubicBezTo>
                  <a:pt x="19922" y="56066"/>
                  <a:pt x="21330" y="48378"/>
                  <a:pt x="22457" y="41415"/>
                </a:cubicBezTo>
                <a:cubicBezTo>
                  <a:pt x="23584" y="34452"/>
                  <a:pt x="23946" y="17710"/>
                  <a:pt x="25355" y="19924"/>
                </a:cubicBezTo>
                <a:cubicBezTo>
                  <a:pt x="26764" y="22138"/>
                  <a:pt x="29702" y="46447"/>
                  <a:pt x="30909" y="54697"/>
                </a:cubicBezTo>
                <a:cubicBezTo>
                  <a:pt x="32116" y="62948"/>
                  <a:pt x="31110" y="71480"/>
                  <a:pt x="32599" y="69427"/>
                </a:cubicBezTo>
                <a:cubicBezTo>
                  <a:pt x="34088" y="67374"/>
                  <a:pt x="37751" y="49625"/>
                  <a:pt x="39844" y="42381"/>
                </a:cubicBezTo>
                <a:cubicBezTo>
                  <a:pt x="41937" y="35137"/>
                  <a:pt x="42902" y="31515"/>
                  <a:pt x="45156" y="25961"/>
                </a:cubicBezTo>
                <a:cubicBezTo>
                  <a:pt x="47410" y="20407"/>
                  <a:pt x="50550" y="7367"/>
                  <a:pt x="53367" y="9057"/>
                </a:cubicBezTo>
                <a:cubicBezTo>
                  <a:pt x="56184" y="10747"/>
                  <a:pt x="59364" y="25719"/>
                  <a:pt x="62060" y="36103"/>
                </a:cubicBezTo>
                <a:cubicBezTo>
                  <a:pt x="64757" y="46487"/>
                  <a:pt x="67775" y="75022"/>
                  <a:pt x="69546" y="71359"/>
                </a:cubicBezTo>
                <a:cubicBezTo>
                  <a:pt x="71317" y="67697"/>
                  <a:pt x="71518" y="25880"/>
                  <a:pt x="72685" y="14128"/>
                </a:cubicBezTo>
                <a:cubicBezTo>
                  <a:pt x="73852" y="2376"/>
                  <a:pt x="75382" y="-1930"/>
                  <a:pt x="76549" y="847"/>
                </a:cubicBezTo>
                <a:cubicBezTo>
                  <a:pt x="77716" y="3624"/>
                  <a:pt x="78642" y="20205"/>
                  <a:pt x="79688" y="30790"/>
                </a:cubicBezTo>
                <a:cubicBezTo>
                  <a:pt x="80734" y="41375"/>
                  <a:pt x="81258" y="64356"/>
                  <a:pt x="82827" y="64356"/>
                </a:cubicBezTo>
                <a:cubicBezTo>
                  <a:pt x="84397" y="64356"/>
                  <a:pt x="87576" y="40972"/>
                  <a:pt x="89105" y="30790"/>
                </a:cubicBezTo>
                <a:cubicBezTo>
                  <a:pt x="90634" y="20608"/>
                  <a:pt x="90715" y="4469"/>
                  <a:pt x="92003" y="3262"/>
                </a:cubicBezTo>
                <a:cubicBezTo>
                  <a:pt x="93291" y="2055"/>
                  <a:pt x="95787" y="14491"/>
                  <a:pt x="96833" y="23546"/>
                </a:cubicBezTo>
                <a:cubicBezTo>
                  <a:pt x="97880" y="32602"/>
                  <a:pt x="96753" y="55301"/>
                  <a:pt x="98282" y="57595"/>
                </a:cubicBezTo>
                <a:cubicBezTo>
                  <a:pt x="99811" y="59889"/>
                  <a:pt x="103635" y="44635"/>
                  <a:pt x="106009" y="37310"/>
                </a:cubicBezTo>
                <a:cubicBezTo>
                  <a:pt x="108384" y="29985"/>
                  <a:pt x="111442" y="17589"/>
                  <a:pt x="112529" y="13645"/>
                </a:cubicBezTo>
              </a:path>
            </a:pathLst>
          </a:custGeom>
          <a:noFill/>
          <a:ln w="9525" cap="flat" cmpd="sng">
            <a:solidFill>
              <a:srgbClr val="CC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565" name="Google Shape;565;p57"/>
          <p:cNvSpPr txBox="1"/>
          <p:nvPr/>
        </p:nvSpPr>
        <p:spPr>
          <a:xfrm>
            <a:off x="2481200" y="2617038"/>
            <a:ext cx="645900" cy="44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Overpass"/>
                <a:ea typeface="Overpass"/>
                <a:cs typeface="Overpass"/>
                <a:sym typeface="Overpass"/>
              </a:rPr>
              <a:t>Y</a:t>
            </a:r>
            <a:endParaRPr b="1">
              <a:latin typeface="Overpass"/>
              <a:ea typeface="Overpass"/>
              <a:cs typeface="Overpass"/>
              <a:sym typeface="Overpass"/>
            </a:endParaRPr>
          </a:p>
        </p:txBody>
      </p:sp>
      <p:sp>
        <p:nvSpPr>
          <p:cNvPr id="566" name="Google Shape;566;p57"/>
          <p:cNvSpPr txBox="1"/>
          <p:nvPr/>
        </p:nvSpPr>
        <p:spPr>
          <a:xfrm>
            <a:off x="4311775" y="3899688"/>
            <a:ext cx="645900" cy="44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Overpass"/>
                <a:ea typeface="Overpass"/>
                <a:cs typeface="Overpass"/>
                <a:sym typeface="Overpass"/>
              </a:rPr>
              <a:t>X</a:t>
            </a:r>
            <a:endParaRPr b="1">
              <a:latin typeface="Overpass"/>
              <a:ea typeface="Overpass"/>
              <a:cs typeface="Overpass"/>
              <a:sym typeface="Overpass"/>
            </a:endParaRPr>
          </a:p>
        </p:txBody>
      </p:sp>
      <p:sp>
        <p:nvSpPr>
          <p:cNvPr id="567" name="Google Shape;567;p57"/>
          <p:cNvSpPr/>
          <p:nvPr/>
        </p:nvSpPr>
        <p:spPr>
          <a:xfrm>
            <a:off x="4434750" y="2867775"/>
            <a:ext cx="117900" cy="117900"/>
          </a:xfrm>
          <a:prstGeom prst="ellipse">
            <a:avLst/>
          </a:prstGeom>
          <a:solidFill>
            <a:srgbClr val="93C47D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Google Shape;573;p58"/>
          <p:cNvSpPr txBox="1"/>
          <p:nvPr/>
        </p:nvSpPr>
        <p:spPr>
          <a:xfrm>
            <a:off x="1042425" y="211038"/>
            <a:ext cx="7061700" cy="74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000"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75" name="Google Shape;575;p58"/>
          <p:cNvSpPr txBox="1"/>
          <p:nvPr/>
        </p:nvSpPr>
        <p:spPr>
          <a:xfrm>
            <a:off x="1109150" y="27825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2A3990"/>
                </a:solidFill>
                <a:latin typeface="Montserrat"/>
                <a:ea typeface="Montserrat"/>
                <a:cs typeface="Montserrat"/>
                <a:sym typeface="Montserrat"/>
              </a:rPr>
              <a:t>Machine Learning</a:t>
            </a:r>
            <a:endParaRPr sz="3000">
              <a:solidFill>
                <a:srgbClr val="2A399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76" name="Google Shape;576;p58"/>
          <p:cNvSpPr txBox="1"/>
          <p:nvPr/>
        </p:nvSpPr>
        <p:spPr>
          <a:xfrm>
            <a:off x="311700" y="1229875"/>
            <a:ext cx="8520600" cy="333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937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Arial"/>
              <a:buChar char="●"/>
            </a:pPr>
            <a:r>
              <a:rPr lang="en" sz="2600" b="1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Overfitting </a:t>
            </a:r>
            <a:endParaRPr sz="2600" b="1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endParaRPr sz="26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577" name="Google Shape;577;p58"/>
          <p:cNvCxnSpPr/>
          <p:nvPr/>
        </p:nvCxnSpPr>
        <p:spPr>
          <a:xfrm>
            <a:off x="3098025" y="1933375"/>
            <a:ext cx="0" cy="19320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triangle" w="med" len="med"/>
            <a:tailEnd type="none" w="med" len="med"/>
          </a:ln>
        </p:spPr>
      </p:cxnSp>
      <p:cxnSp>
        <p:nvCxnSpPr>
          <p:cNvPr id="578" name="Google Shape;578;p58"/>
          <p:cNvCxnSpPr/>
          <p:nvPr/>
        </p:nvCxnSpPr>
        <p:spPr>
          <a:xfrm rot="10800000">
            <a:off x="3098025" y="3865375"/>
            <a:ext cx="29505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triangle" w="med" len="med"/>
            <a:tailEnd type="none" w="med" len="med"/>
          </a:ln>
        </p:spPr>
      </p:cxnSp>
      <p:sp>
        <p:nvSpPr>
          <p:cNvPr id="579" name="Google Shape;579;p58"/>
          <p:cNvSpPr/>
          <p:nvPr/>
        </p:nvSpPr>
        <p:spPr>
          <a:xfrm>
            <a:off x="3604075" y="3314300"/>
            <a:ext cx="117900" cy="1179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0" name="Google Shape;580;p58"/>
          <p:cNvSpPr/>
          <p:nvPr/>
        </p:nvSpPr>
        <p:spPr>
          <a:xfrm>
            <a:off x="3721975" y="2840425"/>
            <a:ext cx="117900" cy="1179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1" name="Google Shape;581;p58"/>
          <p:cNvSpPr/>
          <p:nvPr/>
        </p:nvSpPr>
        <p:spPr>
          <a:xfrm>
            <a:off x="4126200" y="2802575"/>
            <a:ext cx="117900" cy="1179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2" name="Google Shape;582;p58"/>
          <p:cNvSpPr/>
          <p:nvPr/>
        </p:nvSpPr>
        <p:spPr>
          <a:xfrm>
            <a:off x="4284625" y="2449400"/>
            <a:ext cx="117900" cy="1179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3" name="Google Shape;583;p58"/>
          <p:cNvSpPr/>
          <p:nvPr/>
        </p:nvSpPr>
        <p:spPr>
          <a:xfrm>
            <a:off x="4708700" y="2631975"/>
            <a:ext cx="117900" cy="1179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4" name="Google Shape;584;p58"/>
          <p:cNvSpPr/>
          <p:nvPr/>
        </p:nvSpPr>
        <p:spPr>
          <a:xfrm>
            <a:off x="4957675" y="2350363"/>
            <a:ext cx="117900" cy="1179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5" name="Google Shape;585;p58"/>
          <p:cNvSpPr/>
          <p:nvPr/>
        </p:nvSpPr>
        <p:spPr>
          <a:xfrm>
            <a:off x="5375700" y="2631975"/>
            <a:ext cx="117900" cy="1179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6" name="Google Shape;586;p58"/>
          <p:cNvSpPr/>
          <p:nvPr/>
        </p:nvSpPr>
        <p:spPr>
          <a:xfrm>
            <a:off x="5135700" y="2567300"/>
            <a:ext cx="117900" cy="1179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7" name="Google Shape;587;p58"/>
          <p:cNvSpPr/>
          <p:nvPr/>
        </p:nvSpPr>
        <p:spPr>
          <a:xfrm>
            <a:off x="5553725" y="2350363"/>
            <a:ext cx="117900" cy="1179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8" name="Google Shape;588;p58"/>
          <p:cNvSpPr/>
          <p:nvPr/>
        </p:nvSpPr>
        <p:spPr>
          <a:xfrm>
            <a:off x="5802725" y="2749875"/>
            <a:ext cx="117900" cy="1179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9" name="Google Shape;589;p58"/>
          <p:cNvSpPr/>
          <p:nvPr/>
        </p:nvSpPr>
        <p:spPr>
          <a:xfrm>
            <a:off x="3908575" y="3111700"/>
            <a:ext cx="117900" cy="1179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0" name="Google Shape;590;p58"/>
          <p:cNvSpPr/>
          <p:nvPr/>
        </p:nvSpPr>
        <p:spPr>
          <a:xfrm>
            <a:off x="3292100" y="3402975"/>
            <a:ext cx="117900" cy="1179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1" name="Google Shape;591;p58"/>
          <p:cNvSpPr/>
          <p:nvPr/>
        </p:nvSpPr>
        <p:spPr>
          <a:xfrm>
            <a:off x="3211675" y="1844240"/>
            <a:ext cx="2813225" cy="1883825"/>
          </a:xfrm>
          <a:custGeom>
            <a:avLst/>
            <a:gdLst/>
            <a:ahLst/>
            <a:cxnLst/>
            <a:rect l="l" t="t" r="r" b="b"/>
            <a:pathLst>
              <a:path w="112529" h="75353" extrusionOk="0">
                <a:moveTo>
                  <a:pt x="0" y="20165"/>
                </a:moveTo>
                <a:cubicBezTo>
                  <a:pt x="845" y="27611"/>
                  <a:pt x="2656" y="55663"/>
                  <a:pt x="5071" y="64839"/>
                </a:cubicBezTo>
                <a:cubicBezTo>
                  <a:pt x="7486" y="74015"/>
                  <a:pt x="12234" y="75745"/>
                  <a:pt x="14488" y="75222"/>
                </a:cubicBezTo>
                <a:cubicBezTo>
                  <a:pt x="16742" y="74699"/>
                  <a:pt x="17266" y="67335"/>
                  <a:pt x="18594" y="61700"/>
                </a:cubicBezTo>
                <a:cubicBezTo>
                  <a:pt x="19922" y="56066"/>
                  <a:pt x="21330" y="48378"/>
                  <a:pt x="22457" y="41415"/>
                </a:cubicBezTo>
                <a:cubicBezTo>
                  <a:pt x="23584" y="34452"/>
                  <a:pt x="23946" y="17710"/>
                  <a:pt x="25355" y="19924"/>
                </a:cubicBezTo>
                <a:cubicBezTo>
                  <a:pt x="26764" y="22138"/>
                  <a:pt x="29702" y="46447"/>
                  <a:pt x="30909" y="54697"/>
                </a:cubicBezTo>
                <a:cubicBezTo>
                  <a:pt x="32116" y="62948"/>
                  <a:pt x="31110" y="71480"/>
                  <a:pt x="32599" y="69427"/>
                </a:cubicBezTo>
                <a:cubicBezTo>
                  <a:pt x="34088" y="67374"/>
                  <a:pt x="37751" y="49625"/>
                  <a:pt x="39844" y="42381"/>
                </a:cubicBezTo>
                <a:cubicBezTo>
                  <a:pt x="41937" y="35137"/>
                  <a:pt x="42902" y="31515"/>
                  <a:pt x="45156" y="25961"/>
                </a:cubicBezTo>
                <a:cubicBezTo>
                  <a:pt x="47410" y="20407"/>
                  <a:pt x="50550" y="7367"/>
                  <a:pt x="53367" y="9057"/>
                </a:cubicBezTo>
                <a:cubicBezTo>
                  <a:pt x="56184" y="10747"/>
                  <a:pt x="59364" y="25719"/>
                  <a:pt x="62060" y="36103"/>
                </a:cubicBezTo>
                <a:cubicBezTo>
                  <a:pt x="64757" y="46487"/>
                  <a:pt x="67775" y="75022"/>
                  <a:pt x="69546" y="71359"/>
                </a:cubicBezTo>
                <a:cubicBezTo>
                  <a:pt x="71317" y="67697"/>
                  <a:pt x="71518" y="25880"/>
                  <a:pt x="72685" y="14128"/>
                </a:cubicBezTo>
                <a:cubicBezTo>
                  <a:pt x="73852" y="2376"/>
                  <a:pt x="75382" y="-1930"/>
                  <a:pt x="76549" y="847"/>
                </a:cubicBezTo>
                <a:cubicBezTo>
                  <a:pt x="77716" y="3624"/>
                  <a:pt x="78642" y="20205"/>
                  <a:pt x="79688" y="30790"/>
                </a:cubicBezTo>
                <a:cubicBezTo>
                  <a:pt x="80734" y="41375"/>
                  <a:pt x="81258" y="64356"/>
                  <a:pt x="82827" y="64356"/>
                </a:cubicBezTo>
                <a:cubicBezTo>
                  <a:pt x="84397" y="64356"/>
                  <a:pt x="87576" y="40972"/>
                  <a:pt x="89105" y="30790"/>
                </a:cubicBezTo>
                <a:cubicBezTo>
                  <a:pt x="90634" y="20608"/>
                  <a:pt x="90715" y="4469"/>
                  <a:pt x="92003" y="3262"/>
                </a:cubicBezTo>
                <a:cubicBezTo>
                  <a:pt x="93291" y="2055"/>
                  <a:pt x="95787" y="14491"/>
                  <a:pt x="96833" y="23546"/>
                </a:cubicBezTo>
                <a:cubicBezTo>
                  <a:pt x="97880" y="32602"/>
                  <a:pt x="96753" y="55301"/>
                  <a:pt x="98282" y="57595"/>
                </a:cubicBezTo>
                <a:cubicBezTo>
                  <a:pt x="99811" y="59889"/>
                  <a:pt x="103635" y="44635"/>
                  <a:pt x="106009" y="37310"/>
                </a:cubicBezTo>
                <a:cubicBezTo>
                  <a:pt x="108384" y="29985"/>
                  <a:pt x="111442" y="17589"/>
                  <a:pt x="112529" y="13645"/>
                </a:cubicBezTo>
              </a:path>
            </a:pathLst>
          </a:custGeom>
          <a:noFill/>
          <a:ln w="9525" cap="flat" cmpd="sng">
            <a:solidFill>
              <a:srgbClr val="CC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592" name="Google Shape;592;p58"/>
          <p:cNvSpPr txBox="1"/>
          <p:nvPr/>
        </p:nvSpPr>
        <p:spPr>
          <a:xfrm>
            <a:off x="2481200" y="2617038"/>
            <a:ext cx="645900" cy="44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Overpass"/>
                <a:ea typeface="Overpass"/>
                <a:cs typeface="Overpass"/>
                <a:sym typeface="Overpass"/>
              </a:rPr>
              <a:t>Y</a:t>
            </a:r>
            <a:endParaRPr b="1">
              <a:latin typeface="Overpass"/>
              <a:ea typeface="Overpass"/>
              <a:cs typeface="Overpass"/>
              <a:sym typeface="Overpass"/>
            </a:endParaRPr>
          </a:p>
        </p:txBody>
      </p:sp>
      <p:sp>
        <p:nvSpPr>
          <p:cNvPr id="593" name="Google Shape;593;p58"/>
          <p:cNvSpPr txBox="1"/>
          <p:nvPr/>
        </p:nvSpPr>
        <p:spPr>
          <a:xfrm>
            <a:off x="4311775" y="3899688"/>
            <a:ext cx="645900" cy="44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Overpass"/>
                <a:ea typeface="Overpass"/>
                <a:cs typeface="Overpass"/>
                <a:sym typeface="Overpass"/>
              </a:rPr>
              <a:t>X</a:t>
            </a:r>
            <a:endParaRPr b="1">
              <a:latin typeface="Overpass"/>
              <a:ea typeface="Overpass"/>
              <a:cs typeface="Overpass"/>
              <a:sym typeface="Overpass"/>
            </a:endParaRPr>
          </a:p>
        </p:txBody>
      </p:sp>
      <p:sp>
        <p:nvSpPr>
          <p:cNvPr id="594" name="Google Shape;594;p58"/>
          <p:cNvSpPr/>
          <p:nvPr/>
        </p:nvSpPr>
        <p:spPr>
          <a:xfrm>
            <a:off x="4434750" y="2867775"/>
            <a:ext cx="117900" cy="117900"/>
          </a:xfrm>
          <a:prstGeom prst="ellipse">
            <a:avLst/>
          </a:prstGeom>
          <a:solidFill>
            <a:srgbClr val="93C47D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595" name="Google Shape;595;p58"/>
          <p:cNvCxnSpPr>
            <a:stCxn id="594" idx="0"/>
          </p:cNvCxnSpPr>
          <p:nvPr/>
        </p:nvCxnSpPr>
        <p:spPr>
          <a:xfrm rot="10800000">
            <a:off x="4493700" y="2106975"/>
            <a:ext cx="0" cy="760800"/>
          </a:xfrm>
          <a:prstGeom prst="straightConnector1">
            <a:avLst/>
          </a:prstGeom>
          <a:noFill/>
          <a:ln w="19050" cap="flat" cmpd="sng">
            <a:solidFill>
              <a:srgbClr val="3C78D8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Google Shape;601;p59"/>
          <p:cNvSpPr txBox="1"/>
          <p:nvPr/>
        </p:nvSpPr>
        <p:spPr>
          <a:xfrm>
            <a:off x="1042425" y="211038"/>
            <a:ext cx="7061700" cy="74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000"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03" name="Google Shape;603;p59"/>
          <p:cNvSpPr txBox="1"/>
          <p:nvPr/>
        </p:nvSpPr>
        <p:spPr>
          <a:xfrm>
            <a:off x="1109150" y="27825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2A3990"/>
                </a:solidFill>
                <a:latin typeface="Montserrat"/>
                <a:ea typeface="Montserrat"/>
                <a:cs typeface="Montserrat"/>
                <a:sym typeface="Montserrat"/>
              </a:rPr>
              <a:t>Machine Learning</a:t>
            </a:r>
            <a:endParaRPr sz="3000">
              <a:solidFill>
                <a:srgbClr val="2A399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04" name="Google Shape;604;p59"/>
          <p:cNvSpPr txBox="1"/>
          <p:nvPr/>
        </p:nvSpPr>
        <p:spPr>
          <a:xfrm>
            <a:off x="311700" y="1229875"/>
            <a:ext cx="8520600" cy="333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937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Arial"/>
              <a:buChar char="●"/>
            </a:pPr>
            <a:r>
              <a:rPr lang="en" sz="2600" b="1" dirty="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Underfitting </a:t>
            </a:r>
            <a:endParaRPr sz="2600" b="1" dirty="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914400" marR="0" lvl="1" indent="-3937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Montserrat"/>
              <a:buChar char="○"/>
            </a:pPr>
            <a:r>
              <a:rPr lang="en" sz="2600" dirty="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Model does not capture the underlying trend of the data and does not fit the data well enough.  </a:t>
            </a:r>
            <a:endParaRPr sz="2600" dirty="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914400" marR="0" lvl="1" indent="-3937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Montserrat"/>
              <a:buChar char="○"/>
            </a:pPr>
            <a:r>
              <a:rPr lang="en" sz="2600" dirty="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Low variance but high bias.  </a:t>
            </a:r>
            <a:endParaRPr sz="2600" dirty="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914400" marR="0" lvl="1" indent="-3937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Montserrat"/>
              <a:buChar char="○"/>
            </a:pPr>
            <a:r>
              <a:rPr lang="en" sz="2600" dirty="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Underfitting is often a result of an excessively simple model.</a:t>
            </a:r>
            <a:endParaRPr sz="2600" dirty="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endParaRPr sz="2600" dirty="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" name="Google Shape;610;p60"/>
          <p:cNvSpPr txBox="1"/>
          <p:nvPr/>
        </p:nvSpPr>
        <p:spPr>
          <a:xfrm>
            <a:off x="1042425" y="211038"/>
            <a:ext cx="7061700" cy="74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000"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12" name="Google Shape;612;p60"/>
          <p:cNvSpPr txBox="1"/>
          <p:nvPr/>
        </p:nvSpPr>
        <p:spPr>
          <a:xfrm>
            <a:off x="1109150" y="27825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2A3990"/>
                </a:solidFill>
                <a:latin typeface="Montserrat"/>
                <a:ea typeface="Montserrat"/>
                <a:cs typeface="Montserrat"/>
                <a:sym typeface="Montserrat"/>
              </a:rPr>
              <a:t>Machine Learning</a:t>
            </a:r>
            <a:endParaRPr sz="3000">
              <a:solidFill>
                <a:srgbClr val="2A399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13" name="Google Shape;613;p60"/>
          <p:cNvSpPr txBox="1"/>
          <p:nvPr/>
        </p:nvSpPr>
        <p:spPr>
          <a:xfrm>
            <a:off x="311700" y="1229875"/>
            <a:ext cx="8520600" cy="333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2600" b="1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Data</a:t>
            </a:r>
            <a:endParaRPr sz="26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614" name="Google Shape;614;p60"/>
          <p:cNvCxnSpPr/>
          <p:nvPr/>
        </p:nvCxnSpPr>
        <p:spPr>
          <a:xfrm>
            <a:off x="3098025" y="1933375"/>
            <a:ext cx="0" cy="19320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triangle" w="med" len="med"/>
            <a:tailEnd type="none" w="med" len="med"/>
          </a:ln>
        </p:spPr>
      </p:cxnSp>
      <p:cxnSp>
        <p:nvCxnSpPr>
          <p:cNvPr id="615" name="Google Shape;615;p60"/>
          <p:cNvCxnSpPr/>
          <p:nvPr/>
        </p:nvCxnSpPr>
        <p:spPr>
          <a:xfrm rot="10800000">
            <a:off x="3098025" y="3865375"/>
            <a:ext cx="29505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triangle" w="med" len="med"/>
            <a:tailEnd type="none" w="med" len="med"/>
          </a:ln>
        </p:spPr>
      </p:cxnSp>
      <p:sp>
        <p:nvSpPr>
          <p:cNvPr id="616" name="Google Shape;616;p60"/>
          <p:cNvSpPr/>
          <p:nvPr/>
        </p:nvSpPr>
        <p:spPr>
          <a:xfrm>
            <a:off x="3604075" y="3314300"/>
            <a:ext cx="117900" cy="1179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7" name="Google Shape;617;p60"/>
          <p:cNvSpPr/>
          <p:nvPr/>
        </p:nvSpPr>
        <p:spPr>
          <a:xfrm>
            <a:off x="3721975" y="2840425"/>
            <a:ext cx="117900" cy="1179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8" name="Google Shape;618;p60"/>
          <p:cNvSpPr/>
          <p:nvPr/>
        </p:nvSpPr>
        <p:spPr>
          <a:xfrm>
            <a:off x="4126200" y="2802575"/>
            <a:ext cx="117900" cy="1179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9" name="Google Shape;619;p60"/>
          <p:cNvSpPr/>
          <p:nvPr/>
        </p:nvSpPr>
        <p:spPr>
          <a:xfrm>
            <a:off x="4284625" y="2449400"/>
            <a:ext cx="117900" cy="1179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0" name="Google Shape;620;p60"/>
          <p:cNvSpPr/>
          <p:nvPr/>
        </p:nvSpPr>
        <p:spPr>
          <a:xfrm>
            <a:off x="4708700" y="2631975"/>
            <a:ext cx="117900" cy="1179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1" name="Google Shape;621;p60"/>
          <p:cNvSpPr/>
          <p:nvPr/>
        </p:nvSpPr>
        <p:spPr>
          <a:xfrm>
            <a:off x="4957675" y="2350363"/>
            <a:ext cx="117900" cy="1179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2" name="Google Shape;622;p60"/>
          <p:cNvSpPr/>
          <p:nvPr/>
        </p:nvSpPr>
        <p:spPr>
          <a:xfrm>
            <a:off x="5375700" y="2631975"/>
            <a:ext cx="117900" cy="1179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3" name="Google Shape;623;p60"/>
          <p:cNvSpPr/>
          <p:nvPr/>
        </p:nvSpPr>
        <p:spPr>
          <a:xfrm>
            <a:off x="5135700" y="2567300"/>
            <a:ext cx="117900" cy="1179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4" name="Google Shape;624;p60"/>
          <p:cNvSpPr/>
          <p:nvPr/>
        </p:nvSpPr>
        <p:spPr>
          <a:xfrm>
            <a:off x="5553725" y="2350363"/>
            <a:ext cx="117900" cy="1179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5" name="Google Shape;625;p60"/>
          <p:cNvSpPr/>
          <p:nvPr/>
        </p:nvSpPr>
        <p:spPr>
          <a:xfrm>
            <a:off x="5802725" y="2749875"/>
            <a:ext cx="117900" cy="1179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6" name="Google Shape;626;p60"/>
          <p:cNvSpPr/>
          <p:nvPr/>
        </p:nvSpPr>
        <p:spPr>
          <a:xfrm>
            <a:off x="3908575" y="3111700"/>
            <a:ext cx="117900" cy="1179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7" name="Google Shape;627;p60"/>
          <p:cNvSpPr/>
          <p:nvPr/>
        </p:nvSpPr>
        <p:spPr>
          <a:xfrm>
            <a:off x="3292100" y="3402975"/>
            <a:ext cx="117900" cy="1179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8" name="Google Shape;628;p60"/>
          <p:cNvSpPr txBox="1"/>
          <p:nvPr/>
        </p:nvSpPr>
        <p:spPr>
          <a:xfrm>
            <a:off x="2481200" y="2617038"/>
            <a:ext cx="645900" cy="44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Overpass"/>
                <a:ea typeface="Overpass"/>
                <a:cs typeface="Overpass"/>
                <a:sym typeface="Overpass"/>
              </a:rPr>
              <a:t>Y</a:t>
            </a:r>
            <a:endParaRPr b="1">
              <a:latin typeface="Overpass"/>
              <a:ea typeface="Overpass"/>
              <a:cs typeface="Overpass"/>
              <a:sym typeface="Overpass"/>
            </a:endParaRPr>
          </a:p>
        </p:txBody>
      </p:sp>
      <p:sp>
        <p:nvSpPr>
          <p:cNvPr id="629" name="Google Shape;629;p60"/>
          <p:cNvSpPr txBox="1"/>
          <p:nvPr/>
        </p:nvSpPr>
        <p:spPr>
          <a:xfrm>
            <a:off x="4311775" y="3899688"/>
            <a:ext cx="645900" cy="44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Overpass"/>
                <a:ea typeface="Overpass"/>
                <a:cs typeface="Overpass"/>
                <a:sym typeface="Overpass"/>
              </a:rPr>
              <a:t>X</a:t>
            </a:r>
            <a:endParaRPr b="1">
              <a:latin typeface="Overpass"/>
              <a:ea typeface="Overpass"/>
              <a:cs typeface="Overpass"/>
              <a:sym typeface="Overpass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5" name="Google Shape;635;p61"/>
          <p:cNvSpPr txBox="1"/>
          <p:nvPr/>
        </p:nvSpPr>
        <p:spPr>
          <a:xfrm>
            <a:off x="1042425" y="211038"/>
            <a:ext cx="7061700" cy="74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000"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37" name="Google Shape;637;p61"/>
          <p:cNvSpPr txBox="1"/>
          <p:nvPr/>
        </p:nvSpPr>
        <p:spPr>
          <a:xfrm>
            <a:off x="1109150" y="27825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2A3990"/>
                </a:solidFill>
                <a:latin typeface="Montserrat"/>
                <a:ea typeface="Montserrat"/>
                <a:cs typeface="Montserrat"/>
                <a:sym typeface="Montserrat"/>
              </a:rPr>
              <a:t>Machine Learning</a:t>
            </a:r>
            <a:endParaRPr sz="3000">
              <a:solidFill>
                <a:srgbClr val="2A399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38" name="Google Shape;638;p61"/>
          <p:cNvSpPr txBox="1"/>
          <p:nvPr/>
        </p:nvSpPr>
        <p:spPr>
          <a:xfrm>
            <a:off x="311700" y="1229875"/>
            <a:ext cx="8520600" cy="333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2600" b="1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Underfitting</a:t>
            </a:r>
            <a:endParaRPr sz="26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639" name="Google Shape;639;p61"/>
          <p:cNvCxnSpPr/>
          <p:nvPr/>
        </p:nvCxnSpPr>
        <p:spPr>
          <a:xfrm>
            <a:off x="3098025" y="1933375"/>
            <a:ext cx="0" cy="19320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triangle" w="med" len="med"/>
            <a:tailEnd type="none" w="med" len="med"/>
          </a:ln>
        </p:spPr>
      </p:cxnSp>
      <p:cxnSp>
        <p:nvCxnSpPr>
          <p:cNvPr id="640" name="Google Shape;640;p61"/>
          <p:cNvCxnSpPr/>
          <p:nvPr/>
        </p:nvCxnSpPr>
        <p:spPr>
          <a:xfrm rot="10800000">
            <a:off x="3098025" y="3865375"/>
            <a:ext cx="29505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triangle" w="med" len="med"/>
            <a:tailEnd type="none" w="med" len="med"/>
          </a:ln>
        </p:spPr>
      </p:cxnSp>
      <p:sp>
        <p:nvSpPr>
          <p:cNvPr id="641" name="Google Shape;641;p61"/>
          <p:cNvSpPr/>
          <p:nvPr/>
        </p:nvSpPr>
        <p:spPr>
          <a:xfrm>
            <a:off x="3604075" y="3314300"/>
            <a:ext cx="117900" cy="1179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2" name="Google Shape;642;p61"/>
          <p:cNvSpPr/>
          <p:nvPr/>
        </p:nvSpPr>
        <p:spPr>
          <a:xfrm>
            <a:off x="3721975" y="2840425"/>
            <a:ext cx="117900" cy="1179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3" name="Google Shape;643;p61"/>
          <p:cNvSpPr/>
          <p:nvPr/>
        </p:nvSpPr>
        <p:spPr>
          <a:xfrm>
            <a:off x="4126200" y="2802575"/>
            <a:ext cx="117900" cy="1179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4" name="Google Shape;644;p61"/>
          <p:cNvSpPr/>
          <p:nvPr/>
        </p:nvSpPr>
        <p:spPr>
          <a:xfrm>
            <a:off x="4284625" y="2449400"/>
            <a:ext cx="117900" cy="1179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5" name="Google Shape;645;p61"/>
          <p:cNvSpPr/>
          <p:nvPr/>
        </p:nvSpPr>
        <p:spPr>
          <a:xfrm>
            <a:off x="4708700" y="2631975"/>
            <a:ext cx="117900" cy="1179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6" name="Google Shape;646;p61"/>
          <p:cNvSpPr/>
          <p:nvPr/>
        </p:nvSpPr>
        <p:spPr>
          <a:xfrm>
            <a:off x="4957675" y="2350363"/>
            <a:ext cx="117900" cy="1179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7" name="Google Shape;647;p61"/>
          <p:cNvSpPr/>
          <p:nvPr/>
        </p:nvSpPr>
        <p:spPr>
          <a:xfrm>
            <a:off x="5375700" y="2631975"/>
            <a:ext cx="117900" cy="1179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8" name="Google Shape;648;p61"/>
          <p:cNvSpPr/>
          <p:nvPr/>
        </p:nvSpPr>
        <p:spPr>
          <a:xfrm>
            <a:off x="5135700" y="2567300"/>
            <a:ext cx="117900" cy="1179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9" name="Google Shape;649;p61"/>
          <p:cNvSpPr/>
          <p:nvPr/>
        </p:nvSpPr>
        <p:spPr>
          <a:xfrm>
            <a:off x="5553725" y="2350363"/>
            <a:ext cx="117900" cy="1179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0" name="Google Shape;650;p61"/>
          <p:cNvSpPr/>
          <p:nvPr/>
        </p:nvSpPr>
        <p:spPr>
          <a:xfrm>
            <a:off x="5802725" y="2749875"/>
            <a:ext cx="117900" cy="1179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1" name="Google Shape;651;p61"/>
          <p:cNvSpPr/>
          <p:nvPr/>
        </p:nvSpPr>
        <p:spPr>
          <a:xfrm>
            <a:off x="3908575" y="3111700"/>
            <a:ext cx="117900" cy="1179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2" name="Google Shape;652;p61"/>
          <p:cNvSpPr/>
          <p:nvPr/>
        </p:nvSpPr>
        <p:spPr>
          <a:xfrm>
            <a:off x="3292100" y="3402975"/>
            <a:ext cx="117900" cy="1179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3" name="Google Shape;653;p61"/>
          <p:cNvSpPr txBox="1"/>
          <p:nvPr/>
        </p:nvSpPr>
        <p:spPr>
          <a:xfrm>
            <a:off x="2481200" y="2617038"/>
            <a:ext cx="645900" cy="44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Overpass"/>
                <a:ea typeface="Overpass"/>
                <a:cs typeface="Overpass"/>
                <a:sym typeface="Overpass"/>
              </a:rPr>
              <a:t>Y</a:t>
            </a:r>
            <a:endParaRPr b="1">
              <a:latin typeface="Overpass"/>
              <a:ea typeface="Overpass"/>
              <a:cs typeface="Overpass"/>
              <a:sym typeface="Overpass"/>
            </a:endParaRPr>
          </a:p>
        </p:txBody>
      </p:sp>
      <p:sp>
        <p:nvSpPr>
          <p:cNvPr id="654" name="Google Shape;654;p61"/>
          <p:cNvSpPr txBox="1"/>
          <p:nvPr/>
        </p:nvSpPr>
        <p:spPr>
          <a:xfrm>
            <a:off x="4311775" y="3899688"/>
            <a:ext cx="645900" cy="44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Overpass"/>
                <a:ea typeface="Overpass"/>
                <a:cs typeface="Overpass"/>
                <a:sym typeface="Overpass"/>
              </a:rPr>
              <a:t>X</a:t>
            </a:r>
            <a:endParaRPr b="1">
              <a:latin typeface="Overpass"/>
              <a:ea typeface="Overpass"/>
              <a:cs typeface="Overpass"/>
              <a:sym typeface="Overpass"/>
            </a:endParaRPr>
          </a:p>
        </p:txBody>
      </p:sp>
      <p:cxnSp>
        <p:nvCxnSpPr>
          <p:cNvPr id="655" name="Google Shape;655;p61"/>
          <p:cNvCxnSpPr/>
          <p:nvPr/>
        </p:nvCxnSpPr>
        <p:spPr>
          <a:xfrm rot="10800000" flipH="1">
            <a:off x="3124775" y="1716550"/>
            <a:ext cx="2314800" cy="1940100"/>
          </a:xfrm>
          <a:prstGeom prst="straightConnector1">
            <a:avLst/>
          </a:prstGeom>
          <a:noFill/>
          <a:ln w="19050" cap="flat" cmpd="sng">
            <a:solidFill>
              <a:srgbClr val="990000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1" name="Google Shape;661;p62"/>
          <p:cNvSpPr txBox="1"/>
          <p:nvPr/>
        </p:nvSpPr>
        <p:spPr>
          <a:xfrm>
            <a:off x="1042425" y="211038"/>
            <a:ext cx="7061700" cy="74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000"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63" name="Google Shape;663;p62"/>
          <p:cNvSpPr txBox="1"/>
          <p:nvPr/>
        </p:nvSpPr>
        <p:spPr>
          <a:xfrm>
            <a:off x="1109150" y="27825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2A3990"/>
                </a:solidFill>
                <a:latin typeface="Montserrat"/>
                <a:ea typeface="Montserrat"/>
                <a:cs typeface="Montserrat"/>
                <a:sym typeface="Montserrat"/>
              </a:rPr>
              <a:t>Machine Learning</a:t>
            </a:r>
            <a:endParaRPr sz="3000">
              <a:solidFill>
                <a:srgbClr val="2A399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64" name="Google Shape;664;p62"/>
          <p:cNvSpPr txBox="1"/>
          <p:nvPr/>
        </p:nvSpPr>
        <p:spPr>
          <a:xfrm>
            <a:off x="311700" y="1229875"/>
            <a:ext cx="8520600" cy="333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937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Montserrat"/>
              <a:buChar char="●"/>
            </a:pPr>
            <a:r>
              <a:rPr lang="en" sz="26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This data was easy to visualize, but how can we see underfitting and overfitting when dealing with multi dimensional data sets?</a:t>
            </a:r>
            <a:endParaRPr sz="26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3937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Montserrat"/>
              <a:buChar char="●"/>
            </a:pPr>
            <a:r>
              <a:rPr lang="en" sz="26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First let’s imagine we trained a model and then measured its error over training time.</a:t>
            </a:r>
            <a:endParaRPr sz="26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endParaRPr sz="26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0" name="Google Shape;670;p63"/>
          <p:cNvSpPr txBox="1"/>
          <p:nvPr/>
        </p:nvSpPr>
        <p:spPr>
          <a:xfrm>
            <a:off x="1042425" y="211038"/>
            <a:ext cx="7061700" cy="74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000"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72" name="Google Shape;672;p63"/>
          <p:cNvSpPr txBox="1"/>
          <p:nvPr/>
        </p:nvSpPr>
        <p:spPr>
          <a:xfrm>
            <a:off x="1109150" y="27825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2A3990"/>
                </a:solidFill>
                <a:latin typeface="Montserrat"/>
                <a:ea typeface="Montserrat"/>
                <a:cs typeface="Montserrat"/>
                <a:sym typeface="Montserrat"/>
              </a:rPr>
              <a:t>Machine Learning</a:t>
            </a:r>
            <a:endParaRPr sz="3000">
              <a:solidFill>
                <a:srgbClr val="2A399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73" name="Google Shape;673;p63"/>
          <p:cNvSpPr txBox="1"/>
          <p:nvPr/>
        </p:nvSpPr>
        <p:spPr>
          <a:xfrm>
            <a:off x="311700" y="1229875"/>
            <a:ext cx="8520600" cy="333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937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Montserrat"/>
              <a:buChar char="●"/>
            </a:pPr>
            <a:r>
              <a:rPr lang="en" sz="26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Good Model</a:t>
            </a:r>
            <a:endParaRPr sz="26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endParaRPr sz="26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674" name="Google Shape;674;p63"/>
          <p:cNvCxnSpPr/>
          <p:nvPr/>
        </p:nvCxnSpPr>
        <p:spPr>
          <a:xfrm>
            <a:off x="3098025" y="1933375"/>
            <a:ext cx="0" cy="19320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triangle" w="med" len="med"/>
            <a:tailEnd type="none" w="med" len="med"/>
          </a:ln>
        </p:spPr>
      </p:cxnSp>
      <p:cxnSp>
        <p:nvCxnSpPr>
          <p:cNvPr id="675" name="Google Shape;675;p63"/>
          <p:cNvCxnSpPr/>
          <p:nvPr/>
        </p:nvCxnSpPr>
        <p:spPr>
          <a:xfrm rot="10800000">
            <a:off x="3098025" y="3865375"/>
            <a:ext cx="29505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triangle" w="med" len="med"/>
            <a:tailEnd type="none" w="med" len="med"/>
          </a:ln>
        </p:spPr>
      </p:cxnSp>
      <p:sp>
        <p:nvSpPr>
          <p:cNvPr id="676" name="Google Shape;676;p63"/>
          <p:cNvSpPr/>
          <p:nvPr/>
        </p:nvSpPr>
        <p:spPr>
          <a:xfrm>
            <a:off x="3205625" y="2058600"/>
            <a:ext cx="2783050" cy="1563575"/>
          </a:xfrm>
          <a:custGeom>
            <a:avLst/>
            <a:gdLst/>
            <a:ahLst/>
            <a:cxnLst/>
            <a:rect l="l" t="t" r="r" b="b"/>
            <a:pathLst>
              <a:path w="111322" h="62543" extrusionOk="0">
                <a:moveTo>
                  <a:pt x="0" y="0"/>
                </a:moveTo>
                <a:cubicBezTo>
                  <a:pt x="4387" y="9176"/>
                  <a:pt x="7767" y="44633"/>
                  <a:pt x="26321" y="55057"/>
                </a:cubicBezTo>
                <a:cubicBezTo>
                  <a:pt x="44875" y="65481"/>
                  <a:pt x="97155" y="61295"/>
                  <a:pt x="111322" y="62543"/>
                </a:cubicBezTo>
              </a:path>
            </a:pathLst>
          </a:custGeom>
          <a:noFill/>
          <a:ln w="28575" cap="flat" cmpd="sng">
            <a:solidFill>
              <a:srgbClr val="38761D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677" name="Google Shape;677;p63"/>
          <p:cNvSpPr txBox="1"/>
          <p:nvPr/>
        </p:nvSpPr>
        <p:spPr>
          <a:xfrm>
            <a:off x="2481200" y="2617038"/>
            <a:ext cx="645900" cy="44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Overpass"/>
                <a:ea typeface="Overpass"/>
                <a:cs typeface="Overpass"/>
                <a:sym typeface="Overpass"/>
              </a:rPr>
              <a:t>Error</a:t>
            </a:r>
            <a:endParaRPr b="1">
              <a:latin typeface="Overpass"/>
              <a:ea typeface="Overpass"/>
              <a:cs typeface="Overpass"/>
              <a:sym typeface="Overpass"/>
            </a:endParaRPr>
          </a:p>
        </p:txBody>
      </p:sp>
      <p:sp>
        <p:nvSpPr>
          <p:cNvPr id="678" name="Google Shape;678;p63"/>
          <p:cNvSpPr txBox="1"/>
          <p:nvPr/>
        </p:nvSpPr>
        <p:spPr>
          <a:xfrm>
            <a:off x="4106625" y="3835200"/>
            <a:ext cx="1187700" cy="44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Overpass"/>
                <a:ea typeface="Overpass"/>
                <a:cs typeface="Overpass"/>
                <a:sym typeface="Overpass"/>
              </a:rPr>
              <a:t>Training Time</a:t>
            </a:r>
            <a:endParaRPr b="1">
              <a:latin typeface="Overpass"/>
              <a:ea typeface="Overpass"/>
              <a:cs typeface="Overpass"/>
              <a:sym typeface="Overpass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4" name="Google Shape;684;p64"/>
          <p:cNvSpPr txBox="1"/>
          <p:nvPr/>
        </p:nvSpPr>
        <p:spPr>
          <a:xfrm>
            <a:off x="1042425" y="211038"/>
            <a:ext cx="7061700" cy="74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000"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86" name="Google Shape;686;p64"/>
          <p:cNvSpPr txBox="1"/>
          <p:nvPr/>
        </p:nvSpPr>
        <p:spPr>
          <a:xfrm>
            <a:off x="1109150" y="27825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2A3990"/>
                </a:solidFill>
                <a:latin typeface="Montserrat"/>
                <a:ea typeface="Montserrat"/>
                <a:cs typeface="Montserrat"/>
                <a:sym typeface="Montserrat"/>
              </a:rPr>
              <a:t>Machine Learning</a:t>
            </a:r>
            <a:endParaRPr sz="3000">
              <a:solidFill>
                <a:srgbClr val="2A399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87" name="Google Shape;687;p64"/>
          <p:cNvSpPr txBox="1"/>
          <p:nvPr/>
        </p:nvSpPr>
        <p:spPr>
          <a:xfrm>
            <a:off x="311700" y="1229875"/>
            <a:ext cx="8520600" cy="333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937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Montserrat"/>
              <a:buChar char="●"/>
            </a:pPr>
            <a:r>
              <a:rPr lang="en" sz="26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Good Model</a:t>
            </a:r>
            <a:endParaRPr sz="26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endParaRPr sz="26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688" name="Google Shape;688;p64"/>
          <p:cNvCxnSpPr/>
          <p:nvPr/>
        </p:nvCxnSpPr>
        <p:spPr>
          <a:xfrm>
            <a:off x="3098025" y="1933375"/>
            <a:ext cx="0" cy="19320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triangle" w="med" len="med"/>
            <a:tailEnd type="none" w="med" len="med"/>
          </a:ln>
        </p:spPr>
      </p:cxnSp>
      <p:cxnSp>
        <p:nvCxnSpPr>
          <p:cNvPr id="689" name="Google Shape;689;p64"/>
          <p:cNvCxnSpPr/>
          <p:nvPr/>
        </p:nvCxnSpPr>
        <p:spPr>
          <a:xfrm rot="10800000">
            <a:off x="3098025" y="3865375"/>
            <a:ext cx="29505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triangle" w="med" len="med"/>
            <a:tailEnd type="none" w="med" len="med"/>
          </a:ln>
        </p:spPr>
      </p:cxnSp>
      <p:sp>
        <p:nvSpPr>
          <p:cNvPr id="690" name="Google Shape;690;p64"/>
          <p:cNvSpPr/>
          <p:nvPr/>
        </p:nvSpPr>
        <p:spPr>
          <a:xfrm>
            <a:off x="3205625" y="2058600"/>
            <a:ext cx="2783050" cy="1563575"/>
          </a:xfrm>
          <a:custGeom>
            <a:avLst/>
            <a:gdLst/>
            <a:ahLst/>
            <a:cxnLst/>
            <a:rect l="l" t="t" r="r" b="b"/>
            <a:pathLst>
              <a:path w="111322" h="62543" extrusionOk="0">
                <a:moveTo>
                  <a:pt x="0" y="0"/>
                </a:moveTo>
                <a:cubicBezTo>
                  <a:pt x="4387" y="9176"/>
                  <a:pt x="7767" y="44633"/>
                  <a:pt x="26321" y="55057"/>
                </a:cubicBezTo>
                <a:cubicBezTo>
                  <a:pt x="44875" y="65481"/>
                  <a:pt x="97155" y="61295"/>
                  <a:pt x="111322" y="62543"/>
                </a:cubicBezTo>
              </a:path>
            </a:pathLst>
          </a:custGeom>
          <a:noFill/>
          <a:ln w="28575" cap="flat" cmpd="sng">
            <a:solidFill>
              <a:srgbClr val="38761D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691" name="Google Shape;691;p64"/>
          <p:cNvSpPr txBox="1"/>
          <p:nvPr/>
        </p:nvSpPr>
        <p:spPr>
          <a:xfrm>
            <a:off x="2481200" y="2617038"/>
            <a:ext cx="645900" cy="44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Overpass"/>
                <a:ea typeface="Overpass"/>
                <a:cs typeface="Overpass"/>
                <a:sym typeface="Overpass"/>
              </a:rPr>
              <a:t>Error</a:t>
            </a:r>
            <a:endParaRPr b="1">
              <a:latin typeface="Overpass"/>
              <a:ea typeface="Overpass"/>
              <a:cs typeface="Overpass"/>
              <a:sym typeface="Overpass"/>
            </a:endParaRPr>
          </a:p>
        </p:txBody>
      </p:sp>
      <p:sp>
        <p:nvSpPr>
          <p:cNvPr id="692" name="Google Shape;692;p64"/>
          <p:cNvSpPr txBox="1"/>
          <p:nvPr/>
        </p:nvSpPr>
        <p:spPr>
          <a:xfrm>
            <a:off x="4203200" y="3835200"/>
            <a:ext cx="825600" cy="44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Overpass"/>
                <a:ea typeface="Overpass"/>
                <a:cs typeface="Overpass"/>
                <a:sym typeface="Overpass"/>
              </a:rPr>
              <a:t>Epochs</a:t>
            </a:r>
            <a:endParaRPr b="1">
              <a:latin typeface="Overpass"/>
              <a:ea typeface="Overpass"/>
              <a:cs typeface="Overpass"/>
              <a:sym typeface="Overpass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8" name="Google Shape;698;p65"/>
          <p:cNvSpPr txBox="1"/>
          <p:nvPr/>
        </p:nvSpPr>
        <p:spPr>
          <a:xfrm>
            <a:off x="1042425" y="211038"/>
            <a:ext cx="7061700" cy="74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000"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00" name="Google Shape;700;p65"/>
          <p:cNvSpPr txBox="1"/>
          <p:nvPr/>
        </p:nvSpPr>
        <p:spPr>
          <a:xfrm>
            <a:off x="1109150" y="27825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2A3990"/>
                </a:solidFill>
                <a:latin typeface="Montserrat"/>
                <a:ea typeface="Montserrat"/>
                <a:cs typeface="Montserrat"/>
                <a:sym typeface="Montserrat"/>
              </a:rPr>
              <a:t>Machine Learning</a:t>
            </a:r>
            <a:endParaRPr sz="3000">
              <a:solidFill>
                <a:srgbClr val="2A399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01" name="Google Shape;701;p65"/>
          <p:cNvSpPr txBox="1"/>
          <p:nvPr/>
        </p:nvSpPr>
        <p:spPr>
          <a:xfrm>
            <a:off x="311700" y="1229875"/>
            <a:ext cx="8520600" cy="333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937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Montserrat"/>
              <a:buChar char="●"/>
            </a:pPr>
            <a:r>
              <a:rPr lang="en" sz="26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Bad Model</a:t>
            </a:r>
            <a:endParaRPr sz="26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endParaRPr sz="26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702" name="Google Shape;702;p65"/>
          <p:cNvCxnSpPr/>
          <p:nvPr/>
        </p:nvCxnSpPr>
        <p:spPr>
          <a:xfrm>
            <a:off x="3098025" y="1933375"/>
            <a:ext cx="0" cy="19320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triangle" w="med" len="med"/>
            <a:tailEnd type="none" w="med" len="med"/>
          </a:ln>
        </p:spPr>
      </p:cxnSp>
      <p:cxnSp>
        <p:nvCxnSpPr>
          <p:cNvPr id="703" name="Google Shape;703;p65"/>
          <p:cNvCxnSpPr/>
          <p:nvPr/>
        </p:nvCxnSpPr>
        <p:spPr>
          <a:xfrm rot="10800000">
            <a:off x="3098025" y="3865375"/>
            <a:ext cx="29505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triangle" w="med" len="med"/>
            <a:tailEnd type="none" w="med" len="med"/>
          </a:ln>
        </p:spPr>
      </p:cxnSp>
      <p:sp>
        <p:nvSpPr>
          <p:cNvPr id="704" name="Google Shape;704;p65"/>
          <p:cNvSpPr txBox="1"/>
          <p:nvPr/>
        </p:nvSpPr>
        <p:spPr>
          <a:xfrm>
            <a:off x="2481200" y="2617038"/>
            <a:ext cx="645900" cy="44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Overpass"/>
                <a:ea typeface="Overpass"/>
                <a:cs typeface="Overpass"/>
                <a:sym typeface="Overpass"/>
              </a:rPr>
              <a:t>Error</a:t>
            </a:r>
            <a:endParaRPr b="1">
              <a:latin typeface="Overpass"/>
              <a:ea typeface="Overpass"/>
              <a:cs typeface="Overpass"/>
              <a:sym typeface="Overpass"/>
            </a:endParaRPr>
          </a:p>
        </p:txBody>
      </p:sp>
      <p:sp>
        <p:nvSpPr>
          <p:cNvPr id="705" name="Google Shape;705;p65"/>
          <p:cNvSpPr txBox="1"/>
          <p:nvPr/>
        </p:nvSpPr>
        <p:spPr>
          <a:xfrm>
            <a:off x="4203200" y="3835200"/>
            <a:ext cx="825600" cy="44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Overpass"/>
                <a:ea typeface="Overpass"/>
                <a:cs typeface="Overpass"/>
                <a:sym typeface="Overpass"/>
              </a:rPr>
              <a:t>Epochs</a:t>
            </a:r>
            <a:endParaRPr b="1">
              <a:latin typeface="Overpass"/>
              <a:ea typeface="Overpass"/>
              <a:cs typeface="Overpass"/>
              <a:sym typeface="Overpass"/>
            </a:endParaRPr>
          </a:p>
        </p:txBody>
      </p:sp>
      <p:sp>
        <p:nvSpPr>
          <p:cNvPr id="706" name="Google Shape;706;p65"/>
          <p:cNvSpPr/>
          <p:nvPr/>
        </p:nvSpPr>
        <p:spPr>
          <a:xfrm>
            <a:off x="3121125" y="2493275"/>
            <a:ext cx="2716625" cy="1122875"/>
          </a:xfrm>
          <a:custGeom>
            <a:avLst/>
            <a:gdLst/>
            <a:ahLst/>
            <a:cxnLst/>
            <a:rect l="l" t="t" r="r" b="b"/>
            <a:pathLst>
              <a:path w="108665" h="44915" extrusionOk="0">
                <a:moveTo>
                  <a:pt x="0" y="44915"/>
                </a:moveTo>
                <a:cubicBezTo>
                  <a:pt x="11390" y="43949"/>
                  <a:pt x="50227" y="46605"/>
                  <a:pt x="68338" y="39119"/>
                </a:cubicBezTo>
                <a:cubicBezTo>
                  <a:pt x="86449" y="31633"/>
                  <a:pt x="101944" y="6520"/>
                  <a:pt x="108665" y="0"/>
                </a:cubicBezTo>
              </a:path>
            </a:pathLst>
          </a:custGeom>
          <a:noFill/>
          <a:ln w="28575" cap="flat" cmpd="sng">
            <a:solidFill>
              <a:srgbClr val="990000"/>
            </a:solidFill>
            <a:prstDash val="solid"/>
            <a:round/>
            <a:headEnd type="none" w="med" len="med"/>
            <a:tailEnd type="none" w="med" len="med"/>
          </a:ln>
        </p:spPr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2" name="Google Shape;712;p66"/>
          <p:cNvSpPr txBox="1"/>
          <p:nvPr/>
        </p:nvSpPr>
        <p:spPr>
          <a:xfrm>
            <a:off x="1042425" y="211038"/>
            <a:ext cx="7061700" cy="74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000"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14" name="Google Shape;714;p66"/>
          <p:cNvSpPr txBox="1"/>
          <p:nvPr/>
        </p:nvSpPr>
        <p:spPr>
          <a:xfrm>
            <a:off x="1109150" y="27825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2A3990"/>
                </a:solidFill>
                <a:latin typeface="Montserrat"/>
                <a:ea typeface="Montserrat"/>
                <a:cs typeface="Montserrat"/>
                <a:sym typeface="Montserrat"/>
              </a:rPr>
              <a:t>Machine Learning</a:t>
            </a:r>
            <a:endParaRPr sz="3000">
              <a:solidFill>
                <a:srgbClr val="2A399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15" name="Google Shape;715;p66"/>
          <p:cNvSpPr txBox="1"/>
          <p:nvPr/>
        </p:nvSpPr>
        <p:spPr>
          <a:xfrm>
            <a:off x="311700" y="1229875"/>
            <a:ext cx="8520600" cy="333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937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Montserrat"/>
              <a:buChar char="●"/>
            </a:pPr>
            <a:r>
              <a:rPr lang="en" sz="26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When thinking about </a:t>
            </a:r>
            <a:r>
              <a:rPr lang="en" sz="2600" b="1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overfitting </a:t>
            </a:r>
            <a:r>
              <a:rPr lang="en" sz="26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and </a:t>
            </a:r>
            <a:r>
              <a:rPr lang="en" sz="2600" b="1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underfitting </a:t>
            </a:r>
            <a:r>
              <a:rPr lang="en" sz="26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we want to keep in mind the relationship of model performance on the training set versus the test/validation set.</a:t>
            </a:r>
            <a:endParaRPr sz="26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1" name="Google Shape;721;p67"/>
          <p:cNvSpPr txBox="1"/>
          <p:nvPr/>
        </p:nvSpPr>
        <p:spPr>
          <a:xfrm>
            <a:off x="1042425" y="211038"/>
            <a:ext cx="7061700" cy="74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000"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23" name="Google Shape;723;p67"/>
          <p:cNvSpPr txBox="1"/>
          <p:nvPr/>
        </p:nvSpPr>
        <p:spPr>
          <a:xfrm>
            <a:off x="1109150" y="27825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2A3990"/>
                </a:solidFill>
                <a:latin typeface="Montserrat"/>
                <a:ea typeface="Montserrat"/>
                <a:cs typeface="Montserrat"/>
                <a:sym typeface="Montserrat"/>
              </a:rPr>
              <a:t>Machine Learning</a:t>
            </a:r>
            <a:endParaRPr sz="3000">
              <a:solidFill>
                <a:srgbClr val="2A399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24" name="Google Shape;724;p67"/>
          <p:cNvSpPr txBox="1"/>
          <p:nvPr/>
        </p:nvSpPr>
        <p:spPr>
          <a:xfrm>
            <a:off x="311700" y="1229875"/>
            <a:ext cx="8520600" cy="333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937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Montserrat"/>
              <a:buChar char="●"/>
            </a:pPr>
            <a:r>
              <a:rPr lang="en" sz="26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Let’s imagine we split our data into a </a:t>
            </a:r>
            <a:r>
              <a:rPr lang="en" sz="2600" b="1">
                <a:solidFill>
                  <a:srgbClr val="990000"/>
                </a:solidFill>
                <a:latin typeface="Montserrat"/>
                <a:ea typeface="Montserrat"/>
                <a:cs typeface="Montserrat"/>
                <a:sym typeface="Montserrat"/>
              </a:rPr>
              <a:t>training set</a:t>
            </a:r>
            <a:r>
              <a:rPr lang="en" sz="2600" b="1">
                <a:solidFill>
                  <a:srgbClr val="1C4587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" sz="26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and a</a:t>
            </a:r>
            <a:r>
              <a:rPr lang="en" sz="2600" b="1">
                <a:solidFill>
                  <a:srgbClr val="1C4587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" sz="2600" b="1">
                <a:solidFill>
                  <a:srgbClr val="1155CC"/>
                </a:solidFill>
                <a:latin typeface="Montserrat"/>
                <a:ea typeface="Montserrat"/>
                <a:cs typeface="Montserrat"/>
                <a:sym typeface="Montserrat"/>
              </a:rPr>
              <a:t>test set</a:t>
            </a:r>
            <a:endParaRPr sz="2600" b="1">
              <a:solidFill>
                <a:srgbClr val="1155C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0" name="Google Shape;730;p68"/>
          <p:cNvSpPr txBox="1"/>
          <p:nvPr/>
        </p:nvSpPr>
        <p:spPr>
          <a:xfrm>
            <a:off x="1042425" y="211038"/>
            <a:ext cx="7061700" cy="74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000"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32" name="Google Shape;732;p68"/>
          <p:cNvSpPr txBox="1"/>
          <p:nvPr/>
        </p:nvSpPr>
        <p:spPr>
          <a:xfrm>
            <a:off x="1109150" y="27825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2A3990"/>
                </a:solidFill>
                <a:latin typeface="Montserrat"/>
                <a:ea typeface="Montserrat"/>
                <a:cs typeface="Montserrat"/>
                <a:sym typeface="Montserrat"/>
              </a:rPr>
              <a:t>Machine Learning</a:t>
            </a:r>
            <a:endParaRPr sz="3000">
              <a:solidFill>
                <a:srgbClr val="2A399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33" name="Google Shape;733;p68"/>
          <p:cNvSpPr txBox="1"/>
          <p:nvPr/>
        </p:nvSpPr>
        <p:spPr>
          <a:xfrm>
            <a:off x="311700" y="1229875"/>
            <a:ext cx="8520600" cy="333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937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Montserrat"/>
              <a:buChar char="●"/>
            </a:pPr>
            <a:r>
              <a:rPr lang="en" sz="26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We first see performance on the </a:t>
            </a:r>
            <a:r>
              <a:rPr lang="en" sz="2600" b="1">
                <a:solidFill>
                  <a:srgbClr val="990000"/>
                </a:solidFill>
                <a:latin typeface="Montserrat"/>
                <a:ea typeface="Montserrat"/>
                <a:cs typeface="Montserrat"/>
                <a:sym typeface="Montserrat"/>
              </a:rPr>
              <a:t>training set</a:t>
            </a:r>
            <a:r>
              <a:rPr lang="en" sz="2600" b="1">
                <a:solidFill>
                  <a:srgbClr val="1C4587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endParaRPr sz="2600" b="1">
              <a:solidFill>
                <a:srgbClr val="1155C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734" name="Google Shape;734;p68"/>
          <p:cNvCxnSpPr/>
          <p:nvPr/>
        </p:nvCxnSpPr>
        <p:spPr>
          <a:xfrm>
            <a:off x="3459113" y="2472025"/>
            <a:ext cx="0" cy="19320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triangle" w="med" len="med"/>
            <a:tailEnd type="none" w="med" len="med"/>
          </a:ln>
        </p:spPr>
      </p:cxnSp>
      <p:cxnSp>
        <p:nvCxnSpPr>
          <p:cNvPr id="735" name="Google Shape;735;p68"/>
          <p:cNvCxnSpPr/>
          <p:nvPr/>
        </p:nvCxnSpPr>
        <p:spPr>
          <a:xfrm rot="10800000">
            <a:off x="3459113" y="4404025"/>
            <a:ext cx="29505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triangle" w="med" len="med"/>
            <a:tailEnd type="none" w="med" len="med"/>
          </a:ln>
        </p:spPr>
      </p:cxnSp>
      <p:sp>
        <p:nvSpPr>
          <p:cNvPr id="736" name="Google Shape;736;p68"/>
          <p:cNvSpPr txBox="1"/>
          <p:nvPr/>
        </p:nvSpPr>
        <p:spPr>
          <a:xfrm>
            <a:off x="4381138" y="4404025"/>
            <a:ext cx="825600" cy="44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Overpass"/>
                <a:ea typeface="Overpass"/>
                <a:cs typeface="Overpass"/>
                <a:sym typeface="Overpass"/>
              </a:rPr>
              <a:t>Epochs</a:t>
            </a:r>
            <a:endParaRPr b="1">
              <a:latin typeface="Overpass"/>
              <a:ea typeface="Overpass"/>
              <a:cs typeface="Overpass"/>
              <a:sym typeface="Overpass"/>
            </a:endParaRPr>
          </a:p>
        </p:txBody>
      </p:sp>
      <p:sp>
        <p:nvSpPr>
          <p:cNvPr id="737" name="Google Shape;737;p68"/>
          <p:cNvSpPr txBox="1"/>
          <p:nvPr/>
        </p:nvSpPr>
        <p:spPr>
          <a:xfrm>
            <a:off x="2736938" y="3154225"/>
            <a:ext cx="825600" cy="44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Overpass"/>
                <a:ea typeface="Overpass"/>
                <a:cs typeface="Overpass"/>
                <a:sym typeface="Overpass"/>
              </a:rPr>
              <a:t>Error</a:t>
            </a:r>
            <a:endParaRPr b="1">
              <a:latin typeface="Overpass"/>
              <a:ea typeface="Overpass"/>
              <a:cs typeface="Overpass"/>
              <a:sym typeface="Overpass"/>
            </a:endParaRPr>
          </a:p>
        </p:txBody>
      </p:sp>
      <p:sp>
        <p:nvSpPr>
          <p:cNvPr id="738" name="Google Shape;738;p68"/>
          <p:cNvSpPr/>
          <p:nvPr/>
        </p:nvSpPr>
        <p:spPr>
          <a:xfrm>
            <a:off x="3604075" y="2686450"/>
            <a:ext cx="2638150" cy="1460950"/>
          </a:xfrm>
          <a:custGeom>
            <a:avLst/>
            <a:gdLst/>
            <a:ahLst/>
            <a:cxnLst/>
            <a:rect l="l" t="t" r="r" b="b"/>
            <a:pathLst>
              <a:path w="105526" h="58438" extrusionOk="0">
                <a:moveTo>
                  <a:pt x="0" y="0"/>
                </a:moveTo>
                <a:cubicBezTo>
                  <a:pt x="3381" y="8251"/>
                  <a:pt x="2696" y="39763"/>
                  <a:pt x="20284" y="49503"/>
                </a:cubicBezTo>
                <a:cubicBezTo>
                  <a:pt x="37872" y="59243"/>
                  <a:pt x="91319" y="56949"/>
                  <a:pt x="105526" y="58438"/>
                </a:cubicBezTo>
              </a:path>
            </a:pathLst>
          </a:custGeom>
          <a:noFill/>
          <a:ln w="28575" cap="flat" cmpd="sng">
            <a:solidFill>
              <a:srgbClr val="990000"/>
            </a:solidFill>
            <a:prstDash val="solid"/>
            <a:round/>
            <a:headEnd type="none" w="med" len="med"/>
            <a:tailEnd type="none" w="med" len="med"/>
          </a:ln>
        </p:spPr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4" name="Google Shape;744;p69"/>
          <p:cNvSpPr txBox="1"/>
          <p:nvPr/>
        </p:nvSpPr>
        <p:spPr>
          <a:xfrm>
            <a:off x="1042425" y="211038"/>
            <a:ext cx="7061700" cy="74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000"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46" name="Google Shape;746;p69"/>
          <p:cNvSpPr txBox="1"/>
          <p:nvPr/>
        </p:nvSpPr>
        <p:spPr>
          <a:xfrm>
            <a:off x="1109150" y="27825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2A3990"/>
                </a:solidFill>
                <a:latin typeface="Montserrat"/>
                <a:ea typeface="Montserrat"/>
                <a:cs typeface="Montserrat"/>
                <a:sym typeface="Montserrat"/>
              </a:rPr>
              <a:t>Machine Learning</a:t>
            </a:r>
            <a:endParaRPr sz="3000">
              <a:solidFill>
                <a:srgbClr val="2A399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47" name="Google Shape;747;p69"/>
          <p:cNvSpPr txBox="1"/>
          <p:nvPr/>
        </p:nvSpPr>
        <p:spPr>
          <a:xfrm>
            <a:off x="311700" y="1229875"/>
            <a:ext cx="8520600" cy="333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937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Montserrat"/>
              <a:buChar char="●"/>
            </a:pPr>
            <a:r>
              <a:rPr lang="en" sz="26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Next we check performance on the </a:t>
            </a:r>
            <a:r>
              <a:rPr lang="en" sz="2600" b="1">
                <a:solidFill>
                  <a:srgbClr val="1155CC"/>
                </a:solidFill>
                <a:latin typeface="Montserrat"/>
                <a:ea typeface="Montserrat"/>
                <a:cs typeface="Montserrat"/>
                <a:sym typeface="Montserrat"/>
              </a:rPr>
              <a:t>test set </a:t>
            </a:r>
            <a:endParaRPr sz="2600" b="1">
              <a:solidFill>
                <a:srgbClr val="1155C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748" name="Google Shape;748;p69"/>
          <p:cNvCxnSpPr/>
          <p:nvPr/>
        </p:nvCxnSpPr>
        <p:spPr>
          <a:xfrm>
            <a:off x="3459113" y="2472025"/>
            <a:ext cx="0" cy="19320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triangle" w="med" len="med"/>
            <a:tailEnd type="none" w="med" len="med"/>
          </a:ln>
        </p:spPr>
      </p:cxnSp>
      <p:cxnSp>
        <p:nvCxnSpPr>
          <p:cNvPr id="749" name="Google Shape;749;p69"/>
          <p:cNvCxnSpPr/>
          <p:nvPr/>
        </p:nvCxnSpPr>
        <p:spPr>
          <a:xfrm rot="10800000">
            <a:off x="3459113" y="4404025"/>
            <a:ext cx="29505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triangle" w="med" len="med"/>
            <a:tailEnd type="none" w="med" len="med"/>
          </a:ln>
        </p:spPr>
      </p:cxnSp>
      <p:sp>
        <p:nvSpPr>
          <p:cNvPr id="750" name="Google Shape;750;p69"/>
          <p:cNvSpPr txBox="1"/>
          <p:nvPr/>
        </p:nvSpPr>
        <p:spPr>
          <a:xfrm>
            <a:off x="4381138" y="4404025"/>
            <a:ext cx="825600" cy="44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Overpass"/>
                <a:ea typeface="Overpass"/>
                <a:cs typeface="Overpass"/>
                <a:sym typeface="Overpass"/>
              </a:rPr>
              <a:t>Epochs</a:t>
            </a:r>
            <a:endParaRPr b="1">
              <a:latin typeface="Overpass"/>
              <a:ea typeface="Overpass"/>
              <a:cs typeface="Overpass"/>
              <a:sym typeface="Overpass"/>
            </a:endParaRPr>
          </a:p>
        </p:txBody>
      </p:sp>
      <p:sp>
        <p:nvSpPr>
          <p:cNvPr id="751" name="Google Shape;751;p69"/>
          <p:cNvSpPr txBox="1"/>
          <p:nvPr/>
        </p:nvSpPr>
        <p:spPr>
          <a:xfrm>
            <a:off x="2736938" y="3154225"/>
            <a:ext cx="825600" cy="44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Overpass"/>
                <a:ea typeface="Overpass"/>
                <a:cs typeface="Overpass"/>
                <a:sym typeface="Overpass"/>
              </a:rPr>
              <a:t>Error</a:t>
            </a:r>
            <a:endParaRPr b="1">
              <a:latin typeface="Overpass"/>
              <a:ea typeface="Overpass"/>
              <a:cs typeface="Overpass"/>
              <a:sym typeface="Overpass"/>
            </a:endParaRPr>
          </a:p>
        </p:txBody>
      </p:sp>
      <p:sp>
        <p:nvSpPr>
          <p:cNvPr id="752" name="Google Shape;752;p69"/>
          <p:cNvSpPr/>
          <p:nvPr/>
        </p:nvSpPr>
        <p:spPr>
          <a:xfrm>
            <a:off x="3604075" y="2686450"/>
            <a:ext cx="2638150" cy="1460950"/>
          </a:xfrm>
          <a:custGeom>
            <a:avLst/>
            <a:gdLst/>
            <a:ahLst/>
            <a:cxnLst/>
            <a:rect l="l" t="t" r="r" b="b"/>
            <a:pathLst>
              <a:path w="105526" h="58438" extrusionOk="0">
                <a:moveTo>
                  <a:pt x="0" y="0"/>
                </a:moveTo>
                <a:cubicBezTo>
                  <a:pt x="3381" y="8251"/>
                  <a:pt x="2696" y="39763"/>
                  <a:pt x="20284" y="49503"/>
                </a:cubicBezTo>
                <a:cubicBezTo>
                  <a:pt x="37872" y="59243"/>
                  <a:pt x="91319" y="56949"/>
                  <a:pt x="105526" y="58438"/>
                </a:cubicBezTo>
              </a:path>
            </a:pathLst>
          </a:custGeom>
          <a:noFill/>
          <a:ln w="28575" cap="flat" cmpd="sng">
            <a:solidFill>
              <a:srgbClr val="99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753" name="Google Shape;753;p69"/>
          <p:cNvSpPr/>
          <p:nvPr/>
        </p:nvSpPr>
        <p:spPr>
          <a:xfrm>
            <a:off x="3670475" y="2686450"/>
            <a:ext cx="2595900" cy="1279878"/>
          </a:xfrm>
          <a:custGeom>
            <a:avLst/>
            <a:gdLst/>
            <a:ahLst/>
            <a:cxnLst/>
            <a:rect l="l" t="t" r="r" b="b"/>
            <a:pathLst>
              <a:path w="103836" h="55394" extrusionOk="0">
                <a:moveTo>
                  <a:pt x="0" y="0"/>
                </a:moveTo>
                <a:cubicBezTo>
                  <a:pt x="4186" y="8452"/>
                  <a:pt x="7808" y="41817"/>
                  <a:pt x="25114" y="50711"/>
                </a:cubicBezTo>
                <a:cubicBezTo>
                  <a:pt x="42420" y="59606"/>
                  <a:pt x="90716" y="52924"/>
                  <a:pt x="103836" y="53367"/>
                </a:cubicBezTo>
              </a:path>
            </a:pathLst>
          </a:custGeom>
          <a:noFill/>
          <a:ln w="28575" cap="flat" cmpd="sng">
            <a:solidFill>
              <a:srgbClr val="0B5394"/>
            </a:solidFill>
            <a:prstDash val="solid"/>
            <a:round/>
            <a:headEnd type="none" w="med" len="med"/>
            <a:tailEnd type="none" w="med" len="med"/>
          </a:ln>
        </p:spPr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9" name="Google Shape;759;p70"/>
          <p:cNvSpPr txBox="1"/>
          <p:nvPr/>
        </p:nvSpPr>
        <p:spPr>
          <a:xfrm>
            <a:off x="1042425" y="211038"/>
            <a:ext cx="7061700" cy="74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000"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61" name="Google Shape;761;p70"/>
          <p:cNvSpPr txBox="1"/>
          <p:nvPr/>
        </p:nvSpPr>
        <p:spPr>
          <a:xfrm>
            <a:off x="1109150" y="27825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2A3990"/>
                </a:solidFill>
                <a:latin typeface="Montserrat"/>
                <a:ea typeface="Montserrat"/>
                <a:cs typeface="Montserrat"/>
                <a:sym typeface="Montserrat"/>
              </a:rPr>
              <a:t>Machine Learning</a:t>
            </a:r>
            <a:endParaRPr sz="3000">
              <a:solidFill>
                <a:srgbClr val="2A399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62" name="Google Shape;762;p70"/>
          <p:cNvSpPr txBox="1"/>
          <p:nvPr/>
        </p:nvSpPr>
        <p:spPr>
          <a:xfrm>
            <a:off x="311700" y="1229875"/>
            <a:ext cx="8520600" cy="333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937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Montserrat"/>
              <a:buChar char="●"/>
            </a:pPr>
            <a:r>
              <a:rPr lang="en" sz="26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Ideally the model would perform well on both, with similar behavior. </a:t>
            </a:r>
            <a:endParaRPr sz="2600" b="1">
              <a:solidFill>
                <a:srgbClr val="1155C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763" name="Google Shape;763;p70"/>
          <p:cNvCxnSpPr/>
          <p:nvPr/>
        </p:nvCxnSpPr>
        <p:spPr>
          <a:xfrm>
            <a:off x="3459113" y="2472025"/>
            <a:ext cx="0" cy="19320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triangle" w="med" len="med"/>
            <a:tailEnd type="none" w="med" len="med"/>
          </a:ln>
        </p:spPr>
      </p:cxnSp>
      <p:cxnSp>
        <p:nvCxnSpPr>
          <p:cNvPr id="764" name="Google Shape;764;p70"/>
          <p:cNvCxnSpPr/>
          <p:nvPr/>
        </p:nvCxnSpPr>
        <p:spPr>
          <a:xfrm rot="10800000">
            <a:off x="3459113" y="4404025"/>
            <a:ext cx="29505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triangle" w="med" len="med"/>
            <a:tailEnd type="none" w="med" len="med"/>
          </a:ln>
        </p:spPr>
      </p:cxnSp>
      <p:sp>
        <p:nvSpPr>
          <p:cNvPr id="765" name="Google Shape;765;p70"/>
          <p:cNvSpPr txBox="1"/>
          <p:nvPr/>
        </p:nvSpPr>
        <p:spPr>
          <a:xfrm>
            <a:off x="4381138" y="4404025"/>
            <a:ext cx="825600" cy="44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Overpass"/>
                <a:ea typeface="Overpass"/>
                <a:cs typeface="Overpass"/>
                <a:sym typeface="Overpass"/>
              </a:rPr>
              <a:t>Epochs</a:t>
            </a:r>
            <a:endParaRPr b="1">
              <a:latin typeface="Overpass"/>
              <a:ea typeface="Overpass"/>
              <a:cs typeface="Overpass"/>
              <a:sym typeface="Overpass"/>
            </a:endParaRPr>
          </a:p>
        </p:txBody>
      </p:sp>
      <p:sp>
        <p:nvSpPr>
          <p:cNvPr id="766" name="Google Shape;766;p70"/>
          <p:cNvSpPr txBox="1"/>
          <p:nvPr/>
        </p:nvSpPr>
        <p:spPr>
          <a:xfrm>
            <a:off x="2736938" y="3154225"/>
            <a:ext cx="825600" cy="44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Overpass"/>
                <a:ea typeface="Overpass"/>
                <a:cs typeface="Overpass"/>
                <a:sym typeface="Overpass"/>
              </a:rPr>
              <a:t>Error</a:t>
            </a:r>
            <a:endParaRPr b="1">
              <a:latin typeface="Overpass"/>
              <a:ea typeface="Overpass"/>
              <a:cs typeface="Overpass"/>
              <a:sym typeface="Overpass"/>
            </a:endParaRPr>
          </a:p>
        </p:txBody>
      </p:sp>
      <p:sp>
        <p:nvSpPr>
          <p:cNvPr id="767" name="Google Shape;767;p70"/>
          <p:cNvSpPr/>
          <p:nvPr/>
        </p:nvSpPr>
        <p:spPr>
          <a:xfrm>
            <a:off x="3604075" y="2686450"/>
            <a:ext cx="2638150" cy="1460950"/>
          </a:xfrm>
          <a:custGeom>
            <a:avLst/>
            <a:gdLst/>
            <a:ahLst/>
            <a:cxnLst/>
            <a:rect l="l" t="t" r="r" b="b"/>
            <a:pathLst>
              <a:path w="105526" h="58438" extrusionOk="0">
                <a:moveTo>
                  <a:pt x="0" y="0"/>
                </a:moveTo>
                <a:cubicBezTo>
                  <a:pt x="3381" y="8251"/>
                  <a:pt x="2696" y="39763"/>
                  <a:pt x="20284" y="49503"/>
                </a:cubicBezTo>
                <a:cubicBezTo>
                  <a:pt x="37872" y="59243"/>
                  <a:pt x="91319" y="56949"/>
                  <a:pt x="105526" y="58438"/>
                </a:cubicBezTo>
              </a:path>
            </a:pathLst>
          </a:custGeom>
          <a:noFill/>
          <a:ln w="28575" cap="flat" cmpd="sng">
            <a:solidFill>
              <a:srgbClr val="99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768" name="Google Shape;768;p70"/>
          <p:cNvSpPr/>
          <p:nvPr/>
        </p:nvSpPr>
        <p:spPr>
          <a:xfrm>
            <a:off x="3670475" y="2686450"/>
            <a:ext cx="2595900" cy="1279878"/>
          </a:xfrm>
          <a:custGeom>
            <a:avLst/>
            <a:gdLst/>
            <a:ahLst/>
            <a:cxnLst/>
            <a:rect l="l" t="t" r="r" b="b"/>
            <a:pathLst>
              <a:path w="103836" h="55394" extrusionOk="0">
                <a:moveTo>
                  <a:pt x="0" y="0"/>
                </a:moveTo>
                <a:cubicBezTo>
                  <a:pt x="4186" y="8452"/>
                  <a:pt x="7808" y="41817"/>
                  <a:pt x="25114" y="50711"/>
                </a:cubicBezTo>
                <a:cubicBezTo>
                  <a:pt x="42420" y="59606"/>
                  <a:pt x="90716" y="52924"/>
                  <a:pt x="103836" y="53367"/>
                </a:cubicBezTo>
              </a:path>
            </a:pathLst>
          </a:custGeom>
          <a:noFill/>
          <a:ln w="28575" cap="flat" cmpd="sng">
            <a:solidFill>
              <a:srgbClr val="0B5394"/>
            </a:solidFill>
            <a:prstDash val="solid"/>
            <a:round/>
            <a:headEnd type="none" w="med" len="med"/>
            <a:tailEnd type="none" w="med" len="med"/>
          </a:ln>
        </p:spPr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4" name="Google Shape;774;p71"/>
          <p:cNvSpPr txBox="1"/>
          <p:nvPr/>
        </p:nvSpPr>
        <p:spPr>
          <a:xfrm>
            <a:off x="1042425" y="211038"/>
            <a:ext cx="7061700" cy="74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000"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76" name="Google Shape;776;p71"/>
          <p:cNvSpPr txBox="1"/>
          <p:nvPr/>
        </p:nvSpPr>
        <p:spPr>
          <a:xfrm>
            <a:off x="1109150" y="27825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2A3990"/>
                </a:solidFill>
                <a:latin typeface="Montserrat"/>
                <a:ea typeface="Montserrat"/>
                <a:cs typeface="Montserrat"/>
                <a:sym typeface="Montserrat"/>
              </a:rPr>
              <a:t>Machine Learning</a:t>
            </a:r>
            <a:endParaRPr sz="3000">
              <a:solidFill>
                <a:srgbClr val="2A399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77" name="Google Shape;777;p71"/>
          <p:cNvSpPr txBox="1"/>
          <p:nvPr/>
        </p:nvSpPr>
        <p:spPr>
          <a:xfrm>
            <a:off x="311700" y="1229875"/>
            <a:ext cx="8520600" cy="333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937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Montserrat"/>
              <a:buChar char="●"/>
            </a:pPr>
            <a:r>
              <a:rPr lang="en" sz="26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But what happens if we overfit on the training data? That means we would perform poorly on new test data!</a:t>
            </a:r>
            <a:endParaRPr sz="2600" b="1">
              <a:solidFill>
                <a:srgbClr val="1155C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778" name="Google Shape;778;p71"/>
          <p:cNvCxnSpPr/>
          <p:nvPr/>
        </p:nvCxnSpPr>
        <p:spPr>
          <a:xfrm>
            <a:off x="3459113" y="2472025"/>
            <a:ext cx="0" cy="19320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triangle" w="med" len="med"/>
            <a:tailEnd type="none" w="med" len="med"/>
          </a:ln>
        </p:spPr>
      </p:cxnSp>
      <p:cxnSp>
        <p:nvCxnSpPr>
          <p:cNvPr id="779" name="Google Shape;779;p71"/>
          <p:cNvCxnSpPr/>
          <p:nvPr/>
        </p:nvCxnSpPr>
        <p:spPr>
          <a:xfrm rot="10800000">
            <a:off x="3459113" y="4404025"/>
            <a:ext cx="29505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triangle" w="med" len="med"/>
            <a:tailEnd type="none" w="med" len="med"/>
          </a:ln>
        </p:spPr>
      </p:cxnSp>
      <p:sp>
        <p:nvSpPr>
          <p:cNvPr id="780" name="Google Shape;780;p71"/>
          <p:cNvSpPr txBox="1"/>
          <p:nvPr/>
        </p:nvSpPr>
        <p:spPr>
          <a:xfrm>
            <a:off x="4381138" y="4404025"/>
            <a:ext cx="825600" cy="44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Overpass"/>
                <a:ea typeface="Overpass"/>
                <a:cs typeface="Overpass"/>
                <a:sym typeface="Overpass"/>
              </a:rPr>
              <a:t>Epochs</a:t>
            </a:r>
            <a:endParaRPr b="1">
              <a:latin typeface="Overpass"/>
              <a:ea typeface="Overpass"/>
              <a:cs typeface="Overpass"/>
              <a:sym typeface="Overpass"/>
            </a:endParaRPr>
          </a:p>
        </p:txBody>
      </p:sp>
      <p:sp>
        <p:nvSpPr>
          <p:cNvPr id="781" name="Google Shape;781;p71"/>
          <p:cNvSpPr txBox="1"/>
          <p:nvPr/>
        </p:nvSpPr>
        <p:spPr>
          <a:xfrm>
            <a:off x="2736938" y="3154225"/>
            <a:ext cx="825600" cy="44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Overpass"/>
                <a:ea typeface="Overpass"/>
                <a:cs typeface="Overpass"/>
                <a:sym typeface="Overpass"/>
              </a:rPr>
              <a:t>Error</a:t>
            </a:r>
            <a:endParaRPr b="1">
              <a:latin typeface="Overpass"/>
              <a:ea typeface="Overpass"/>
              <a:cs typeface="Overpass"/>
              <a:sym typeface="Overpass"/>
            </a:endParaRPr>
          </a:p>
        </p:txBody>
      </p:sp>
      <p:sp>
        <p:nvSpPr>
          <p:cNvPr id="782" name="Google Shape;782;p71"/>
          <p:cNvSpPr/>
          <p:nvPr/>
        </p:nvSpPr>
        <p:spPr>
          <a:xfrm>
            <a:off x="3604075" y="2686450"/>
            <a:ext cx="2638150" cy="1460950"/>
          </a:xfrm>
          <a:custGeom>
            <a:avLst/>
            <a:gdLst/>
            <a:ahLst/>
            <a:cxnLst/>
            <a:rect l="l" t="t" r="r" b="b"/>
            <a:pathLst>
              <a:path w="105526" h="58438" extrusionOk="0">
                <a:moveTo>
                  <a:pt x="0" y="0"/>
                </a:moveTo>
                <a:cubicBezTo>
                  <a:pt x="3381" y="8251"/>
                  <a:pt x="2696" y="39763"/>
                  <a:pt x="20284" y="49503"/>
                </a:cubicBezTo>
                <a:cubicBezTo>
                  <a:pt x="37872" y="59243"/>
                  <a:pt x="91319" y="56949"/>
                  <a:pt x="105526" y="58438"/>
                </a:cubicBezTo>
              </a:path>
            </a:pathLst>
          </a:custGeom>
          <a:noFill/>
          <a:ln w="28575" cap="flat" cmpd="sng">
            <a:solidFill>
              <a:srgbClr val="990000"/>
            </a:solidFill>
            <a:prstDash val="solid"/>
            <a:round/>
            <a:headEnd type="none" w="med" len="med"/>
            <a:tailEnd type="none" w="med" len="med"/>
          </a:ln>
        </p:spPr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" name="Google Shape;788;p72"/>
          <p:cNvSpPr txBox="1"/>
          <p:nvPr/>
        </p:nvSpPr>
        <p:spPr>
          <a:xfrm>
            <a:off x="1042425" y="211038"/>
            <a:ext cx="7061700" cy="74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000"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90" name="Google Shape;790;p72"/>
          <p:cNvSpPr txBox="1"/>
          <p:nvPr/>
        </p:nvSpPr>
        <p:spPr>
          <a:xfrm>
            <a:off x="1109150" y="27825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2A3990"/>
                </a:solidFill>
                <a:latin typeface="Montserrat"/>
                <a:ea typeface="Montserrat"/>
                <a:cs typeface="Montserrat"/>
                <a:sym typeface="Montserrat"/>
              </a:rPr>
              <a:t>Machine Learning</a:t>
            </a:r>
            <a:endParaRPr sz="3000">
              <a:solidFill>
                <a:srgbClr val="2A399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91" name="Google Shape;791;p72"/>
          <p:cNvSpPr txBox="1"/>
          <p:nvPr/>
        </p:nvSpPr>
        <p:spPr>
          <a:xfrm>
            <a:off x="311700" y="1229875"/>
            <a:ext cx="8520600" cy="333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937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Montserrat"/>
              <a:buChar char="●"/>
            </a:pPr>
            <a:r>
              <a:rPr lang="en" sz="26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But what happens if we overfit on the training data? That means we would perform poorly on new test data!</a:t>
            </a:r>
            <a:endParaRPr sz="2600" b="1">
              <a:solidFill>
                <a:srgbClr val="1155C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792" name="Google Shape;792;p72"/>
          <p:cNvCxnSpPr/>
          <p:nvPr/>
        </p:nvCxnSpPr>
        <p:spPr>
          <a:xfrm>
            <a:off x="3459113" y="2472025"/>
            <a:ext cx="0" cy="19320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triangle" w="med" len="med"/>
            <a:tailEnd type="none" w="med" len="med"/>
          </a:ln>
        </p:spPr>
      </p:cxnSp>
      <p:cxnSp>
        <p:nvCxnSpPr>
          <p:cNvPr id="793" name="Google Shape;793;p72"/>
          <p:cNvCxnSpPr/>
          <p:nvPr/>
        </p:nvCxnSpPr>
        <p:spPr>
          <a:xfrm rot="10800000">
            <a:off x="3459113" y="4404025"/>
            <a:ext cx="29505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triangle" w="med" len="med"/>
            <a:tailEnd type="none" w="med" len="med"/>
          </a:ln>
        </p:spPr>
      </p:cxnSp>
      <p:sp>
        <p:nvSpPr>
          <p:cNvPr id="794" name="Google Shape;794;p72"/>
          <p:cNvSpPr txBox="1"/>
          <p:nvPr/>
        </p:nvSpPr>
        <p:spPr>
          <a:xfrm>
            <a:off x="4381138" y="4404025"/>
            <a:ext cx="825600" cy="44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Overpass"/>
                <a:ea typeface="Overpass"/>
                <a:cs typeface="Overpass"/>
                <a:sym typeface="Overpass"/>
              </a:rPr>
              <a:t>Epochs</a:t>
            </a:r>
            <a:endParaRPr b="1">
              <a:latin typeface="Overpass"/>
              <a:ea typeface="Overpass"/>
              <a:cs typeface="Overpass"/>
              <a:sym typeface="Overpass"/>
            </a:endParaRPr>
          </a:p>
        </p:txBody>
      </p:sp>
      <p:sp>
        <p:nvSpPr>
          <p:cNvPr id="795" name="Google Shape;795;p72"/>
          <p:cNvSpPr txBox="1"/>
          <p:nvPr/>
        </p:nvSpPr>
        <p:spPr>
          <a:xfrm>
            <a:off x="2736938" y="3154225"/>
            <a:ext cx="825600" cy="44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Overpass"/>
                <a:ea typeface="Overpass"/>
                <a:cs typeface="Overpass"/>
                <a:sym typeface="Overpass"/>
              </a:rPr>
              <a:t>Error</a:t>
            </a:r>
            <a:endParaRPr b="1">
              <a:latin typeface="Overpass"/>
              <a:ea typeface="Overpass"/>
              <a:cs typeface="Overpass"/>
              <a:sym typeface="Overpass"/>
            </a:endParaRPr>
          </a:p>
        </p:txBody>
      </p:sp>
      <p:sp>
        <p:nvSpPr>
          <p:cNvPr id="796" name="Google Shape;796;p72"/>
          <p:cNvSpPr/>
          <p:nvPr/>
        </p:nvSpPr>
        <p:spPr>
          <a:xfrm>
            <a:off x="3604075" y="2686450"/>
            <a:ext cx="2638150" cy="1460950"/>
          </a:xfrm>
          <a:custGeom>
            <a:avLst/>
            <a:gdLst/>
            <a:ahLst/>
            <a:cxnLst/>
            <a:rect l="l" t="t" r="r" b="b"/>
            <a:pathLst>
              <a:path w="105526" h="58438" extrusionOk="0">
                <a:moveTo>
                  <a:pt x="0" y="0"/>
                </a:moveTo>
                <a:cubicBezTo>
                  <a:pt x="3381" y="8251"/>
                  <a:pt x="2696" y="39763"/>
                  <a:pt x="20284" y="49503"/>
                </a:cubicBezTo>
                <a:cubicBezTo>
                  <a:pt x="37872" y="59243"/>
                  <a:pt x="91319" y="56949"/>
                  <a:pt x="105526" y="58438"/>
                </a:cubicBezTo>
              </a:path>
            </a:pathLst>
          </a:custGeom>
          <a:noFill/>
          <a:ln w="28575" cap="flat" cmpd="sng">
            <a:solidFill>
              <a:srgbClr val="99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797" name="Google Shape;797;p72"/>
          <p:cNvSpPr/>
          <p:nvPr/>
        </p:nvSpPr>
        <p:spPr>
          <a:xfrm>
            <a:off x="3676525" y="2674375"/>
            <a:ext cx="2402700" cy="1457325"/>
          </a:xfrm>
          <a:custGeom>
            <a:avLst/>
            <a:gdLst/>
            <a:ahLst/>
            <a:cxnLst/>
            <a:rect l="l" t="t" r="r" b="b"/>
            <a:pathLst>
              <a:path w="96108" h="58293" extrusionOk="0">
                <a:moveTo>
                  <a:pt x="0" y="0"/>
                </a:moveTo>
                <a:cubicBezTo>
                  <a:pt x="3823" y="9619"/>
                  <a:pt x="6922" y="52884"/>
                  <a:pt x="22940" y="57714"/>
                </a:cubicBezTo>
                <a:cubicBezTo>
                  <a:pt x="38958" y="62544"/>
                  <a:pt x="83913" y="33767"/>
                  <a:pt x="96108" y="28978"/>
                </a:cubicBezTo>
              </a:path>
            </a:pathLst>
          </a:custGeom>
          <a:noFill/>
          <a:ln w="28575" cap="flat" cmpd="sng">
            <a:solidFill>
              <a:srgbClr val="1155CC"/>
            </a:solidFill>
            <a:prstDash val="solid"/>
            <a:round/>
            <a:headEnd type="none" w="med" len="med"/>
            <a:tailEnd type="none" w="med" len="med"/>
          </a:ln>
        </p:spPr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3" name="Google Shape;803;p73"/>
          <p:cNvSpPr txBox="1"/>
          <p:nvPr/>
        </p:nvSpPr>
        <p:spPr>
          <a:xfrm>
            <a:off x="1042425" y="211038"/>
            <a:ext cx="7061700" cy="74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000"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05" name="Google Shape;805;p73"/>
          <p:cNvSpPr txBox="1"/>
          <p:nvPr/>
        </p:nvSpPr>
        <p:spPr>
          <a:xfrm>
            <a:off x="1109150" y="27825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2A3990"/>
                </a:solidFill>
                <a:latin typeface="Montserrat"/>
                <a:ea typeface="Montserrat"/>
                <a:cs typeface="Montserrat"/>
                <a:sym typeface="Montserrat"/>
              </a:rPr>
              <a:t>Machine Learning</a:t>
            </a:r>
            <a:endParaRPr sz="3000">
              <a:solidFill>
                <a:srgbClr val="2A399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06" name="Google Shape;806;p73"/>
          <p:cNvSpPr txBox="1"/>
          <p:nvPr/>
        </p:nvSpPr>
        <p:spPr>
          <a:xfrm>
            <a:off x="311700" y="1229875"/>
            <a:ext cx="8520600" cy="333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937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Montserrat"/>
              <a:buChar char="●"/>
            </a:pPr>
            <a:r>
              <a:rPr lang="en" sz="26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This is a good indication of training too much on the training data, you should look for the point to cut off training time!</a:t>
            </a:r>
            <a:endParaRPr sz="2600" b="1">
              <a:solidFill>
                <a:srgbClr val="1155C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807" name="Google Shape;807;p73"/>
          <p:cNvCxnSpPr/>
          <p:nvPr/>
        </p:nvCxnSpPr>
        <p:spPr>
          <a:xfrm>
            <a:off x="3459125" y="2710600"/>
            <a:ext cx="0" cy="16935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triangle" w="med" len="med"/>
            <a:tailEnd type="none" w="med" len="med"/>
          </a:ln>
        </p:spPr>
      </p:cxnSp>
      <p:cxnSp>
        <p:nvCxnSpPr>
          <p:cNvPr id="808" name="Google Shape;808;p73"/>
          <p:cNvCxnSpPr/>
          <p:nvPr/>
        </p:nvCxnSpPr>
        <p:spPr>
          <a:xfrm rot="10800000">
            <a:off x="3459113" y="4404025"/>
            <a:ext cx="29505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triangle" w="med" len="med"/>
            <a:tailEnd type="none" w="med" len="med"/>
          </a:ln>
        </p:spPr>
      </p:cxnSp>
      <p:sp>
        <p:nvSpPr>
          <p:cNvPr id="809" name="Google Shape;809;p73"/>
          <p:cNvSpPr txBox="1"/>
          <p:nvPr/>
        </p:nvSpPr>
        <p:spPr>
          <a:xfrm>
            <a:off x="4381138" y="4404025"/>
            <a:ext cx="825600" cy="44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Overpass"/>
                <a:ea typeface="Overpass"/>
                <a:cs typeface="Overpass"/>
                <a:sym typeface="Overpass"/>
              </a:rPr>
              <a:t>Epochs</a:t>
            </a:r>
            <a:endParaRPr b="1">
              <a:latin typeface="Overpass"/>
              <a:ea typeface="Overpass"/>
              <a:cs typeface="Overpass"/>
              <a:sym typeface="Overpass"/>
            </a:endParaRPr>
          </a:p>
        </p:txBody>
      </p:sp>
      <p:sp>
        <p:nvSpPr>
          <p:cNvPr id="810" name="Google Shape;810;p73"/>
          <p:cNvSpPr txBox="1"/>
          <p:nvPr/>
        </p:nvSpPr>
        <p:spPr>
          <a:xfrm>
            <a:off x="2736938" y="3154225"/>
            <a:ext cx="825600" cy="44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Overpass"/>
                <a:ea typeface="Overpass"/>
                <a:cs typeface="Overpass"/>
                <a:sym typeface="Overpass"/>
              </a:rPr>
              <a:t>Error</a:t>
            </a:r>
            <a:endParaRPr b="1">
              <a:latin typeface="Overpass"/>
              <a:ea typeface="Overpass"/>
              <a:cs typeface="Overpass"/>
              <a:sym typeface="Overpass"/>
            </a:endParaRPr>
          </a:p>
        </p:txBody>
      </p:sp>
      <p:sp>
        <p:nvSpPr>
          <p:cNvPr id="811" name="Google Shape;811;p73"/>
          <p:cNvSpPr/>
          <p:nvPr/>
        </p:nvSpPr>
        <p:spPr>
          <a:xfrm>
            <a:off x="3604075" y="2686450"/>
            <a:ext cx="2638150" cy="1460950"/>
          </a:xfrm>
          <a:custGeom>
            <a:avLst/>
            <a:gdLst/>
            <a:ahLst/>
            <a:cxnLst/>
            <a:rect l="l" t="t" r="r" b="b"/>
            <a:pathLst>
              <a:path w="105526" h="58438" extrusionOk="0">
                <a:moveTo>
                  <a:pt x="0" y="0"/>
                </a:moveTo>
                <a:cubicBezTo>
                  <a:pt x="3381" y="8251"/>
                  <a:pt x="2696" y="39763"/>
                  <a:pt x="20284" y="49503"/>
                </a:cubicBezTo>
                <a:cubicBezTo>
                  <a:pt x="37872" y="59243"/>
                  <a:pt x="91319" y="56949"/>
                  <a:pt x="105526" y="58438"/>
                </a:cubicBezTo>
              </a:path>
            </a:pathLst>
          </a:custGeom>
          <a:noFill/>
          <a:ln w="28575" cap="flat" cmpd="sng">
            <a:solidFill>
              <a:srgbClr val="99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812" name="Google Shape;812;p73"/>
          <p:cNvSpPr/>
          <p:nvPr/>
        </p:nvSpPr>
        <p:spPr>
          <a:xfrm>
            <a:off x="3676525" y="2674375"/>
            <a:ext cx="2402700" cy="1457325"/>
          </a:xfrm>
          <a:custGeom>
            <a:avLst/>
            <a:gdLst/>
            <a:ahLst/>
            <a:cxnLst/>
            <a:rect l="l" t="t" r="r" b="b"/>
            <a:pathLst>
              <a:path w="96108" h="58293" extrusionOk="0">
                <a:moveTo>
                  <a:pt x="0" y="0"/>
                </a:moveTo>
                <a:cubicBezTo>
                  <a:pt x="3823" y="9619"/>
                  <a:pt x="6922" y="52884"/>
                  <a:pt x="22940" y="57714"/>
                </a:cubicBezTo>
                <a:cubicBezTo>
                  <a:pt x="38958" y="62544"/>
                  <a:pt x="83913" y="33767"/>
                  <a:pt x="96108" y="28978"/>
                </a:cubicBezTo>
              </a:path>
            </a:pathLst>
          </a:custGeom>
          <a:noFill/>
          <a:ln w="28575" cap="flat" cmpd="sng">
            <a:solidFill>
              <a:srgbClr val="1155CC"/>
            </a:solidFill>
            <a:prstDash val="solid"/>
            <a:round/>
            <a:headEnd type="none" w="med" len="med"/>
            <a:tailEnd type="none" w="med" len="med"/>
          </a:ln>
        </p:spPr>
      </p:sp>
      <p:cxnSp>
        <p:nvCxnSpPr>
          <p:cNvPr id="813" name="Google Shape;813;p73"/>
          <p:cNvCxnSpPr/>
          <p:nvPr/>
        </p:nvCxnSpPr>
        <p:spPr>
          <a:xfrm rot="10800000">
            <a:off x="4665688" y="3600925"/>
            <a:ext cx="0" cy="806100"/>
          </a:xfrm>
          <a:prstGeom prst="straightConnector1">
            <a:avLst/>
          </a:prstGeom>
          <a:noFill/>
          <a:ln w="19050" cap="flat" cmpd="sng">
            <a:solidFill>
              <a:srgbClr val="6AA84F"/>
            </a:solidFill>
            <a:prstDash val="solid"/>
            <a:round/>
            <a:headEnd type="triangle" w="med" len="med"/>
            <a:tailEnd type="none" w="med" len="med"/>
          </a:ln>
        </p:spPr>
      </p:cxn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" name="Google Shape;819;p74"/>
          <p:cNvSpPr txBox="1"/>
          <p:nvPr/>
        </p:nvSpPr>
        <p:spPr>
          <a:xfrm>
            <a:off x="1042425" y="211038"/>
            <a:ext cx="7061700" cy="74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000"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21" name="Google Shape;821;p74"/>
          <p:cNvSpPr txBox="1"/>
          <p:nvPr/>
        </p:nvSpPr>
        <p:spPr>
          <a:xfrm>
            <a:off x="1109150" y="27825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2A3990"/>
                </a:solidFill>
                <a:latin typeface="Montserrat"/>
                <a:ea typeface="Montserrat"/>
                <a:cs typeface="Montserrat"/>
                <a:sym typeface="Montserrat"/>
              </a:rPr>
              <a:t>Machine Learning</a:t>
            </a:r>
            <a:endParaRPr sz="3000">
              <a:solidFill>
                <a:srgbClr val="2A399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22" name="Google Shape;822;p74"/>
          <p:cNvSpPr txBox="1"/>
          <p:nvPr/>
        </p:nvSpPr>
        <p:spPr>
          <a:xfrm>
            <a:off x="311700" y="1229875"/>
            <a:ext cx="8520600" cy="333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937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Montserrat"/>
              <a:buChar char="●"/>
            </a:pPr>
            <a:r>
              <a:rPr lang="en" sz="26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We’ll check on this idea again when we actually begin creating models!</a:t>
            </a:r>
            <a:endParaRPr sz="26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3937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Montserrat"/>
              <a:buChar char="●"/>
            </a:pPr>
            <a:r>
              <a:rPr lang="en" sz="26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For now just be aware of this possible issue!</a:t>
            </a:r>
            <a:endParaRPr sz="26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7" name="Google Shape;827;p75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Montserrat"/>
                <a:ea typeface="Montserrat"/>
                <a:cs typeface="Montserrat"/>
                <a:sym typeface="Montserrat"/>
              </a:rPr>
              <a:t>Evaluating Performance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28" name="Google Shape;828;p75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/>
              <a:t>CLASSIFICATION </a:t>
            </a:r>
            <a:endParaRPr sz="350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5" name="Google Shape;835;p76"/>
          <p:cNvSpPr txBox="1">
            <a:spLocks noGrp="1"/>
          </p:cNvSpPr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Model Evaluation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36" name="Google Shape;836;p7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412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We just learned that after our machine learning process is complete, we will use performance metrics to evaluate how our model did.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412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Let’s discuss classification metrics in more detail!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3" name="Google Shape;843;p77"/>
          <p:cNvSpPr txBox="1">
            <a:spLocks noGrp="1"/>
          </p:cNvSpPr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Model Evaluation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44" name="Google Shape;844;p7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412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The key classification metrics we need to understand are: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914400" marR="0" lvl="1" indent="-412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Accuracy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914400" marR="0" lvl="1" indent="-412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Recall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914400" marR="0" lvl="1" indent="-412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Precision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914400" marR="0" lvl="1" indent="-412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F1-Score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845" name="Google Shape;845;p77" descr="watermark.jpg"/>
          <p:cNvPicPr preferRelativeResize="0"/>
          <p:nvPr/>
        </p:nvPicPr>
        <p:blipFill rotWithShape="1">
          <a:blip r:embed="rId3">
            <a:alphaModFix/>
          </a:blip>
          <a:srcRect l="51048" t="14424" r="35216" b="38251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1" name="Google Shape;851;p78"/>
          <p:cNvSpPr txBox="1">
            <a:spLocks noGrp="1"/>
          </p:cNvSpPr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Model Evaluation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52" name="Google Shape;852;p7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412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But first, we should understand the reasoning behind these metrics and how they will actually work in the real world!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9" name="Google Shape;859;p79"/>
          <p:cNvSpPr txBox="1">
            <a:spLocks noGrp="1"/>
          </p:cNvSpPr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Model Evaluation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60" name="Google Shape;860;p7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412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Typically in any classification task your model can only achieve two results: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914400" marR="0" lvl="1" indent="-412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Either your model was </a:t>
            </a:r>
            <a:r>
              <a:rPr lang="en" sz="2900" b="1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correct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in its prediction.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914400" marR="0" lvl="1" indent="-412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Or your model was </a:t>
            </a:r>
            <a:r>
              <a:rPr lang="en" sz="2900" b="1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incorrect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in its prediction.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7" name="Google Shape;867;p80"/>
          <p:cNvSpPr txBox="1">
            <a:spLocks noGrp="1"/>
          </p:cNvSpPr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Model Evaluation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68" name="Google Shape;868;p8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412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Fortunately incorrect vs correct expands to situations where you have multiple classes.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412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For the purposes of explaining the metrics, let’s imagine a </a:t>
            </a:r>
            <a:r>
              <a:rPr lang="en" sz="2900" b="1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binary classification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situation, where we only have two available classes.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5" name="Google Shape;875;p81"/>
          <p:cNvSpPr txBox="1">
            <a:spLocks noGrp="1"/>
          </p:cNvSpPr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Model Evaluation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76" name="Google Shape;876;p8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412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In our example, we will attempt to predict if an image is a dog or a cat.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412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Since this is supervised learning, we will first </a:t>
            </a:r>
            <a:r>
              <a:rPr lang="en" sz="2900" b="1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fit/train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a model on </a:t>
            </a:r>
            <a:r>
              <a:rPr lang="en" sz="2900" b="1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training data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, then </a:t>
            </a:r>
            <a:r>
              <a:rPr lang="en" sz="2900" b="1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test 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the model on </a:t>
            </a:r>
            <a:r>
              <a:rPr lang="en" sz="2900" b="1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testing data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412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Once we have the model’s predictions from the </a:t>
            </a:r>
            <a:r>
              <a:rPr lang="en" sz="2900" b="1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X_test 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data, we compare it to the </a:t>
            </a:r>
            <a:r>
              <a:rPr lang="en" sz="2900" b="1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true y values 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(the correct labels).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3" name="Google Shape;883;p82"/>
          <p:cNvSpPr txBox="1">
            <a:spLocks noGrp="1"/>
          </p:cNvSpPr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Model Evaluation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86" name="Google Shape;886;p82"/>
          <p:cNvSpPr/>
          <p:nvPr/>
        </p:nvSpPr>
        <p:spPr>
          <a:xfrm>
            <a:off x="3467550" y="1700675"/>
            <a:ext cx="2208900" cy="1534800"/>
          </a:xfrm>
          <a:prstGeom prst="roundRect">
            <a:avLst>
              <a:gd name="adj" fmla="val 16667"/>
            </a:avLst>
          </a:prstGeom>
          <a:solidFill>
            <a:srgbClr val="D9D2E9"/>
          </a:solidFill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latin typeface="Montserrat"/>
                <a:ea typeface="Montserrat"/>
                <a:cs typeface="Montserrat"/>
                <a:sym typeface="Montserrat"/>
              </a:rPr>
              <a:t>TRAINED</a:t>
            </a:r>
            <a:endParaRPr sz="3000"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latin typeface="Montserrat"/>
                <a:ea typeface="Montserrat"/>
                <a:cs typeface="Montserrat"/>
                <a:sym typeface="Montserrat"/>
              </a:rPr>
              <a:t>MODEL</a:t>
            </a:r>
            <a:endParaRPr sz="300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1" name="Google Shape;891;p83"/>
          <p:cNvSpPr txBox="1">
            <a:spLocks noGrp="1"/>
          </p:cNvSpPr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Model Evaluation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894" name="Google Shape;894;p8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8284" y="1121371"/>
            <a:ext cx="1805550" cy="1201500"/>
          </a:xfrm>
          <a:prstGeom prst="rect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895" name="Google Shape;895;p83"/>
          <p:cNvSpPr txBox="1"/>
          <p:nvPr/>
        </p:nvSpPr>
        <p:spPr>
          <a:xfrm>
            <a:off x="-1" y="2322875"/>
            <a:ext cx="25821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b="1">
                <a:latin typeface="Overpass"/>
                <a:ea typeface="Overpass"/>
                <a:cs typeface="Overpass"/>
                <a:sym typeface="Overpass"/>
              </a:rPr>
              <a:t>Test Image </a:t>
            </a:r>
            <a:endParaRPr sz="2200" b="1">
              <a:latin typeface="Overpass"/>
              <a:ea typeface="Overpass"/>
              <a:cs typeface="Overpass"/>
              <a:sym typeface="Overpass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b="1">
                <a:latin typeface="Overpass"/>
                <a:ea typeface="Overpass"/>
                <a:cs typeface="Overpass"/>
                <a:sym typeface="Overpass"/>
              </a:rPr>
              <a:t>from X_test</a:t>
            </a:r>
            <a:endParaRPr sz="2200" b="1">
              <a:latin typeface="Overpass"/>
              <a:ea typeface="Overpass"/>
              <a:cs typeface="Overpass"/>
              <a:sym typeface="Overpass"/>
            </a:endParaRPr>
          </a:p>
        </p:txBody>
      </p:sp>
      <p:sp>
        <p:nvSpPr>
          <p:cNvPr id="896" name="Google Shape;896;p83"/>
          <p:cNvSpPr/>
          <p:nvPr/>
        </p:nvSpPr>
        <p:spPr>
          <a:xfrm>
            <a:off x="3467550" y="1700675"/>
            <a:ext cx="2208900" cy="1534800"/>
          </a:xfrm>
          <a:prstGeom prst="roundRect">
            <a:avLst>
              <a:gd name="adj" fmla="val 16667"/>
            </a:avLst>
          </a:prstGeom>
          <a:solidFill>
            <a:srgbClr val="D9D2E9"/>
          </a:solidFill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latin typeface="Montserrat"/>
                <a:ea typeface="Montserrat"/>
                <a:cs typeface="Montserrat"/>
                <a:sym typeface="Montserrat"/>
              </a:rPr>
              <a:t>TRAINED</a:t>
            </a:r>
            <a:endParaRPr sz="3000"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latin typeface="Montserrat"/>
                <a:ea typeface="Montserrat"/>
                <a:cs typeface="Montserrat"/>
                <a:sym typeface="Montserrat"/>
              </a:rPr>
              <a:t>MODEL</a:t>
            </a:r>
            <a:endParaRPr sz="300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897" name="Google Shape;897;p83"/>
          <p:cNvCxnSpPr>
            <a:endCxn id="896" idx="1"/>
          </p:cNvCxnSpPr>
          <p:nvPr/>
        </p:nvCxnSpPr>
        <p:spPr>
          <a:xfrm>
            <a:off x="2219250" y="1721375"/>
            <a:ext cx="1248300" cy="746700"/>
          </a:xfrm>
          <a:prstGeom prst="curvedConnector3">
            <a:avLst>
              <a:gd name="adj1" fmla="val 50000"/>
            </a:avLst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2" name="Google Shape;902;p84"/>
          <p:cNvSpPr txBox="1">
            <a:spLocks noGrp="1"/>
          </p:cNvSpPr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Model Evaluation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903" name="Google Shape;903;p84" descr="watermark.jpg"/>
          <p:cNvPicPr preferRelativeResize="0"/>
          <p:nvPr/>
        </p:nvPicPr>
        <p:blipFill rotWithShape="1">
          <a:blip r:embed="rId3">
            <a:alphaModFix/>
          </a:blip>
          <a:srcRect l="51048" t="14424" r="35216" b="38251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id="905" name="Google Shape;905;p8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8284" y="1121371"/>
            <a:ext cx="1805550" cy="1201500"/>
          </a:xfrm>
          <a:prstGeom prst="rect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906" name="Google Shape;906;p84"/>
          <p:cNvSpPr txBox="1"/>
          <p:nvPr/>
        </p:nvSpPr>
        <p:spPr>
          <a:xfrm>
            <a:off x="-1" y="2322875"/>
            <a:ext cx="25821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b="1">
                <a:latin typeface="Overpass"/>
                <a:ea typeface="Overpass"/>
                <a:cs typeface="Overpass"/>
                <a:sym typeface="Overpass"/>
              </a:rPr>
              <a:t>Test Image </a:t>
            </a:r>
            <a:endParaRPr sz="2200" b="1">
              <a:latin typeface="Overpass"/>
              <a:ea typeface="Overpass"/>
              <a:cs typeface="Overpass"/>
              <a:sym typeface="Overpass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b="1">
                <a:latin typeface="Overpass"/>
                <a:ea typeface="Overpass"/>
                <a:cs typeface="Overpass"/>
                <a:sym typeface="Overpass"/>
              </a:rPr>
              <a:t>from X_test</a:t>
            </a:r>
            <a:endParaRPr sz="2200" b="1">
              <a:latin typeface="Overpass"/>
              <a:ea typeface="Overpass"/>
              <a:cs typeface="Overpass"/>
              <a:sym typeface="Overpass"/>
            </a:endParaRPr>
          </a:p>
        </p:txBody>
      </p:sp>
      <p:sp>
        <p:nvSpPr>
          <p:cNvPr id="907" name="Google Shape;907;p84"/>
          <p:cNvSpPr txBox="1"/>
          <p:nvPr/>
        </p:nvSpPr>
        <p:spPr>
          <a:xfrm>
            <a:off x="-1" y="3850875"/>
            <a:ext cx="25821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b="1">
                <a:latin typeface="Overpass"/>
                <a:ea typeface="Overpass"/>
                <a:cs typeface="Overpass"/>
                <a:sym typeface="Overpass"/>
              </a:rPr>
              <a:t>Correct Label</a:t>
            </a:r>
            <a:endParaRPr sz="2200" b="1">
              <a:latin typeface="Overpass"/>
              <a:ea typeface="Overpass"/>
              <a:cs typeface="Overpass"/>
              <a:sym typeface="Overpass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b="1">
                <a:latin typeface="Overpass"/>
                <a:ea typeface="Overpass"/>
                <a:cs typeface="Overpass"/>
                <a:sym typeface="Overpass"/>
              </a:rPr>
              <a:t>from y_test</a:t>
            </a:r>
            <a:endParaRPr sz="2200" b="1">
              <a:latin typeface="Overpass"/>
              <a:ea typeface="Overpass"/>
              <a:cs typeface="Overpass"/>
              <a:sym typeface="Overpass"/>
            </a:endParaRPr>
          </a:p>
        </p:txBody>
      </p:sp>
      <p:sp>
        <p:nvSpPr>
          <p:cNvPr id="908" name="Google Shape;908;p84"/>
          <p:cNvSpPr/>
          <p:nvPr/>
        </p:nvSpPr>
        <p:spPr>
          <a:xfrm>
            <a:off x="420150" y="3373875"/>
            <a:ext cx="1741800" cy="477000"/>
          </a:xfrm>
          <a:prstGeom prst="roundRect">
            <a:avLst>
              <a:gd name="adj" fmla="val 16667"/>
            </a:avLst>
          </a:prstGeom>
          <a:solidFill>
            <a:srgbClr val="CFE2F3"/>
          </a:solidFill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latin typeface="Overpass"/>
                <a:ea typeface="Overpass"/>
                <a:cs typeface="Overpass"/>
                <a:sym typeface="Overpass"/>
              </a:rPr>
              <a:t>DOG</a:t>
            </a:r>
            <a:endParaRPr sz="2200">
              <a:latin typeface="Overpass"/>
              <a:ea typeface="Overpass"/>
              <a:cs typeface="Overpass"/>
              <a:sym typeface="Overpass"/>
            </a:endParaRPr>
          </a:p>
        </p:txBody>
      </p:sp>
      <p:sp>
        <p:nvSpPr>
          <p:cNvPr id="909" name="Google Shape;909;p84"/>
          <p:cNvSpPr/>
          <p:nvPr/>
        </p:nvSpPr>
        <p:spPr>
          <a:xfrm>
            <a:off x="3467550" y="1700675"/>
            <a:ext cx="2208900" cy="1534800"/>
          </a:xfrm>
          <a:prstGeom prst="roundRect">
            <a:avLst>
              <a:gd name="adj" fmla="val 16667"/>
            </a:avLst>
          </a:prstGeom>
          <a:solidFill>
            <a:srgbClr val="D9D2E9"/>
          </a:solidFill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latin typeface="Montserrat"/>
                <a:ea typeface="Montserrat"/>
                <a:cs typeface="Montserrat"/>
                <a:sym typeface="Montserrat"/>
              </a:rPr>
              <a:t>TRAINED</a:t>
            </a:r>
            <a:endParaRPr sz="3000"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latin typeface="Montserrat"/>
                <a:ea typeface="Montserrat"/>
                <a:cs typeface="Montserrat"/>
                <a:sym typeface="Montserrat"/>
              </a:rPr>
              <a:t>MODEL</a:t>
            </a:r>
            <a:endParaRPr sz="300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910" name="Google Shape;910;p84"/>
          <p:cNvCxnSpPr>
            <a:endCxn id="909" idx="1"/>
          </p:cNvCxnSpPr>
          <p:nvPr/>
        </p:nvCxnSpPr>
        <p:spPr>
          <a:xfrm>
            <a:off x="2219250" y="1721375"/>
            <a:ext cx="1248300" cy="746700"/>
          </a:xfrm>
          <a:prstGeom prst="curvedConnector3">
            <a:avLst>
              <a:gd name="adj1" fmla="val 50000"/>
            </a:avLst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5" name="Google Shape;915;p85"/>
          <p:cNvSpPr txBox="1">
            <a:spLocks noGrp="1"/>
          </p:cNvSpPr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Model Evaluation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918" name="Google Shape;918;p8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8284" y="1121371"/>
            <a:ext cx="1805550" cy="1201500"/>
          </a:xfrm>
          <a:prstGeom prst="rect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919" name="Google Shape;919;p85"/>
          <p:cNvSpPr txBox="1"/>
          <p:nvPr/>
        </p:nvSpPr>
        <p:spPr>
          <a:xfrm>
            <a:off x="-1" y="2322875"/>
            <a:ext cx="25821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b="1">
                <a:latin typeface="Overpass"/>
                <a:ea typeface="Overpass"/>
                <a:cs typeface="Overpass"/>
                <a:sym typeface="Overpass"/>
              </a:rPr>
              <a:t>Test Image </a:t>
            </a:r>
            <a:endParaRPr sz="2200" b="1">
              <a:latin typeface="Overpass"/>
              <a:ea typeface="Overpass"/>
              <a:cs typeface="Overpass"/>
              <a:sym typeface="Overpass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b="1">
                <a:latin typeface="Overpass"/>
                <a:ea typeface="Overpass"/>
                <a:cs typeface="Overpass"/>
                <a:sym typeface="Overpass"/>
              </a:rPr>
              <a:t>from X_test</a:t>
            </a:r>
            <a:endParaRPr sz="2200" b="1">
              <a:latin typeface="Overpass"/>
              <a:ea typeface="Overpass"/>
              <a:cs typeface="Overpass"/>
              <a:sym typeface="Overpass"/>
            </a:endParaRPr>
          </a:p>
        </p:txBody>
      </p:sp>
      <p:sp>
        <p:nvSpPr>
          <p:cNvPr id="920" name="Google Shape;920;p85"/>
          <p:cNvSpPr txBox="1"/>
          <p:nvPr/>
        </p:nvSpPr>
        <p:spPr>
          <a:xfrm>
            <a:off x="-1" y="3850875"/>
            <a:ext cx="25821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b="1">
                <a:latin typeface="Overpass"/>
                <a:ea typeface="Overpass"/>
                <a:cs typeface="Overpass"/>
                <a:sym typeface="Overpass"/>
              </a:rPr>
              <a:t>Correct Label</a:t>
            </a:r>
            <a:endParaRPr sz="2200" b="1">
              <a:latin typeface="Overpass"/>
              <a:ea typeface="Overpass"/>
              <a:cs typeface="Overpass"/>
              <a:sym typeface="Overpass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b="1">
                <a:latin typeface="Overpass"/>
                <a:ea typeface="Overpass"/>
                <a:cs typeface="Overpass"/>
                <a:sym typeface="Overpass"/>
              </a:rPr>
              <a:t>from y_test</a:t>
            </a:r>
            <a:endParaRPr sz="2200" b="1">
              <a:latin typeface="Overpass"/>
              <a:ea typeface="Overpass"/>
              <a:cs typeface="Overpass"/>
              <a:sym typeface="Overpass"/>
            </a:endParaRPr>
          </a:p>
        </p:txBody>
      </p:sp>
      <p:sp>
        <p:nvSpPr>
          <p:cNvPr id="921" name="Google Shape;921;p85"/>
          <p:cNvSpPr/>
          <p:nvPr/>
        </p:nvSpPr>
        <p:spPr>
          <a:xfrm>
            <a:off x="420150" y="3373875"/>
            <a:ext cx="1741800" cy="477000"/>
          </a:xfrm>
          <a:prstGeom prst="roundRect">
            <a:avLst>
              <a:gd name="adj" fmla="val 16667"/>
            </a:avLst>
          </a:prstGeom>
          <a:solidFill>
            <a:srgbClr val="CFE2F3"/>
          </a:solidFill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latin typeface="Overpass"/>
                <a:ea typeface="Overpass"/>
                <a:cs typeface="Overpass"/>
                <a:sym typeface="Overpass"/>
              </a:rPr>
              <a:t>DOG</a:t>
            </a:r>
            <a:endParaRPr sz="2200">
              <a:latin typeface="Overpass"/>
              <a:ea typeface="Overpass"/>
              <a:cs typeface="Overpass"/>
              <a:sym typeface="Overpass"/>
            </a:endParaRPr>
          </a:p>
        </p:txBody>
      </p:sp>
      <p:sp>
        <p:nvSpPr>
          <p:cNvPr id="922" name="Google Shape;922;p85"/>
          <p:cNvSpPr/>
          <p:nvPr/>
        </p:nvSpPr>
        <p:spPr>
          <a:xfrm>
            <a:off x="3467550" y="1700675"/>
            <a:ext cx="2208900" cy="1534800"/>
          </a:xfrm>
          <a:prstGeom prst="roundRect">
            <a:avLst>
              <a:gd name="adj" fmla="val 16667"/>
            </a:avLst>
          </a:prstGeom>
          <a:solidFill>
            <a:srgbClr val="D9D2E9"/>
          </a:solidFill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latin typeface="Montserrat"/>
                <a:ea typeface="Montserrat"/>
                <a:cs typeface="Montserrat"/>
                <a:sym typeface="Montserrat"/>
              </a:rPr>
              <a:t>TRAINED</a:t>
            </a:r>
            <a:endParaRPr sz="3000"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latin typeface="Montserrat"/>
                <a:ea typeface="Montserrat"/>
                <a:cs typeface="Montserrat"/>
                <a:sym typeface="Montserrat"/>
              </a:rPr>
              <a:t>MODEL</a:t>
            </a:r>
            <a:endParaRPr sz="300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923" name="Google Shape;923;p85"/>
          <p:cNvCxnSpPr>
            <a:endCxn id="922" idx="1"/>
          </p:cNvCxnSpPr>
          <p:nvPr/>
        </p:nvCxnSpPr>
        <p:spPr>
          <a:xfrm>
            <a:off x="2219250" y="1721375"/>
            <a:ext cx="1248300" cy="746700"/>
          </a:xfrm>
          <a:prstGeom prst="curvedConnector3">
            <a:avLst>
              <a:gd name="adj1" fmla="val 50000"/>
            </a:avLst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924" name="Google Shape;924;p85"/>
          <p:cNvCxnSpPr>
            <a:stCxn id="922" idx="3"/>
          </p:cNvCxnSpPr>
          <p:nvPr/>
        </p:nvCxnSpPr>
        <p:spPr>
          <a:xfrm>
            <a:off x="5676450" y="2468075"/>
            <a:ext cx="835800" cy="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925" name="Google Shape;925;p85"/>
          <p:cNvSpPr/>
          <p:nvPr/>
        </p:nvSpPr>
        <p:spPr>
          <a:xfrm>
            <a:off x="6512250" y="2229575"/>
            <a:ext cx="1741800" cy="477000"/>
          </a:xfrm>
          <a:prstGeom prst="roundRect">
            <a:avLst>
              <a:gd name="adj" fmla="val 16667"/>
            </a:avLst>
          </a:prstGeom>
          <a:solidFill>
            <a:srgbClr val="FCE5CD"/>
          </a:solidFill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latin typeface="Overpass"/>
                <a:ea typeface="Overpass"/>
                <a:cs typeface="Overpass"/>
                <a:sym typeface="Overpass"/>
              </a:rPr>
              <a:t>DOG</a:t>
            </a:r>
            <a:endParaRPr sz="2200">
              <a:latin typeface="Overpass"/>
              <a:ea typeface="Overpass"/>
              <a:cs typeface="Overpass"/>
              <a:sym typeface="Overpass"/>
            </a:endParaRPr>
          </a:p>
        </p:txBody>
      </p:sp>
      <p:sp>
        <p:nvSpPr>
          <p:cNvPr id="926" name="Google Shape;926;p85"/>
          <p:cNvSpPr txBox="1"/>
          <p:nvPr/>
        </p:nvSpPr>
        <p:spPr>
          <a:xfrm>
            <a:off x="6135849" y="2748525"/>
            <a:ext cx="25821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b="1">
                <a:latin typeface="Overpass"/>
                <a:ea typeface="Overpass"/>
                <a:cs typeface="Overpass"/>
                <a:sym typeface="Overpass"/>
              </a:rPr>
              <a:t>Prediction on </a:t>
            </a:r>
            <a:endParaRPr sz="2200" b="1">
              <a:latin typeface="Overpass"/>
              <a:ea typeface="Overpass"/>
              <a:cs typeface="Overpass"/>
              <a:sym typeface="Overpass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b="1">
                <a:latin typeface="Overpass"/>
                <a:ea typeface="Overpass"/>
                <a:cs typeface="Overpass"/>
                <a:sym typeface="Overpass"/>
              </a:rPr>
              <a:t>Test Image</a:t>
            </a:r>
            <a:endParaRPr sz="2200" b="1">
              <a:latin typeface="Overpass"/>
              <a:ea typeface="Overpass"/>
              <a:cs typeface="Overpass"/>
              <a:sym typeface="Overpass"/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" name="Google Shape;931;p86"/>
          <p:cNvSpPr txBox="1">
            <a:spLocks noGrp="1"/>
          </p:cNvSpPr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Model Evaluation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934" name="Google Shape;934;p8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8284" y="1121371"/>
            <a:ext cx="1805550" cy="1201500"/>
          </a:xfrm>
          <a:prstGeom prst="rect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935" name="Google Shape;935;p86"/>
          <p:cNvSpPr txBox="1"/>
          <p:nvPr/>
        </p:nvSpPr>
        <p:spPr>
          <a:xfrm>
            <a:off x="-1" y="2322875"/>
            <a:ext cx="25821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b="1">
                <a:latin typeface="Overpass"/>
                <a:ea typeface="Overpass"/>
                <a:cs typeface="Overpass"/>
                <a:sym typeface="Overpass"/>
              </a:rPr>
              <a:t>Test Image </a:t>
            </a:r>
            <a:endParaRPr sz="2200" b="1">
              <a:latin typeface="Overpass"/>
              <a:ea typeface="Overpass"/>
              <a:cs typeface="Overpass"/>
              <a:sym typeface="Overpass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b="1">
                <a:latin typeface="Overpass"/>
                <a:ea typeface="Overpass"/>
                <a:cs typeface="Overpass"/>
                <a:sym typeface="Overpass"/>
              </a:rPr>
              <a:t>from X_test</a:t>
            </a:r>
            <a:endParaRPr sz="2200" b="1">
              <a:latin typeface="Overpass"/>
              <a:ea typeface="Overpass"/>
              <a:cs typeface="Overpass"/>
              <a:sym typeface="Overpass"/>
            </a:endParaRPr>
          </a:p>
        </p:txBody>
      </p:sp>
      <p:sp>
        <p:nvSpPr>
          <p:cNvPr id="936" name="Google Shape;936;p86"/>
          <p:cNvSpPr txBox="1"/>
          <p:nvPr/>
        </p:nvSpPr>
        <p:spPr>
          <a:xfrm>
            <a:off x="-1" y="3850875"/>
            <a:ext cx="25821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b="1">
                <a:latin typeface="Overpass"/>
                <a:ea typeface="Overpass"/>
                <a:cs typeface="Overpass"/>
                <a:sym typeface="Overpass"/>
              </a:rPr>
              <a:t>Correct Label</a:t>
            </a:r>
            <a:endParaRPr sz="2200" b="1">
              <a:latin typeface="Overpass"/>
              <a:ea typeface="Overpass"/>
              <a:cs typeface="Overpass"/>
              <a:sym typeface="Overpass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b="1">
                <a:latin typeface="Overpass"/>
                <a:ea typeface="Overpass"/>
                <a:cs typeface="Overpass"/>
                <a:sym typeface="Overpass"/>
              </a:rPr>
              <a:t>from y_test</a:t>
            </a:r>
            <a:endParaRPr sz="2200" b="1">
              <a:latin typeface="Overpass"/>
              <a:ea typeface="Overpass"/>
              <a:cs typeface="Overpass"/>
              <a:sym typeface="Overpass"/>
            </a:endParaRPr>
          </a:p>
        </p:txBody>
      </p:sp>
      <p:sp>
        <p:nvSpPr>
          <p:cNvPr id="937" name="Google Shape;937;p86"/>
          <p:cNvSpPr/>
          <p:nvPr/>
        </p:nvSpPr>
        <p:spPr>
          <a:xfrm>
            <a:off x="420150" y="3373875"/>
            <a:ext cx="1741800" cy="477000"/>
          </a:xfrm>
          <a:prstGeom prst="roundRect">
            <a:avLst>
              <a:gd name="adj" fmla="val 16667"/>
            </a:avLst>
          </a:prstGeom>
          <a:solidFill>
            <a:srgbClr val="CFE2F3"/>
          </a:solidFill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latin typeface="Overpass"/>
                <a:ea typeface="Overpass"/>
                <a:cs typeface="Overpass"/>
                <a:sym typeface="Overpass"/>
              </a:rPr>
              <a:t>DOG</a:t>
            </a:r>
            <a:endParaRPr sz="2200">
              <a:latin typeface="Overpass"/>
              <a:ea typeface="Overpass"/>
              <a:cs typeface="Overpass"/>
              <a:sym typeface="Overpass"/>
            </a:endParaRPr>
          </a:p>
        </p:txBody>
      </p:sp>
      <p:sp>
        <p:nvSpPr>
          <p:cNvPr id="938" name="Google Shape;938;p86"/>
          <p:cNvSpPr/>
          <p:nvPr/>
        </p:nvSpPr>
        <p:spPr>
          <a:xfrm>
            <a:off x="3467550" y="1700675"/>
            <a:ext cx="2208900" cy="1534800"/>
          </a:xfrm>
          <a:prstGeom prst="roundRect">
            <a:avLst>
              <a:gd name="adj" fmla="val 16667"/>
            </a:avLst>
          </a:prstGeom>
          <a:solidFill>
            <a:srgbClr val="D9D2E9"/>
          </a:solidFill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latin typeface="Montserrat"/>
                <a:ea typeface="Montserrat"/>
                <a:cs typeface="Montserrat"/>
                <a:sym typeface="Montserrat"/>
              </a:rPr>
              <a:t>TRAINED</a:t>
            </a:r>
            <a:endParaRPr sz="3000"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latin typeface="Montserrat"/>
                <a:ea typeface="Montserrat"/>
                <a:cs typeface="Montserrat"/>
                <a:sym typeface="Montserrat"/>
              </a:rPr>
              <a:t>MODEL</a:t>
            </a:r>
            <a:endParaRPr sz="300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939" name="Google Shape;939;p86"/>
          <p:cNvCxnSpPr>
            <a:endCxn id="938" idx="1"/>
          </p:cNvCxnSpPr>
          <p:nvPr/>
        </p:nvCxnSpPr>
        <p:spPr>
          <a:xfrm>
            <a:off x="2219250" y="1721375"/>
            <a:ext cx="1248300" cy="746700"/>
          </a:xfrm>
          <a:prstGeom prst="curvedConnector3">
            <a:avLst>
              <a:gd name="adj1" fmla="val 50000"/>
            </a:avLst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940" name="Google Shape;940;p86"/>
          <p:cNvCxnSpPr>
            <a:stCxn id="938" idx="3"/>
          </p:cNvCxnSpPr>
          <p:nvPr/>
        </p:nvCxnSpPr>
        <p:spPr>
          <a:xfrm>
            <a:off x="5676450" y="2468075"/>
            <a:ext cx="835800" cy="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941" name="Google Shape;941;p86"/>
          <p:cNvSpPr/>
          <p:nvPr/>
        </p:nvSpPr>
        <p:spPr>
          <a:xfrm>
            <a:off x="6512250" y="2229575"/>
            <a:ext cx="1741800" cy="477000"/>
          </a:xfrm>
          <a:prstGeom prst="roundRect">
            <a:avLst>
              <a:gd name="adj" fmla="val 16667"/>
            </a:avLst>
          </a:prstGeom>
          <a:solidFill>
            <a:srgbClr val="FCE5CD"/>
          </a:solidFill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latin typeface="Overpass"/>
                <a:ea typeface="Overpass"/>
                <a:cs typeface="Overpass"/>
                <a:sym typeface="Overpass"/>
              </a:rPr>
              <a:t>DOG</a:t>
            </a:r>
            <a:endParaRPr sz="2200">
              <a:latin typeface="Overpass"/>
              <a:ea typeface="Overpass"/>
              <a:cs typeface="Overpass"/>
              <a:sym typeface="Overpass"/>
            </a:endParaRPr>
          </a:p>
        </p:txBody>
      </p:sp>
      <p:sp>
        <p:nvSpPr>
          <p:cNvPr id="942" name="Google Shape;942;p86"/>
          <p:cNvSpPr txBox="1"/>
          <p:nvPr/>
        </p:nvSpPr>
        <p:spPr>
          <a:xfrm>
            <a:off x="6135849" y="2748525"/>
            <a:ext cx="25821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b="1">
                <a:latin typeface="Overpass"/>
                <a:ea typeface="Overpass"/>
                <a:cs typeface="Overpass"/>
                <a:sym typeface="Overpass"/>
              </a:rPr>
              <a:t>Prediction on </a:t>
            </a:r>
            <a:endParaRPr sz="2200" b="1">
              <a:latin typeface="Overpass"/>
              <a:ea typeface="Overpass"/>
              <a:cs typeface="Overpass"/>
              <a:sym typeface="Overpass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b="1">
                <a:latin typeface="Overpass"/>
                <a:ea typeface="Overpass"/>
                <a:cs typeface="Overpass"/>
                <a:sym typeface="Overpass"/>
              </a:rPr>
              <a:t>Test Image</a:t>
            </a:r>
            <a:endParaRPr sz="2200" b="1">
              <a:latin typeface="Overpass"/>
              <a:ea typeface="Overpass"/>
              <a:cs typeface="Overpass"/>
              <a:sym typeface="Overpass"/>
            </a:endParaRPr>
          </a:p>
        </p:txBody>
      </p:sp>
      <p:sp>
        <p:nvSpPr>
          <p:cNvPr id="943" name="Google Shape;943;p86"/>
          <p:cNvSpPr/>
          <p:nvPr/>
        </p:nvSpPr>
        <p:spPr>
          <a:xfrm>
            <a:off x="3730050" y="3824100"/>
            <a:ext cx="4728600" cy="746700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latin typeface="Overpass"/>
                <a:ea typeface="Overpass"/>
                <a:cs typeface="Overpass"/>
                <a:sym typeface="Overpass"/>
              </a:rPr>
              <a:t>DOG == DOG ?</a:t>
            </a:r>
            <a:endParaRPr sz="2600">
              <a:latin typeface="Overpass"/>
              <a:ea typeface="Overpass"/>
              <a:cs typeface="Overpass"/>
              <a:sym typeface="Overpass"/>
            </a:endParaRPr>
          </a:p>
        </p:txBody>
      </p:sp>
      <p:sp>
        <p:nvSpPr>
          <p:cNvPr id="944" name="Google Shape;944;p86"/>
          <p:cNvSpPr txBox="1"/>
          <p:nvPr/>
        </p:nvSpPr>
        <p:spPr>
          <a:xfrm>
            <a:off x="3083850" y="4570800"/>
            <a:ext cx="6021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b="1">
                <a:latin typeface="Overpass"/>
                <a:ea typeface="Overpass"/>
                <a:cs typeface="Overpass"/>
                <a:sym typeface="Overpass"/>
              </a:rPr>
              <a:t>Compare Prediction to Correct Label</a:t>
            </a:r>
            <a:endParaRPr sz="2200" b="1">
              <a:latin typeface="Overpass"/>
              <a:ea typeface="Overpass"/>
              <a:cs typeface="Overpass"/>
              <a:sym typeface="Overpass"/>
            </a:endParaRPr>
          </a:p>
        </p:txBody>
      </p:sp>
      <p:cxnSp>
        <p:nvCxnSpPr>
          <p:cNvPr id="945" name="Google Shape;945;p86"/>
          <p:cNvCxnSpPr>
            <a:stCxn id="937" idx="3"/>
            <a:endCxn id="943" idx="1"/>
          </p:cNvCxnSpPr>
          <p:nvPr/>
        </p:nvCxnSpPr>
        <p:spPr>
          <a:xfrm>
            <a:off x="2161950" y="3612375"/>
            <a:ext cx="1568100" cy="585000"/>
          </a:xfrm>
          <a:prstGeom prst="curvedConnector3">
            <a:avLst>
              <a:gd name="adj1" fmla="val 50000"/>
            </a:avLst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946" name="Google Shape;946;p86"/>
          <p:cNvCxnSpPr>
            <a:stCxn id="941" idx="3"/>
            <a:endCxn id="943" idx="3"/>
          </p:cNvCxnSpPr>
          <p:nvPr/>
        </p:nvCxnSpPr>
        <p:spPr>
          <a:xfrm>
            <a:off x="8254050" y="2468075"/>
            <a:ext cx="204600" cy="1729500"/>
          </a:xfrm>
          <a:prstGeom prst="curvedConnector3">
            <a:avLst>
              <a:gd name="adj1" fmla="val 216386"/>
            </a:avLst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947" name="Google Shape;947;p86"/>
          <p:cNvSpPr/>
          <p:nvPr/>
        </p:nvSpPr>
        <p:spPr>
          <a:xfrm>
            <a:off x="3836875" y="3871950"/>
            <a:ext cx="663600" cy="651000"/>
          </a:xfrm>
          <a:prstGeom prst="donut">
            <a:avLst>
              <a:gd name="adj" fmla="val 25000"/>
            </a:avLst>
          </a:prstGeom>
          <a:solidFill>
            <a:srgbClr val="00FF00"/>
          </a:solidFill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" name="Google Shape;952;p87"/>
          <p:cNvSpPr txBox="1">
            <a:spLocks noGrp="1"/>
          </p:cNvSpPr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Model Evaluation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955" name="Google Shape;955;p8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8284" y="1121371"/>
            <a:ext cx="1805550" cy="1201500"/>
          </a:xfrm>
          <a:prstGeom prst="rect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956" name="Google Shape;956;p87"/>
          <p:cNvSpPr txBox="1"/>
          <p:nvPr/>
        </p:nvSpPr>
        <p:spPr>
          <a:xfrm>
            <a:off x="-1" y="2322875"/>
            <a:ext cx="25821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b="1">
                <a:latin typeface="Overpass"/>
                <a:ea typeface="Overpass"/>
                <a:cs typeface="Overpass"/>
                <a:sym typeface="Overpass"/>
              </a:rPr>
              <a:t>Test Image </a:t>
            </a:r>
            <a:endParaRPr sz="2200" b="1">
              <a:latin typeface="Overpass"/>
              <a:ea typeface="Overpass"/>
              <a:cs typeface="Overpass"/>
              <a:sym typeface="Overpass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b="1">
                <a:latin typeface="Overpass"/>
                <a:ea typeface="Overpass"/>
                <a:cs typeface="Overpass"/>
                <a:sym typeface="Overpass"/>
              </a:rPr>
              <a:t>from X_test</a:t>
            </a:r>
            <a:endParaRPr sz="2200" b="1">
              <a:latin typeface="Overpass"/>
              <a:ea typeface="Overpass"/>
              <a:cs typeface="Overpass"/>
              <a:sym typeface="Overpass"/>
            </a:endParaRPr>
          </a:p>
        </p:txBody>
      </p:sp>
      <p:sp>
        <p:nvSpPr>
          <p:cNvPr id="957" name="Google Shape;957;p87"/>
          <p:cNvSpPr txBox="1"/>
          <p:nvPr/>
        </p:nvSpPr>
        <p:spPr>
          <a:xfrm>
            <a:off x="-1" y="3850875"/>
            <a:ext cx="25821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b="1">
                <a:latin typeface="Overpass"/>
                <a:ea typeface="Overpass"/>
                <a:cs typeface="Overpass"/>
                <a:sym typeface="Overpass"/>
              </a:rPr>
              <a:t>Correct Label</a:t>
            </a:r>
            <a:endParaRPr sz="2200" b="1">
              <a:latin typeface="Overpass"/>
              <a:ea typeface="Overpass"/>
              <a:cs typeface="Overpass"/>
              <a:sym typeface="Overpass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b="1">
                <a:latin typeface="Overpass"/>
                <a:ea typeface="Overpass"/>
                <a:cs typeface="Overpass"/>
                <a:sym typeface="Overpass"/>
              </a:rPr>
              <a:t>from y_test</a:t>
            </a:r>
            <a:endParaRPr sz="2200" b="1">
              <a:latin typeface="Overpass"/>
              <a:ea typeface="Overpass"/>
              <a:cs typeface="Overpass"/>
              <a:sym typeface="Overpass"/>
            </a:endParaRPr>
          </a:p>
        </p:txBody>
      </p:sp>
      <p:sp>
        <p:nvSpPr>
          <p:cNvPr id="958" name="Google Shape;958;p87"/>
          <p:cNvSpPr/>
          <p:nvPr/>
        </p:nvSpPr>
        <p:spPr>
          <a:xfrm>
            <a:off x="420150" y="3373875"/>
            <a:ext cx="1741800" cy="477000"/>
          </a:xfrm>
          <a:prstGeom prst="roundRect">
            <a:avLst>
              <a:gd name="adj" fmla="val 16667"/>
            </a:avLst>
          </a:prstGeom>
          <a:solidFill>
            <a:srgbClr val="CFE2F3"/>
          </a:solidFill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latin typeface="Overpass"/>
                <a:ea typeface="Overpass"/>
                <a:cs typeface="Overpass"/>
                <a:sym typeface="Overpass"/>
              </a:rPr>
              <a:t>DOG</a:t>
            </a:r>
            <a:endParaRPr sz="2200">
              <a:latin typeface="Overpass"/>
              <a:ea typeface="Overpass"/>
              <a:cs typeface="Overpass"/>
              <a:sym typeface="Overpass"/>
            </a:endParaRPr>
          </a:p>
        </p:txBody>
      </p:sp>
      <p:sp>
        <p:nvSpPr>
          <p:cNvPr id="959" name="Google Shape;959;p87"/>
          <p:cNvSpPr/>
          <p:nvPr/>
        </p:nvSpPr>
        <p:spPr>
          <a:xfrm>
            <a:off x="3467550" y="1700675"/>
            <a:ext cx="2208900" cy="1534800"/>
          </a:xfrm>
          <a:prstGeom prst="roundRect">
            <a:avLst>
              <a:gd name="adj" fmla="val 16667"/>
            </a:avLst>
          </a:prstGeom>
          <a:solidFill>
            <a:srgbClr val="D9D2E9"/>
          </a:solidFill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latin typeface="Montserrat"/>
                <a:ea typeface="Montserrat"/>
                <a:cs typeface="Montserrat"/>
                <a:sym typeface="Montserrat"/>
              </a:rPr>
              <a:t>TRAINED</a:t>
            </a:r>
            <a:endParaRPr sz="3000"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latin typeface="Montserrat"/>
                <a:ea typeface="Montserrat"/>
                <a:cs typeface="Montserrat"/>
                <a:sym typeface="Montserrat"/>
              </a:rPr>
              <a:t>MODEL</a:t>
            </a:r>
            <a:endParaRPr sz="300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960" name="Google Shape;960;p87"/>
          <p:cNvCxnSpPr>
            <a:endCxn id="959" idx="1"/>
          </p:cNvCxnSpPr>
          <p:nvPr/>
        </p:nvCxnSpPr>
        <p:spPr>
          <a:xfrm>
            <a:off x="2219250" y="1721375"/>
            <a:ext cx="1248300" cy="746700"/>
          </a:xfrm>
          <a:prstGeom prst="curvedConnector3">
            <a:avLst>
              <a:gd name="adj1" fmla="val 50000"/>
            </a:avLst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961" name="Google Shape;961;p87"/>
          <p:cNvCxnSpPr>
            <a:stCxn id="959" idx="3"/>
          </p:cNvCxnSpPr>
          <p:nvPr/>
        </p:nvCxnSpPr>
        <p:spPr>
          <a:xfrm>
            <a:off x="5676450" y="2468075"/>
            <a:ext cx="835800" cy="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962" name="Google Shape;962;p87"/>
          <p:cNvSpPr/>
          <p:nvPr/>
        </p:nvSpPr>
        <p:spPr>
          <a:xfrm>
            <a:off x="6512250" y="2229575"/>
            <a:ext cx="1741800" cy="477000"/>
          </a:xfrm>
          <a:prstGeom prst="roundRect">
            <a:avLst>
              <a:gd name="adj" fmla="val 16667"/>
            </a:avLst>
          </a:prstGeom>
          <a:solidFill>
            <a:srgbClr val="FCE5CD"/>
          </a:solidFill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latin typeface="Overpass"/>
                <a:ea typeface="Overpass"/>
                <a:cs typeface="Overpass"/>
                <a:sym typeface="Overpass"/>
              </a:rPr>
              <a:t>CAT</a:t>
            </a:r>
            <a:endParaRPr sz="2200">
              <a:latin typeface="Overpass"/>
              <a:ea typeface="Overpass"/>
              <a:cs typeface="Overpass"/>
              <a:sym typeface="Overpass"/>
            </a:endParaRPr>
          </a:p>
        </p:txBody>
      </p:sp>
      <p:sp>
        <p:nvSpPr>
          <p:cNvPr id="963" name="Google Shape;963;p87"/>
          <p:cNvSpPr txBox="1"/>
          <p:nvPr/>
        </p:nvSpPr>
        <p:spPr>
          <a:xfrm>
            <a:off x="6135849" y="2748525"/>
            <a:ext cx="25821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b="1">
                <a:latin typeface="Overpass"/>
                <a:ea typeface="Overpass"/>
                <a:cs typeface="Overpass"/>
                <a:sym typeface="Overpass"/>
              </a:rPr>
              <a:t>Prediction on </a:t>
            </a:r>
            <a:endParaRPr sz="2200" b="1">
              <a:latin typeface="Overpass"/>
              <a:ea typeface="Overpass"/>
              <a:cs typeface="Overpass"/>
              <a:sym typeface="Overpass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b="1">
                <a:latin typeface="Overpass"/>
                <a:ea typeface="Overpass"/>
                <a:cs typeface="Overpass"/>
                <a:sym typeface="Overpass"/>
              </a:rPr>
              <a:t>Test Image</a:t>
            </a:r>
            <a:endParaRPr sz="2200" b="1">
              <a:latin typeface="Overpass"/>
              <a:ea typeface="Overpass"/>
              <a:cs typeface="Overpass"/>
              <a:sym typeface="Overpass"/>
            </a:endParaRPr>
          </a:p>
        </p:txBody>
      </p:sp>
      <p:sp>
        <p:nvSpPr>
          <p:cNvPr id="964" name="Google Shape;964;p87"/>
          <p:cNvSpPr/>
          <p:nvPr/>
        </p:nvSpPr>
        <p:spPr>
          <a:xfrm>
            <a:off x="3730050" y="3824100"/>
            <a:ext cx="4728600" cy="746700"/>
          </a:xfrm>
          <a:prstGeom prst="roundRect">
            <a:avLst>
              <a:gd name="adj" fmla="val 16667"/>
            </a:avLst>
          </a:prstGeom>
          <a:solidFill>
            <a:srgbClr val="F4CCCC"/>
          </a:solidFill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latin typeface="Overpass"/>
                <a:ea typeface="Overpass"/>
                <a:cs typeface="Overpass"/>
                <a:sym typeface="Overpass"/>
              </a:rPr>
              <a:t>DOG == CAT ?</a:t>
            </a:r>
            <a:endParaRPr sz="2600">
              <a:latin typeface="Overpass"/>
              <a:ea typeface="Overpass"/>
              <a:cs typeface="Overpass"/>
              <a:sym typeface="Overpass"/>
            </a:endParaRPr>
          </a:p>
        </p:txBody>
      </p:sp>
      <p:sp>
        <p:nvSpPr>
          <p:cNvPr id="965" name="Google Shape;965;p87"/>
          <p:cNvSpPr txBox="1"/>
          <p:nvPr/>
        </p:nvSpPr>
        <p:spPr>
          <a:xfrm>
            <a:off x="3083850" y="4570800"/>
            <a:ext cx="6021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b="1">
                <a:latin typeface="Overpass"/>
                <a:ea typeface="Overpass"/>
                <a:cs typeface="Overpass"/>
                <a:sym typeface="Overpass"/>
              </a:rPr>
              <a:t>Compare Prediction to Correct Label</a:t>
            </a:r>
            <a:endParaRPr sz="2200" b="1">
              <a:latin typeface="Overpass"/>
              <a:ea typeface="Overpass"/>
              <a:cs typeface="Overpass"/>
              <a:sym typeface="Overpass"/>
            </a:endParaRPr>
          </a:p>
        </p:txBody>
      </p:sp>
      <p:cxnSp>
        <p:nvCxnSpPr>
          <p:cNvPr id="966" name="Google Shape;966;p87"/>
          <p:cNvCxnSpPr>
            <a:stCxn id="958" idx="3"/>
            <a:endCxn id="964" idx="1"/>
          </p:cNvCxnSpPr>
          <p:nvPr/>
        </p:nvCxnSpPr>
        <p:spPr>
          <a:xfrm>
            <a:off x="2161950" y="3612375"/>
            <a:ext cx="1568100" cy="585000"/>
          </a:xfrm>
          <a:prstGeom prst="curvedConnector3">
            <a:avLst>
              <a:gd name="adj1" fmla="val 50000"/>
            </a:avLst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967" name="Google Shape;967;p87"/>
          <p:cNvCxnSpPr>
            <a:stCxn id="962" idx="3"/>
            <a:endCxn id="964" idx="3"/>
          </p:cNvCxnSpPr>
          <p:nvPr/>
        </p:nvCxnSpPr>
        <p:spPr>
          <a:xfrm>
            <a:off x="8254050" y="2468075"/>
            <a:ext cx="204600" cy="1729500"/>
          </a:xfrm>
          <a:prstGeom prst="curvedConnector3">
            <a:avLst>
              <a:gd name="adj1" fmla="val 216386"/>
            </a:avLst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968" name="Google Shape;968;p87"/>
          <p:cNvSpPr/>
          <p:nvPr/>
        </p:nvSpPr>
        <p:spPr>
          <a:xfrm>
            <a:off x="3836475" y="3867600"/>
            <a:ext cx="659700" cy="659700"/>
          </a:xfrm>
          <a:prstGeom prst="noSmoking">
            <a:avLst>
              <a:gd name="adj" fmla="val 18750"/>
            </a:avLst>
          </a:prstGeom>
          <a:solidFill>
            <a:srgbClr val="FF0000"/>
          </a:solidFill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3" name="Google Shape;973;p88"/>
          <p:cNvSpPr txBox="1">
            <a:spLocks noGrp="1"/>
          </p:cNvSpPr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Model Evaluation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74" name="Google Shape;974;p8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412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We repeat this process for all the images in our X test data.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412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At the end we will have a count of correct matches and a count of incorrect matches.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412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The key realization we need to make, is that </a:t>
            </a:r>
            <a:r>
              <a:rPr lang="en" sz="2900" b="1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in the real world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, </a:t>
            </a:r>
            <a:r>
              <a:rPr lang="en" sz="2900" b="1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not all incorrect or correct matches hold equal value!</a:t>
            </a:r>
            <a:endParaRPr sz="2900" b="1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1" name="Google Shape;981;p89"/>
          <p:cNvSpPr txBox="1">
            <a:spLocks noGrp="1"/>
          </p:cNvSpPr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Model Evaluation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82" name="Google Shape;982;p8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412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Also in the real world, a single metric won’t tell the complete story!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412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To understand all of this, let’s bring back the 4 metrics we mentioned and see how they are calculated.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412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We could organize our predicted values compared to the real values in a </a:t>
            </a:r>
            <a:r>
              <a:rPr lang="en" sz="2900" b="1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confusion matrix.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endParaRPr sz="2900" b="1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9" name="Google Shape;989;p90"/>
          <p:cNvSpPr txBox="1">
            <a:spLocks noGrp="1"/>
          </p:cNvSpPr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Model Evaluation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90" name="Google Shape;990;p9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412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Accuracy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914400" marR="0" lvl="1" indent="-412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Accuracy in classification problems is the </a:t>
            </a:r>
            <a:r>
              <a:rPr lang="en" sz="2900" b="1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number of correct predictions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made by the model divided by the </a:t>
            </a:r>
            <a:r>
              <a:rPr lang="en" sz="2900" b="1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total number of predictions.</a:t>
            </a:r>
            <a:endParaRPr sz="2900" b="1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7" name="Google Shape;997;p91"/>
          <p:cNvSpPr txBox="1">
            <a:spLocks noGrp="1"/>
          </p:cNvSpPr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Model Evaluation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98" name="Google Shape;998;p9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412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Accuracy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914400" marR="0" lvl="1" indent="-412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For example, if the X_test set was 100 images and our model </a:t>
            </a:r>
            <a:r>
              <a:rPr lang="en" sz="2900" b="1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correctly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predicted 80 images, then we have </a:t>
            </a:r>
            <a:r>
              <a:rPr lang="en" sz="2900" b="1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80/100.</a:t>
            </a:r>
            <a:endParaRPr sz="2900" b="1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914400" marR="0" lvl="1" indent="-412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 b="1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0.8 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or</a:t>
            </a:r>
            <a:r>
              <a:rPr lang="en" sz="2900" b="1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80% accuracy.</a:t>
            </a:r>
            <a:endParaRPr sz="2900" b="1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5" name="Google Shape;1005;p92"/>
          <p:cNvSpPr txBox="1">
            <a:spLocks noGrp="1"/>
          </p:cNvSpPr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Model Evaluation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06" name="Google Shape;1006;p9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412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Accuracy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914400" marR="0" lvl="1" indent="-412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Accuracy is useful when target classes are well balanced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914400" marR="0" lvl="1" indent="-412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In our example, we would have roughly the same amount of cat images as we have dog images.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" name="Google Shape;1013;p93"/>
          <p:cNvSpPr txBox="1">
            <a:spLocks noGrp="1"/>
          </p:cNvSpPr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Model Evaluation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14" name="Google Shape;1014;p9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412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Accuracy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914400" marR="0" lvl="1" indent="-412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Accuracy is </a:t>
            </a:r>
            <a:r>
              <a:rPr lang="en" sz="2900" b="1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not 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 good choice with </a:t>
            </a:r>
            <a:r>
              <a:rPr lang="en" sz="2900" b="1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unbalanced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classes!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914400" marR="0" lvl="1" indent="-412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Imagine we had 99 images of dogs and 1 image of a cat.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914400" marR="0" lvl="1" indent="-412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If our model was simply a line that always predicted </a:t>
            </a:r>
            <a:r>
              <a:rPr lang="en" sz="2900" b="1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dog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we would get 99% accuracy!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1" name="Google Shape;1021;p94"/>
          <p:cNvSpPr txBox="1">
            <a:spLocks noGrp="1"/>
          </p:cNvSpPr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Model Evaluation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22" name="Google Shape;1022;p9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412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Accuracy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914400" marR="0" lvl="1" indent="-412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Imagine we had 99 images of dogs and 1 image of a cat.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914400" marR="0" lvl="1" indent="-412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If our model was simply a line that always predicted </a:t>
            </a:r>
            <a:r>
              <a:rPr lang="en" sz="2900" b="1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dog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we would get 99% accuracy!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914400" marR="0" lvl="1" indent="-412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In this situation we’ll want to understand </a:t>
            </a:r>
            <a:r>
              <a:rPr lang="en" sz="2900" b="1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recall 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and </a:t>
            </a:r>
            <a:r>
              <a:rPr lang="en" sz="2900" b="1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precision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9" name="Google Shape;1029;p95"/>
          <p:cNvSpPr txBox="1">
            <a:spLocks noGrp="1"/>
          </p:cNvSpPr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Model Evaluation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30" name="Google Shape;1030;p9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412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Recall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914400" marR="0" lvl="1" indent="-412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Ability of a model to find all the relevant cases within a dataset. 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914400" marR="0" lvl="1" indent="-412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The precise definition of recall is the number of true positives </a:t>
            </a:r>
            <a:r>
              <a:rPr lang="en" sz="2900" b="1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divided by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the number of true positives plus the number of false negatives. 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7" name="Google Shape;1037;p96"/>
          <p:cNvSpPr txBox="1">
            <a:spLocks noGrp="1"/>
          </p:cNvSpPr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Model Evaluation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38" name="Google Shape;1038;p9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412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Precision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914400" marR="0" lvl="1" indent="-412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Ability of a classification model to identify only the relevant data points.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914400" marR="0" lvl="1" indent="-412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Precision is defined as the number of true positives divided by the number of true positives plus the number of false positives. 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5" name="Google Shape;1045;p97"/>
          <p:cNvSpPr txBox="1">
            <a:spLocks noGrp="1"/>
          </p:cNvSpPr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Model Evaluation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46" name="Google Shape;1046;p9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412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Recall and Precision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914400" marR="0" lvl="1" indent="-412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Often you have a trade-off between Recall and Precision.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914400" marR="0" lvl="1" indent="-412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While recall expresses the ability to find all relevant instances in a dataset, precision expresses the proportion of the data points our model says was relevant actually were relevant.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3" name="Google Shape;1053;p98"/>
          <p:cNvSpPr txBox="1">
            <a:spLocks noGrp="1"/>
          </p:cNvSpPr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Model Evaluation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54" name="Google Shape;1054;p9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412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F1-Score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914400" marR="0" lvl="1" indent="-412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In cases where we want to find an optimal blend of precision and recall we can combine the two metrics using what is called the F1 score.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1" name="Google Shape;1061;p99"/>
          <p:cNvSpPr txBox="1">
            <a:spLocks noGrp="1"/>
          </p:cNvSpPr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Model Evaluation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62" name="Google Shape;1062;p9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412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F1-Score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914400" marR="0" lvl="1" indent="-412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The F1 score is the harmonic mean of precision and recall taking both metrics into account in the following equation: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065" name="Google Shape;1065;p9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42075" y="3007279"/>
            <a:ext cx="4623350" cy="1561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0" name="Google Shape;1070;p100"/>
          <p:cNvSpPr txBox="1">
            <a:spLocks noGrp="1"/>
          </p:cNvSpPr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Model Evaluation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71" name="Google Shape;1071;p10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412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F1-Score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914400" marR="0" lvl="1" indent="-412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We use the harmonic mean instead of a simple average because it punishes extreme values. 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914400" marR="0" lvl="1" indent="-412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 classifier with a precision of 1.0 and a recall of 0.0 has a simple average of 0.5 but an F1 score of 0. 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8" name="Google Shape;1078;p101"/>
          <p:cNvSpPr txBox="1">
            <a:spLocks noGrp="1"/>
          </p:cNvSpPr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Model Evaluation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79" name="Google Shape;1079;p10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412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We can also view all correctly classified versus incorrectly classified images in the form of a confusion matrix.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6" name="Google Shape;1086;p102"/>
          <p:cNvSpPr txBox="1"/>
          <p:nvPr/>
        </p:nvSpPr>
        <p:spPr>
          <a:xfrm>
            <a:off x="1042425" y="211038"/>
            <a:ext cx="7061700" cy="74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000"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88" name="Google Shape;1088;p102"/>
          <p:cNvSpPr txBox="1"/>
          <p:nvPr/>
        </p:nvSpPr>
        <p:spPr>
          <a:xfrm>
            <a:off x="5371500" y="1492500"/>
            <a:ext cx="18126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Math &amp;</a:t>
            </a:r>
            <a:endParaRPr sz="24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Statistics</a:t>
            </a:r>
            <a:endParaRPr sz="24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89" name="Google Shape;1089;p102"/>
          <p:cNvSpPr txBox="1"/>
          <p:nvPr/>
        </p:nvSpPr>
        <p:spPr>
          <a:xfrm>
            <a:off x="4122900" y="3571675"/>
            <a:ext cx="18126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Domain</a:t>
            </a:r>
            <a:endParaRPr sz="24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Knowledge</a:t>
            </a:r>
            <a:endParaRPr sz="24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90" name="Google Shape;1090;p102"/>
          <p:cNvSpPr txBox="1"/>
          <p:nvPr/>
        </p:nvSpPr>
        <p:spPr>
          <a:xfrm>
            <a:off x="4490700" y="1626600"/>
            <a:ext cx="987900" cy="74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Machine Learning</a:t>
            </a:r>
            <a:endParaRPr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91" name="Google Shape;1091;p102"/>
          <p:cNvSpPr txBox="1"/>
          <p:nvPr/>
        </p:nvSpPr>
        <p:spPr>
          <a:xfrm>
            <a:off x="3834850" y="2792545"/>
            <a:ext cx="987900" cy="45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Software</a:t>
            </a:r>
            <a:endParaRPr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92" name="Google Shape;1092;p102"/>
          <p:cNvSpPr txBox="1"/>
          <p:nvPr/>
        </p:nvSpPr>
        <p:spPr>
          <a:xfrm>
            <a:off x="5146575" y="2748813"/>
            <a:ext cx="987900" cy="74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Research</a:t>
            </a:r>
            <a:endParaRPr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93" name="Google Shape;1093;p102"/>
          <p:cNvSpPr txBox="1"/>
          <p:nvPr/>
        </p:nvSpPr>
        <p:spPr>
          <a:xfrm>
            <a:off x="4751975" y="2406900"/>
            <a:ext cx="449100" cy="38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DS</a:t>
            </a:r>
            <a:endParaRPr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94" name="Google Shape;1094;p102"/>
          <p:cNvSpPr txBox="1"/>
          <p:nvPr/>
        </p:nvSpPr>
        <p:spPr>
          <a:xfrm>
            <a:off x="1109150" y="27825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2A3990"/>
                </a:solidFill>
                <a:latin typeface="Montserrat"/>
                <a:ea typeface="Montserrat"/>
                <a:cs typeface="Montserrat"/>
                <a:sym typeface="Montserrat"/>
              </a:rPr>
              <a:t>Confusion Matrix</a:t>
            </a:r>
            <a:endParaRPr sz="3000">
              <a:solidFill>
                <a:srgbClr val="2A399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095" name="Google Shape;1095;p102" descr="Screen Shot 2017-05-01 at 7.20.32 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5825" y="1130138"/>
            <a:ext cx="7584734" cy="3778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0" name="Google Shape;1100;p103"/>
          <p:cNvSpPr txBox="1"/>
          <p:nvPr/>
        </p:nvSpPr>
        <p:spPr>
          <a:xfrm>
            <a:off x="1042425" y="211038"/>
            <a:ext cx="7061700" cy="74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000"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02" name="Google Shape;1102;p103"/>
          <p:cNvSpPr txBox="1"/>
          <p:nvPr/>
        </p:nvSpPr>
        <p:spPr>
          <a:xfrm>
            <a:off x="5371500" y="1492500"/>
            <a:ext cx="18126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Math &amp;</a:t>
            </a:r>
            <a:endParaRPr sz="24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Statistics</a:t>
            </a:r>
            <a:endParaRPr sz="24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03" name="Google Shape;1103;p103"/>
          <p:cNvSpPr txBox="1"/>
          <p:nvPr/>
        </p:nvSpPr>
        <p:spPr>
          <a:xfrm>
            <a:off x="4122900" y="3571675"/>
            <a:ext cx="18126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Domain</a:t>
            </a:r>
            <a:endParaRPr sz="24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Knowledge</a:t>
            </a:r>
            <a:endParaRPr sz="24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04" name="Google Shape;1104;p103"/>
          <p:cNvSpPr txBox="1"/>
          <p:nvPr/>
        </p:nvSpPr>
        <p:spPr>
          <a:xfrm>
            <a:off x="4490700" y="1626600"/>
            <a:ext cx="987900" cy="74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Machine Learning</a:t>
            </a:r>
            <a:endParaRPr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05" name="Google Shape;1105;p103"/>
          <p:cNvSpPr txBox="1"/>
          <p:nvPr/>
        </p:nvSpPr>
        <p:spPr>
          <a:xfrm>
            <a:off x="3834850" y="2792545"/>
            <a:ext cx="987900" cy="45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Software</a:t>
            </a:r>
            <a:endParaRPr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06" name="Google Shape;1106;p103"/>
          <p:cNvSpPr txBox="1"/>
          <p:nvPr/>
        </p:nvSpPr>
        <p:spPr>
          <a:xfrm>
            <a:off x="5146575" y="2748813"/>
            <a:ext cx="987900" cy="74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Research</a:t>
            </a:r>
            <a:endParaRPr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07" name="Google Shape;1107;p103"/>
          <p:cNvSpPr txBox="1"/>
          <p:nvPr/>
        </p:nvSpPr>
        <p:spPr>
          <a:xfrm>
            <a:off x="4751975" y="2406900"/>
            <a:ext cx="449100" cy="38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DS</a:t>
            </a:r>
            <a:endParaRPr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08" name="Google Shape;1108;p103"/>
          <p:cNvSpPr txBox="1"/>
          <p:nvPr/>
        </p:nvSpPr>
        <p:spPr>
          <a:xfrm>
            <a:off x="1109150" y="27825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2A3990"/>
                </a:solidFill>
                <a:latin typeface="Montserrat"/>
                <a:ea typeface="Montserrat"/>
                <a:cs typeface="Montserrat"/>
                <a:sym typeface="Montserrat"/>
              </a:rPr>
              <a:t>Confusion Matrix</a:t>
            </a:r>
            <a:endParaRPr sz="3000">
              <a:solidFill>
                <a:srgbClr val="2A399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109" name="Google Shape;1109;p103" descr="Screen Shot 2017-05-01 at 7.23.49 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32025" y="1029725"/>
            <a:ext cx="7526107" cy="4113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5" name="Google Shape;1115;p104"/>
          <p:cNvSpPr txBox="1"/>
          <p:nvPr/>
        </p:nvSpPr>
        <p:spPr>
          <a:xfrm>
            <a:off x="1042425" y="211038"/>
            <a:ext cx="7061700" cy="74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000"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17" name="Google Shape;1117;p104"/>
          <p:cNvSpPr txBox="1"/>
          <p:nvPr/>
        </p:nvSpPr>
        <p:spPr>
          <a:xfrm>
            <a:off x="5371500" y="1492500"/>
            <a:ext cx="18126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Math &amp;</a:t>
            </a:r>
            <a:endParaRPr sz="24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Statistics</a:t>
            </a:r>
            <a:endParaRPr sz="24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18" name="Google Shape;1118;p104"/>
          <p:cNvSpPr txBox="1"/>
          <p:nvPr/>
        </p:nvSpPr>
        <p:spPr>
          <a:xfrm>
            <a:off x="4122900" y="3571675"/>
            <a:ext cx="18126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Domain</a:t>
            </a:r>
            <a:endParaRPr sz="24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Knowledge</a:t>
            </a:r>
            <a:endParaRPr sz="24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19" name="Google Shape;1119;p104"/>
          <p:cNvSpPr txBox="1"/>
          <p:nvPr/>
        </p:nvSpPr>
        <p:spPr>
          <a:xfrm>
            <a:off x="4490700" y="1626600"/>
            <a:ext cx="987900" cy="74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Machine Learning</a:t>
            </a:r>
            <a:endParaRPr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20" name="Google Shape;1120;p104"/>
          <p:cNvSpPr txBox="1"/>
          <p:nvPr/>
        </p:nvSpPr>
        <p:spPr>
          <a:xfrm>
            <a:off x="3834850" y="2792545"/>
            <a:ext cx="987900" cy="45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Software</a:t>
            </a:r>
            <a:endParaRPr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21" name="Google Shape;1121;p104"/>
          <p:cNvSpPr txBox="1"/>
          <p:nvPr/>
        </p:nvSpPr>
        <p:spPr>
          <a:xfrm>
            <a:off x="5146575" y="2748813"/>
            <a:ext cx="987900" cy="74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Research</a:t>
            </a:r>
            <a:endParaRPr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22" name="Google Shape;1122;p104"/>
          <p:cNvSpPr txBox="1"/>
          <p:nvPr/>
        </p:nvSpPr>
        <p:spPr>
          <a:xfrm>
            <a:off x="4751975" y="2406900"/>
            <a:ext cx="449100" cy="38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DS</a:t>
            </a:r>
            <a:endParaRPr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23" name="Google Shape;1123;p104"/>
          <p:cNvSpPr txBox="1"/>
          <p:nvPr/>
        </p:nvSpPr>
        <p:spPr>
          <a:xfrm>
            <a:off x="1109150" y="27825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2A3990"/>
                </a:solidFill>
                <a:latin typeface="Roboto"/>
                <a:ea typeface="Roboto"/>
                <a:cs typeface="Roboto"/>
                <a:sym typeface="Roboto"/>
              </a:rPr>
              <a:t>Model Evaluation</a:t>
            </a:r>
            <a:endParaRPr sz="3000">
              <a:solidFill>
                <a:srgbClr val="2A399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24" name="Google Shape;1124;p104"/>
          <p:cNvSpPr txBox="1"/>
          <p:nvPr/>
        </p:nvSpPr>
        <p:spPr>
          <a:xfrm>
            <a:off x="311700" y="1229975"/>
            <a:ext cx="8076000" cy="333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406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3131"/>
              </a:buClr>
              <a:buSzPts val="2800"/>
              <a:buFont typeface="Montserrat"/>
              <a:buChar char="●"/>
            </a:pPr>
            <a:r>
              <a:rPr lang="en" sz="2800">
                <a:solidFill>
                  <a:srgbClr val="313131"/>
                </a:solidFill>
                <a:highlight>
                  <a:schemeClr val="lt1"/>
                </a:highlight>
                <a:latin typeface="Montserrat"/>
                <a:ea typeface="Montserrat"/>
                <a:cs typeface="Montserrat"/>
                <a:sym typeface="Montserrat"/>
              </a:rPr>
              <a:t>The main point to remember with the confusion matrix and the various calculated metrics is that they are all fundamentally ways of comparing the predicted values versus the true values.</a:t>
            </a:r>
            <a:endParaRPr sz="2800">
              <a:solidFill>
                <a:srgbClr val="313131"/>
              </a:solidFill>
              <a:highlight>
                <a:schemeClr val="lt1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406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3131"/>
              </a:buClr>
              <a:buSzPts val="2800"/>
              <a:buFont typeface="Montserrat"/>
              <a:buChar char="●"/>
            </a:pPr>
            <a:r>
              <a:rPr lang="en" sz="2800">
                <a:solidFill>
                  <a:srgbClr val="313131"/>
                </a:solidFill>
                <a:highlight>
                  <a:schemeClr val="lt1"/>
                </a:highlight>
                <a:latin typeface="Montserrat"/>
                <a:ea typeface="Montserrat"/>
                <a:cs typeface="Montserrat"/>
                <a:sym typeface="Montserrat"/>
              </a:rPr>
              <a:t>What constitutes “good” metrics, will really depend on the specific situation!</a:t>
            </a:r>
            <a:endParaRPr sz="2800">
              <a:solidFill>
                <a:srgbClr val="313131"/>
              </a:solidFill>
              <a:highlight>
                <a:schemeClr val="lt1"/>
              </a:highlight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5" name="Google Shape;1145;p106"/>
          <p:cNvSpPr txBox="1"/>
          <p:nvPr/>
        </p:nvSpPr>
        <p:spPr>
          <a:xfrm>
            <a:off x="1042425" y="211038"/>
            <a:ext cx="7061700" cy="74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000"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47" name="Google Shape;1147;p106"/>
          <p:cNvSpPr txBox="1"/>
          <p:nvPr/>
        </p:nvSpPr>
        <p:spPr>
          <a:xfrm>
            <a:off x="5371500" y="1492500"/>
            <a:ext cx="18126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Math &amp;</a:t>
            </a:r>
            <a:endParaRPr sz="24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Statistics</a:t>
            </a:r>
            <a:endParaRPr sz="24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48" name="Google Shape;1148;p106"/>
          <p:cNvSpPr txBox="1"/>
          <p:nvPr/>
        </p:nvSpPr>
        <p:spPr>
          <a:xfrm>
            <a:off x="4122900" y="3571675"/>
            <a:ext cx="18126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Domain</a:t>
            </a:r>
            <a:endParaRPr sz="24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Knowledge</a:t>
            </a:r>
            <a:endParaRPr sz="24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49" name="Google Shape;1149;p106"/>
          <p:cNvSpPr txBox="1"/>
          <p:nvPr/>
        </p:nvSpPr>
        <p:spPr>
          <a:xfrm>
            <a:off x="4490700" y="1626600"/>
            <a:ext cx="987900" cy="74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Machine Learning</a:t>
            </a:r>
            <a:endParaRPr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50" name="Google Shape;1150;p106"/>
          <p:cNvSpPr txBox="1"/>
          <p:nvPr/>
        </p:nvSpPr>
        <p:spPr>
          <a:xfrm>
            <a:off x="3834850" y="2792545"/>
            <a:ext cx="987900" cy="45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Software</a:t>
            </a:r>
            <a:endParaRPr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51" name="Google Shape;1151;p106"/>
          <p:cNvSpPr txBox="1"/>
          <p:nvPr/>
        </p:nvSpPr>
        <p:spPr>
          <a:xfrm>
            <a:off x="5146575" y="2748813"/>
            <a:ext cx="987900" cy="74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Research</a:t>
            </a:r>
            <a:endParaRPr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52" name="Google Shape;1152;p106"/>
          <p:cNvSpPr txBox="1"/>
          <p:nvPr/>
        </p:nvSpPr>
        <p:spPr>
          <a:xfrm>
            <a:off x="4751975" y="2406900"/>
            <a:ext cx="449100" cy="38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DS</a:t>
            </a:r>
            <a:endParaRPr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53" name="Google Shape;1153;p106"/>
          <p:cNvSpPr txBox="1"/>
          <p:nvPr/>
        </p:nvSpPr>
        <p:spPr>
          <a:xfrm>
            <a:off x="1109150" y="27825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2A3990"/>
                </a:solidFill>
                <a:latin typeface="Roboto"/>
                <a:ea typeface="Roboto"/>
                <a:cs typeface="Roboto"/>
                <a:sym typeface="Roboto"/>
              </a:rPr>
              <a:t>Model Evaluation</a:t>
            </a:r>
            <a:endParaRPr sz="3000">
              <a:solidFill>
                <a:srgbClr val="2A399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54" name="Google Shape;1154;p106"/>
          <p:cNvSpPr txBox="1"/>
          <p:nvPr/>
        </p:nvSpPr>
        <p:spPr>
          <a:xfrm>
            <a:off x="311700" y="1229975"/>
            <a:ext cx="8076000" cy="333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406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3131"/>
              </a:buClr>
              <a:buSzPts val="2800"/>
              <a:buFont typeface="Montserrat"/>
              <a:buChar char="●"/>
            </a:pPr>
            <a:r>
              <a:rPr lang="en" sz="2800">
                <a:solidFill>
                  <a:srgbClr val="313131"/>
                </a:solidFill>
                <a:highlight>
                  <a:schemeClr val="lt1"/>
                </a:highlight>
                <a:latin typeface="Montserrat"/>
                <a:ea typeface="Montserrat"/>
                <a:cs typeface="Montserrat"/>
                <a:sym typeface="Montserrat"/>
              </a:rPr>
              <a:t>Let’s think back on this idea of:</a:t>
            </a:r>
            <a:endParaRPr sz="2800">
              <a:solidFill>
                <a:srgbClr val="313131"/>
              </a:solidFill>
              <a:highlight>
                <a:schemeClr val="lt1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marL="914400" lvl="1" indent="-406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3131"/>
              </a:buClr>
              <a:buSzPts val="2800"/>
              <a:buFont typeface="Montserrat"/>
              <a:buChar char="○"/>
            </a:pPr>
            <a:r>
              <a:rPr lang="en" sz="2800">
                <a:solidFill>
                  <a:srgbClr val="313131"/>
                </a:solidFill>
                <a:highlight>
                  <a:schemeClr val="lt1"/>
                </a:highlight>
                <a:latin typeface="Montserrat"/>
                <a:ea typeface="Montserrat"/>
                <a:cs typeface="Montserrat"/>
                <a:sym typeface="Montserrat"/>
              </a:rPr>
              <a:t>What is a good enough accuracy?</a:t>
            </a:r>
            <a:endParaRPr sz="2800">
              <a:solidFill>
                <a:srgbClr val="313131"/>
              </a:solidFill>
              <a:highlight>
                <a:schemeClr val="lt1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406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3131"/>
              </a:buClr>
              <a:buSzPts val="2800"/>
              <a:buFont typeface="Montserrat"/>
              <a:buChar char="●"/>
            </a:pPr>
            <a:r>
              <a:rPr lang="en" sz="2800">
                <a:solidFill>
                  <a:srgbClr val="313131"/>
                </a:solidFill>
                <a:highlight>
                  <a:schemeClr val="lt1"/>
                </a:highlight>
                <a:latin typeface="Montserrat"/>
                <a:ea typeface="Montserrat"/>
                <a:cs typeface="Montserrat"/>
                <a:sym typeface="Montserrat"/>
              </a:rPr>
              <a:t>This all depends on the context of the situation!</a:t>
            </a:r>
            <a:endParaRPr sz="2800">
              <a:solidFill>
                <a:srgbClr val="313131"/>
              </a:solidFill>
              <a:highlight>
                <a:schemeClr val="lt1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406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3131"/>
              </a:buClr>
              <a:buSzPts val="2800"/>
              <a:buFont typeface="Montserrat"/>
              <a:buChar char="●"/>
            </a:pPr>
            <a:r>
              <a:rPr lang="en" sz="2800">
                <a:solidFill>
                  <a:srgbClr val="313131"/>
                </a:solidFill>
                <a:highlight>
                  <a:schemeClr val="lt1"/>
                </a:highlight>
                <a:latin typeface="Montserrat"/>
                <a:ea typeface="Montserrat"/>
                <a:cs typeface="Montserrat"/>
                <a:sym typeface="Montserrat"/>
              </a:rPr>
              <a:t>Did you create a model to predict presence of a disease?</a:t>
            </a:r>
            <a:endParaRPr sz="2800">
              <a:solidFill>
                <a:srgbClr val="313131"/>
              </a:solidFill>
              <a:highlight>
                <a:schemeClr val="lt1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406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3131"/>
              </a:buClr>
              <a:buSzPts val="2800"/>
              <a:buFont typeface="Montserrat"/>
              <a:buChar char="●"/>
            </a:pPr>
            <a:r>
              <a:rPr lang="en" sz="2800">
                <a:solidFill>
                  <a:srgbClr val="313131"/>
                </a:solidFill>
                <a:highlight>
                  <a:schemeClr val="lt1"/>
                </a:highlight>
                <a:latin typeface="Montserrat"/>
                <a:ea typeface="Montserrat"/>
                <a:cs typeface="Montserrat"/>
                <a:sym typeface="Montserrat"/>
              </a:rPr>
              <a:t>Is the disease presence well balanced in the general population? (Probably not!)</a:t>
            </a:r>
            <a:endParaRPr sz="2800">
              <a:solidFill>
                <a:srgbClr val="313131"/>
              </a:solidFill>
              <a:highlight>
                <a:schemeClr val="lt1"/>
              </a:highlight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0" name="Google Shape;1160;p107"/>
          <p:cNvSpPr txBox="1"/>
          <p:nvPr/>
        </p:nvSpPr>
        <p:spPr>
          <a:xfrm>
            <a:off x="1042425" y="211038"/>
            <a:ext cx="7061700" cy="74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000"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62" name="Google Shape;1162;p107"/>
          <p:cNvSpPr txBox="1"/>
          <p:nvPr/>
        </p:nvSpPr>
        <p:spPr>
          <a:xfrm>
            <a:off x="5371500" y="1492500"/>
            <a:ext cx="18126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Math &amp;</a:t>
            </a:r>
            <a:endParaRPr sz="24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Statistics</a:t>
            </a:r>
            <a:endParaRPr sz="24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63" name="Google Shape;1163;p107"/>
          <p:cNvSpPr txBox="1"/>
          <p:nvPr/>
        </p:nvSpPr>
        <p:spPr>
          <a:xfrm>
            <a:off x="4122900" y="3571675"/>
            <a:ext cx="18126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Domain</a:t>
            </a:r>
            <a:endParaRPr sz="24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Knowledge</a:t>
            </a:r>
            <a:endParaRPr sz="24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64" name="Google Shape;1164;p107"/>
          <p:cNvSpPr txBox="1"/>
          <p:nvPr/>
        </p:nvSpPr>
        <p:spPr>
          <a:xfrm>
            <a:off x="4490700" y="1626600"/>
            <a:ext cx="987900" cy="74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Machine Learning</a:t>
            </a:r>
            <a:endParaRPr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65" name="Google Shape;1165;p107"/>
          <p:cNvSpPr txBox="1"/>
          <p:nvPr/>
        </p:nvSpPr>
        <p:spPr>
          <a:xfrm>
            <a:off x="3834850" y="2792545"/>
            <a:ext cx="987900" cy="45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Software</a:t>
            </a:r>
            <a:endParaRPr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66" name="Google Shape;1166;p107"/>
          <p:cNvSpPr txBox="1"/>
          <p:nvPr/>
        </p:nvSpPr>
        <p:spPr>
          <a:xfrm>
            <a:off x="5146575" y="2748813"/>
            <a:ext cx="987900" cy="74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Research</a:t>
            </a:r>
            <a:endParaRPr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67" name="Google Shape;1167;p107"/>
          <p:cNvSpPr txBox="1"/>
          <p:nvPr/>
        </p:nvSpPr>
        <p:spPr>
          <a:xfrm>
            <a:off x="4751975" y="2406900"/>
            <a:ext cx="449100" cy="38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DS</a:t>
            </a:r>
            <a:endParaRPr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68" name="Google Shape;1168;p107"/>
          <p:cNvSpPr txBox="1"/>
          <p:nvPr/>
        </p:nvSpPr>
        <p:spPr>
          <a:xfrm>
            <a:off x="1109150" y="27825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2A3990"/>
                </a:solidFill>
                <a:latin typeface="Roboto"/>
                <a:ea typeface="Roboto"/>
                <a:cs typeface="Roboto"/>
                <a:sym typeface="Roboto"/>
              </a:rPr>
              <a:t>Model Evaluation</a:t>
            </a:r>
            <a:endParaRPr sz="3000">
              <a:solidFill>
                <a:srgbClr val="2A399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69" name="Google Shape;1169;p107"/>
          <p:cNvSpPr txBox="1"/>
          <p:nvPr/>
        </p:nvSpPr>
        <p:spPr>
          <a:xfrm>
            <a:off x="311700" y="1229975"/>
            <a:ext cx="8076000" cy="333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406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3131"/>
              </a:buClr>
              <a:buSzPts val="2800"/>
              <a:buFont typeface="Montserrat"/>
              <a:buChar char="●"/>
            </a:pPr>
            <a:r>
              <a:rPr lang="en" sz="2800">
                <a:solidFill>
                  <a:srgbClr val="313131"/>
                </a:solidFill>
                <a:highlight>
                  <a:schemeClr val="lt1"/>
                </a:highlight>
                <a:latin typeface="Montserrat"/>
                <a:ea typeface="Montserrat"/>
                <a:cs typeface="Montserrat"/>
                <a:sym typeface="Montserrat"/>
              </a:rPr>
              <a:t>Often models are used as quick diagnostic tests to have </a:t>
            </a:r>
            <a:r>
              <a:rPr lang="en" sz="2800" b="1">
                <a:solidFill>
                  <a:srgbClr val="313131"/>
                </a:solidFill>
                <a:highlight>
                  <a:schemeClr val="lt1"/>
                </a:highlight>
                <a:latin typeface="Montserrat"/>
                <a:ea typeface="Montserrat"/>
                <a:cs typeface="Montserrat"/>
                <a:sym typeface="Montserrat"/>
              </a:rPr>
              <a:t>before</a:t>
            </a:r>
            <a:r>
              <a:rPr lang="en" sz="2800">
                <a:solidFill>
                  <a:srgbClr val="313131"/>
                </a:solidFill>
                <a:highlight>
                  <a:schemeClr val="lt1"/>
                </a:highlight>
                <a:latin typeface="Montserrat"/>
                <a:ea typeface="Montserrat"/>
                <a:cs typeface="Montserrat"/>
                <a:sym typeface="Montserrat"/>
              </a:rPr>
              <a:t> having a more invasive test (e.g. getting urine test before getting a biopsy)</a:t>
            </a:r>
            <a:endParaRPr sz="2800">
              <a:solidFill>
                <a:srgbClr val="313131"/>
              </a:solidFill>
              <a:highlight>
                <a:schemeClr val="lt1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406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3131"/>
              </a:buClr>
              <a:buSzPts val="2800"/>
              <a:buFont typeface="Montserrat"/>
              <a:buChar char="●"/>
            </a:pPr>
            <a:r>
              <a:rPr lang="en" sz="2800">
                <a:solidFill>
                  <a:srgbClr val="313131"/>
                </a:solidFill>
                <a:highlight>
                  <a:schemeClr val="lt1"/>
                </a:highlight>
                <a:latin typeface="Montserrat"/>
                <a:ea typeface="Montserrat"/>
                <a:cs typeface="Montserrat"/>
                <a:sym typeface="Montserrat"/>
              </a:rPr>
              <a:t>We also need to consider what is at stake!</a:t>
            </a:r>
            <a:endParaRPr sz="2800">
              <a:solidFill>
                <a:srgbClr val="313131"/>
              </a:solidFill>
              <a:highlight>
                <a:schemeClr val="lt1"/>
              </a:highlight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5" name="Google Shape;1175;p108"/>
          <p:cNvSpPr txBox="1"/>
          <p:nvPr/>
        </p:nvSpPr>
        <p:spPr>
          <a:xfrm>
            <a:off x="1042425" y="211038"/>
            <a:ext cx="7061700" cy="74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000"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77" name="Google Shape;1177;p108"/>
          <p:cNvSpPr txBox="1"/>
          <p:nvPr/>
        </p:nvSpPr>
        <p:spPr>
          <a:xfrm>
            <a:off x="5371500" y="1492500"/>
            <a:ext cx="18126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Math &amp;</a:t>
            </a:r>
            <a:endParaRPr sz="24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Statistics</a:t>
            </a:r>
            <a:endParaRPr sz="24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78" name="Google Shape;1178;p108"/>
          <p:cNvSpPr txBox="1"/>
          <p:nvPr/>
        </p:nvSpPr>
        <p:spPr>
          <a:xfrm>
            <a:off x="4122900" y="3571675"/>
            <a:ext cx="18126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Domain</a:t>
            </a:r>
            <a:endParaRPr sz="24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Knowledge</a:t>
            </a:r>
            <a:endParaRPr sz="24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79" name="Google Shape;1179;p108"/>
          <p:cNvSpPr txBox="1"/>
          <p:nvPr/>
        </p:nvSpPr>
        <p:spPr>
          <a:xfrm>
            <a:off x="4490700" y="1626600"/>
            <a:ext cx="987900" cy="74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Machine Learning</a:t>
            </a:r>
            <a:endParaRPr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80" name="Google Shape;1180;p108"/>
          <p:cNvSpPr txBox="1"/>
          <p:nvPr/>
        </p:nvSpPr>
        <p:spPr>
          <a:xfrm>
            <a:off x="3834850" y="2792545"/>
            <a:ext cx="987900" cy="45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Software</a:t>
            </a:r>
            <a:endParaRPr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81" name="Google Shape;1181;p108"/>
          <p:cNvSpPr txBox="1"/>
          <p:nvPr/>
        </p:nvSpPr>
        <p:spPr>
          <a:xfrm>
            <a:off x="5146575" y="2748813"/>
            <a:ext cx="987900" cy="74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Research</a:t>
            </a:r>
            <a:endParaRPr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82" name="Google Shape;1182;p108"/>
          <p:cNvSpPr txBox="1"/>
          <p:nvPr/>
        </p:nvSpPr>
        <p:spPr>
          <a:xfrm>
            <a:off x="4751975" y="2406900"/>
            <a:ext cx="449100" cy="38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DS</a:t>
            </a:r>
            <a:endParaRPr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83" name="Google Shape;1183;p108"/>
          <p:cNvSpPr txBox="1"/>
          <p:nvPr/>
        </p:nvSpPr>
        <p:spPr>
          <a:xfrm>
            <a:off x="1109150" y="27825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2A3990"/>
                </a:solidFill>
                <a:latin typeface="Roboto"/>
                <a:ea typeface="Roboto"/>
                <a:cs typeface="Roboto"/>
                <a:sym typeface="Roboto"/>
              </a:rPr>
              <a:t>Model Evaluation</a:t>
            </a:r>
            <a:endParaRPr sz="3000">
              <a:solidFill>
                <a:srgbClr val="2A399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84" name="Google Shape;1184;p108"/>
          <p:cNvSpPr txBox="1"/>
          <p:nvPr/>
        </p:nvSpPr>
        <p:spPr>
          <a:xfrm>
            <a:off x="311700" y="1229975"/>
            <a:ext cx="8076000" cy="333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406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3131"/>
              </a:buClr>
              <a:buSzPts val="2800"/>
              <a:buFont typeface="Montserrat"/>
              <a:buChar char="●"/>
            </a:pPr>
            <a:r>
              <a:rPr lang="en" sz="2800">
                <a:solidFill>
                  <a:srgbClr val="313131"/>
                </a:solidFill>
                <a:highlight>
                  <a:schemeClr val="lt1"/>
                </a:highlight>
                <a:latin typeface="Montserrat"/>
                <a:ea typeface="Montserrat"/>
                <a:cs typeface="Montserrat"/>
                <a:sym typeface="Montserrat"/>
              </a:rPr>
              <a:t>Often we have a precision/recall trade off, We need to decide if the model will should focus on fixing False Positives vs. False Negatives.</a:t>
            </a:r>
            <a:endParaRPr sz="2800">
              <a:solidFill>
                <a:srgbClr val="313131"/>
              </a:solidFill>
              <a:highlight>
                <a:schemeClr val="lt1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406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3131"/>
              </a:buClr>
              <a:buSzPts val="2800"/>
              <a:buFont typeface="Montserrat"/>
              <a:buChar char="●"/>
            </a:pPr>
            <a:r>
              <a:rPr lang="en" sz="2800">
                <a:solidFill>
                  <a:srgbClr val="313131"/>
                </a:solidFill>
                <a:highlight>
                  <a:schemeClr val="lt1"/>
                </a:highlight>
                <a:latin typeface="Montserrat"/>
                <a:ea typeface="Montserrat"/>
                <a:cs typeface="Montserrat"/>
                <a:sym typeface="Montserrat"/>
              </a:rPr>
              <a:t>In disease diagnosis, it is probably better to go in the direction of False positives, so we make sure we correctly classify as many cases of disease as possible!</a:t>
            </a:r>
            <a:endParaRPr sz="2800">
              <a:solidFill>
                <a:srgbClr val="313131"/>
              </a:solidFill>
              <a:highlight>
                <a:schemeClr val="lt1"/>
              </a:highlight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0" name="Google Shape;1190;p109"/>
          <p:cNvSpPr txBox="1"/>
          <p:nvPr/>
        </p:nvSpPr>
        <p:spPr>
          <a:xfrm>
            <a:off x="1042425" y="211038"/>
            <a:ext cx="7061700" cy="74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000"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92" name="Google Shape;1192;p109"/>
          <p:cNvSpPr txBox="1"/>
          <p:nvPr/>
        </p:nvSpPr>
        <p:spPr>
          <a:xfrm>
            <a:off x="5371500" y="1492500"/>
            <a:ext cx="18126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Math &amp;</a:t>
            </a:r>
            <a:endParaRPr sz="24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Statistics</a:t>
            </a:r>
            <a:endParaRPr sz="24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93" name="Google Shape;1193;p109"/>
          <p:cNvSpPr txBox="1"/>
          <p:nvPr/>
        </p:nvSpPr>
        <p:spPr>
          <a:xfrm>
            <a:off x="4122900" y="3571675"/>
            <a:ext cx="18126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Domain</a:t>
            </a:r>
            <a:endParaRPr sz="24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Knowledge</a:t>
            </a:r>
            <a:endParaRPr sz="24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94" name="Google Shape;1194;p109"/>
          <p:cNvSpPr txBox="1"/>
          <p:nvPr/>
        </p:nvSpPr>
        <p:spPr>
          <a:xfrm>
            <a:off x="4490700" y="1626600"/>
            <a:ext cx="987900" cy="74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Machine Learning</a:t>
            </a:r>
            <a:endParaRPr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95" name="Google Shape;1195;p109"/>
          <p:cNvSpPr txBox="1"/>
          <p:nvPr/>
        </p:nvSpPr>
        <p:spPr>
          <a:xfrm>
            <a:off x="3834850" y="2792545"/>
            <a:ext cx="987900" cy="45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Software</a:t>
            </a:r>
            <a:endParaRPr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96" name="Google Shape;1196;p109"/>
          <p:cNvSpPr txBox="1"/>
          <p:nvPr/>
        </p:nvSpPr>
        <p:spPr>
          <a:xfrm>
            <a:off x="5146575" y="2748813"/>
            <a:ext cx="987900" cy="74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Research</a:t>
            </a:r>
            <a:endParaRPr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97" name="Google Shape;1197;p109"/>
          <p:cNvSpPr txBox="1"/>
          <p:nvPr/>
        </p:nvSpPr>
        <p:spPr>
          <a:xfrm>
            <a:off x="4751975" y="2406900"/>
            <a:ext cx="449100" cy="38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DS</a:t>
            </a:r>
            <a:endParaRPr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98" name="Google Shape;1198;p109"/>
          <p:cNvSpPr txBox="1"/>
          <p:nvPr/>
        </p:nvSpPr>
        <p:spPr>
          <a:xfrm>
            <a:off x="1109150" y="27825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2A3990"/>
                </a:solidFill>
                <a:latin typeface="Roboto"/>
                <a:ea typeface="Roboto"/>
                <a:cs typeface="Roboto"/>
                <a:sym typeface="Roboto"/>
              </a:rPr>
              <a:t>Model Evaluation</a:t>
            </a:r>
            <a:endParaRPr sz="3000">
              <a:solidFill>
                <a:srgbClr val="2A399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99" name="Google Shape;1199;p109"/>
          <p:cNvSpPr txBox="1"/>
          <p:nvPr/>
        </p:nvSpPr>
        <p:spPr>
          <a:xfrm>
            <a:off x="311700" y="1229975"/>
            <a:ext cx="8076000" cy="333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406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3131"/>
              </a:buClr>
              <a:buSzPts val="2800"/>
              <a:buFont typeface="Montserrat"/>
              <a:buChar char="●"/>
            </a:pPr>
            <a:r>
              <a:rPr lang="en" sz="2800">
                <a:solidFill>
                  <a:srgbClr val="313131"/>
                </a:solidFill>
                <a:highlight>
                  <a:schemeClr val="lt1"/>
                </a:highlight>
                <a:latin typeface="Montserrat"/>
                <a:ea typeface="Montserrat"/>
                <a:cs typeface="Montserrat"/>
                <a:sym typeface="Montserrat"/>
              </a:rPr>
              <a:t>All of this is to say, machine learning is not performed in a “vacuum”, but instead a collaborative process where we should consult with experts in the domain (e.g. medical doctors)</a:t>
            </a:r>
            <a:endParaRPr sz="2800">
              <a:solidFill>
                <a:srgbClr val="313131"/>
              </a:solidFill>
              <a:highlight>
                <a:schemeClr val="lt1"/>
              </a:highlight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8">
          <a:extLst>
            <a:ext uri="{FF2B5EF4-FFF2-40B4-BE49-F238E27FC236}">
              <a16:creationId xmlns:a16="http://schemas.microsoft.com/office/drawing/2014/main" id="{C836B552-7F39-9BCF-DCC8-F2A5C0D035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2" name="Google Shape;1192;p109">
            <a:extLst>
              <a:ext uri="{FF2B5EF4-FFF2-40B4-BE49-F238E27FC236}">
                <a16:creationId xmlns:a16="http://schemas.microsoft.com/office/drawing/2014/main" id="{9E26ED29-B2AF-1AF3-1F59-DFDED5ED62EC}"/>
              </a:ext>
            </a:extLst>
          </p:cNvPr>
          <p:cNvSpPr txBox="1"/>
          <p:nvPr/>
        </p:nvSpPr>
        <p:spPr>
          <a:xfrm>
            <a:off x="5371500" y="1492500"/>
            <a:ext cx="18126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Math &amp;</a:t>
            </a:r>
            <a:endParaRPr sz="24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Statistics</a:t>
            </a:r>
            <a:endParaRPr sz="24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93" name="Google Shape;1193;p109">
            <a:extLst>
              <a:ext uri="{FF2B5EF4-FFF2-40B4-BE49-F238E27FC236}">
                <a16:creationId xmlns:a16="http://schemas.microsoft.com/office/drawing/2014/main" id="{A3C50D63-1C87-8089-1D9A-02E8FEDE2B1E}"/>
              </a:ext>
            </a:extLst>
          </p:cNvPr>
          <p:cNvSpPr txBox="1"/>
          <p:nvPr/>
        </p:nvSpPr>
        <p:spPr>
          <a:xfrm>
            <a:off x="4122900" y="3571675"/>
            <a:ext cx="18126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Domain</a:t>
            </a:r>
            <a:endParaRPr sz="24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Knowledge</a:t>
            </a:r>
            <a:endParaRPr sz="24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94" name="Google Shape;1194;p109">
            <a:extLst>
              <a:ext uri="{FF2B5EF4-FFF2-40B4-BE49-F238E27FC236}">
                <a16:creationId xmlns:a16="http://schemas.microsoft.com/office/drawing/2014/main" id="{DBD7C994-2EB7-DB53-3D5B-B3DDC3631EB7}"/>
              </a:ext>
            </a:extLst>
          </p:cNvPr>
          <p:cNvSpPr txBox="1"/>
          <p:nvPr/>
        </p:nvSpPr>
        <p:spPr>
          <a:xfrm>
            <a:off x="4490700" y="1626600"/>
            <a:ext cx="987900" cy="74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Machine Learning</a:t>
            </a:r>
            <a:endParaRPr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95" name="Google Shape;1195;p109">
            <a:extLst>
              <a:ext uri="{FF2B5EF4-FFF2-40B4-BE49-F238E27FC236}">
                <a16:creationId xmlns:a16="http://schemas.microsoft.com/office/drawing/2014/main" id="{4DDFA2D5-5BE6-BA22-15E1-B1784FD28643}"/>
              </a:ext>
            </a:extLst>
          </p:cNvPr>
          <p:cNvSpPr txBox="1"/>
          <p:nvPr/>
        </p:nvSpPr>
        <p:spPr>
          <a:xfrm>
            <a:off x="3834850" y="2792545"/>
            <a:ext cx="987900" cy="45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Software</a:t>
            </a:r>
            <a:endParaRPr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96" name="Google Shape;1196;p109">
            <a:extLst>
              <a:ext uri="{FF2B5EF4-FFF2-40B4-BE49-F238E27FC236}">
                <a16:creationId xmlns:a16="http://schemas.microsoft.com/office/drawing/2014/main" id="{84297AA1-EDA7-4374-3538-229C5925F49D}"/>
              </a:ext>
            </a:extLst>
          </p:cNvPr>
          <p:cNvSpPr txBox="1"/>
          <p:nvPr/>
        </p:nvSpPr>
        <p:spPr>
          <a:xfrm>
            <a:off x="5146575" y="2748813"/>
            <a:ext cx="987900" cy="74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Research</a:t>
            </a:r>
            <a:endParaRPr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97" name="Google Shape;1197;p109">
            <a:extLst>
              <a:ext uri="{FF2B5EF4-FFF2-40B4-BE49-F238E27FC236}">
                <a16:creationId xmlns:a16="http://schemas.microsoft.com/office/drawing/2014/main" id="{AC0DFAF7-BC1A-BE51-9E3F-248EC86501E1}"/>
              </a:ext>
            </a:extLst>
          </p:cNvPr>
          <p:cNvSpPr txBox="1"/>
          <p:nvPr/>
        </p:nvSpPr>
        <p:spPr>
          <a:xfrm>
            <a:off x="4751975" y="2406900"/>
            <a:ext cx="449100" cy="38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DS</a:t>
            </a:r>
            <a:endParaRPr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98" name="Google Shape;1198;p109">
            <a:extLst>
              <a:ext uri="{FF2B5EF4-FFF2-40B4-BE49-F238E27FC236}">
                <a16:creationId xmlns:a16="http://schemas.microsoft.com/office/drawing/2014/main" id="{D42D3AE7-4DE1-1C0C-E81D-FE17B9312087}"/>
              </a:ext>
            </a:extLst>
          </p:cNvPr>
          <p:cNvSpPr txBox="1"/>
          <p:nvPr/>
        </p:nvSpPr>
        <p:spPr>
          <a:xfrm>
            <a:off x="623400" y="205020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dirty="0">
                <a:solidFill>
                  <a:srgbClr val="2A3990"/>
                </a:solidFill>
                <a:latin typeface="Roboto"/>
                <a:ea typeface="Roboto"/>
                <a:cs typeface="Roboto"/>
                <a:sym typeface="Roboto"/>
              </a:rPr>
              <a:t>How About Model Evaluation in Cyber Security?</a:t>
            </a:r>
            <a:endParaRPr sz="3000" dirty="0">
              <a:solidFill>
                <a:srgbClr val="2A399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  <p:extLst>
      <p:ext uri="{BB962C8B-B14F-4D97-AF65-F5344CB8AC3E}">
        <p14:creationId xmlns:p14="http://schemas.microsoft.com/office/powerpoint/2010/main" val="2350372790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34570B8E-5809-4B82-993F-AF76386782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Hata Oranları</a:t>
            </a:r>
            <a:endParaRPr lang="en-US" dirty="0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51D1D5F7-45C0-4391-A67F-0252DF4057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240393"/>
            <a:ext cx="7886700" cy="3263504"/>
          </a:xfrm>
        </p:spPr>
        <p:txBody>
          <a:bodyPr/>
          <a:lstStyle/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Bir X </a:t>
            </a:r>
            <a:r>
              <a:rPr lang="en-US" dirty="0" err="1">
                <a:latin typeface="Calibri" panose="020F0502020204030204" pitchFamily="34" charset="0"/>
                <a:cs typeface="Calibri" panose="020F0502020204030204" pitchFamily="34" charset="0"/>
              </a:rPr>
              <a:t>saldırısı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cs typeface="Calibri" panose="020F0502020204030204" pitchFamily="34" charset="0"/>
              </a:rPr>
              <a:t>ve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cs typeface="Calibri" panose="020F0502020204030204" pitchFamily="34" charset="0"/>
              </a:rPr>
              <a:t>onu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cs typeface="Calibri" panose="020F0502020204030204" pitchFamily="34" charset="0"/>
              </a:rPr>
              <a:t>bulan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cs typeface="Calibri" panose="020F0502020204030204" pitchFamily="34" charset="0"/>
              </a:rPr>
              <a:t>bir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ML </a:t>
            </a:r>
            <a:r>
              <a:rPr lang="en-US" dirty="0" err="1">
                <a:latin typeface="Calibri" panose="020F0502020204030204" pitchFamily="34" charset="0"/>
                <a:cs typeface="Calibri" panose="020F0502020204030204" pitchFamily="34" charset="0"/>
              </a:rPr>
              <a:t>tabanlı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IDS var. 100 normal </a:t>
            </a:r>
            <a:r>
              <a:rPr lang="en-US" dirty="0" err="1">
                <a:latin typeface="Calibri" panose="020F0502020204030204" pitchFamily="34" charset="0"/>
                <a:cs typeface="Calibri" panose="020F0502020204030204" pitchFamily="34" charset="0"/>
              </a:rPr>
              <a:t>pakette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, IDS </a:t>
            </a:r>
            <a:r>
              <a:rPr lang="en-US" dirty="0" err="1">
                <a:latin typeface="Calibri" panose="020F0502020204030204" pitchFamily="34" charset="0"/>
                <a:cs typeface="Calibri" panose="020F0502020204030204" pitchFamily="34" charset="0"/>
              </a:rPr>
              <a:t>ortalama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cs typeface="Calibri" panose="020F0502020204030204" pitchFamily="34" charset="0"/>
              </a:rPr>
              <a:t>olarak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tr-TR" dirty="0">
                <a:latin typeface="Calibri" panose="020F0502020204030204" pitchFamily="34" charset="0"/>
                <a:cs typeface="Calibri" panose="020F0502020204030204" pitchFamily="34" charset="0"/>
              </a:rPr>
              <a:t>bir paketi saldırı </a:t>
            </a:r>
            <a:r>
              <a:rPr lang="en-US" dirty="0" err="1">
                <a:latin typeface="Calibri" panose="020F0502020204030204" pitchFamily="34" charset="0"/>
                <a:cs typeface="Calibri" panose="020F0502020204030204" pitchFamily="34" charset="0"/>
              </a:rPr>
              <a:t>olarak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cs typeface="Calibri" panose="020F0502020204030204" pitchFamily="34" charset="0"/>
              </a:rPr>
              <a:t>işaretler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:</a:t>
            </a:r>
          </a:p>
          <a:p>
            <a:pPr marL="114300" indent="0">
              <a:buNone/>
            </a:pPr>
            <a:r>
              <a:rPr lang="en-US" dirty="0" err="1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yanlış</a:t>
            </a:r>
            <a:r>
              <a:rPr lang="en-US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pozitif</a:t>
            </a:r>
            <a:r>
              <a:rPr lang="en-US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tr-TR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oranı</a:t>
            </a:r>
            <a:r>
              <a:rPr lang="en-US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 FPR = 1 / (1 + 99) = 0.01 = %1</a:t>
            </a:r>
            <a:r>
              <a:rPr lang="tr-TR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marL="114300" indent="0">
              <a:buNone/>
            </a:pPr>
            <a:r>
              <a:rPr lang="en-US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TNR = 1 − FPR =</a:t>
            </a:r>
            <a:r>
              <a:rPr lang="tr-TR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>
                <a:solidFill>
                  <a:schemeClr val="accent5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%99</a:t>
            </a:r>
            <a:endParaRPr lang="tr-TR" dirty="0">
              <a:solidFill>
                <a:schemeClr val="accent5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dirty="0" err="1">
                <a:latin typeface="Calibri" panose="020F0502020204030204" pitchFamily="34" charset="0"/>
                <a:cs typeface="Calibri" panose="020F0502020204030204" pitchFamily="34" charset="0"/>
              </a:rPr>
              <a:t>Ayrıca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100 </a:t>
            </a:r>
            <a:r>
              <a:rPr lang="en-US" dirty="0" err="1">
                <a:latin typeface="Calibri" panose="020F0502020204030204" pitchFamily="34" charset="0"/>
                <a:cs typeface="Calibri" panose="020F0502020204030204" pitchFamily="34" charset="0"/>
              </a:rPr>
              <a:t>saldırı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cs typeface="Calibri" panose="020F0502020204030204" pitchFamily="34" charset="0"/>
              </a:rPr>
              <a:t>paketinin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98</a:t>
            </a:r>
            <a:r>
              <a:rPr lang="tr-TR" dirty="0">
                <a:latin typeface="Calibri" panose="020F0502020204030204" pitchFamily="34" charset="0"/>
                <a:cs typeface="Calibri" panose="020F0502020204030204" pitchFamily="34" charset="0"/>
              </a:rPr>
              <a:t>’in</a:t>
            </a:r>
            <a:r>
              <a:rPr lang="en-US" dirty="0" err="1">
                <a:latin typeface="Calibri" panose="020F0502020204030204" pitchFamily="34" charset="0"/>
                <a:cs typeface="Calibri" panose="020F0502020204030204" pitchFamily="34" charset="0"/>
              </a:rPr>
              <a:t>i</a:t>
            </a:r>
            <a:r>
              <a:rPr lang="tr-TR" dirty="0">
                <a:latin typeface="Calibri" panose="020F0502020204030204" pitchFamily="34" charset="0"/>
                <a:cs typeface="Calibri" panose="020F0502020204030204" pitchFamily="34" charset="0"/>
              </a:rPr>
              <a:t>n saldırı olduğunu bulur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- </a:t>
            </a:r>
            <a:r>
              <a:rPr lang="en-US" dirty="0" err="1">
                <a:latin typeface="Calibri" panose="020F0502020204030204" pitchFamily="34" charset="0"/>
                <a:cs typeface="Calibri" panose="020F0502020204030204" pitchFamily="34" charset="0"/>
              </a:rPr>
              <a:t>bu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cs typeface="Calibri" panose="020F0502020204030204" pitchFamily="34" charset="0"/>
              </a:rPr>
              <a:t>nedenle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cs typeface="Calibri" panose="020F0502020204030204" pitchFamily="34" charset="0"/>
              </a:rPr>
              <a:t>iki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tr-TR" dirty="0">
                <a:latin typeface="Calibri" panose="020F0502020204030204" pitchFamily="34" charset="0"/>
                <a:cs typeface="Calibri" panose="020F0502020204030204" pitchFamily="34" charset="0"/>
              </a:rPr>
              <a:t>tane </a:t>
            </a:r>
            <a:r>
              <a:rPr lang="en-US" dirty="0" err="1">
                <a:latin typeface="Calibri" panose="020F0502020204030204" pitchFamily="34" charset="0"/>
                <a:cs typeface="Calibri" panose="020F0502020204030204" pitchFamily="34" charset="0"/>
              </a:rPr>
              <a:t>yanlış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cs typeface="Calibri" panose="020F0502020204030204" pitchFamily="34" charset="0"/>
              </a:rPr>
              <a:t>negatif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tr-TR" dirty="0">
                <a:latin typeface="Calibri" panose="020F0502020204030204" pitchFamily="34" charset="0"/>
                <a:cs typeface="Calibri" panose="020F0502020204030204" pitchFamily="34" charset="0"/>
              </a:rPr>
              <a:t>vardır: 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FNR = 2 / (</a:t>
            </a:r>
            <a:r>
              <a:rPr lang="tr-TR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 + </a:t>
            </a:r>
            <a:r>
              <a:rPr lang="en-US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98) = 0</a:t>
            </a:r>
            <a:r>
              <a:rPr lang="tr-TR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  <a:r>
              <a:rPr lang="en-US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02 =%2</a:t>
            </a:r>
            <a:endParaRPr lang="tr-TR" dirty="0">
              <a:solidFill>
                <a:srgbClr val="FF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TPR = 98 / (98 + 2) = 0.98 =</a:t>
            </a:r>
            <a:r>
              <a:rPr lang="en-US" dirty="0">
                <a:solidFill>
                  <a:schemeClr val="accent5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%98</a:t>
            </a:r>
            <a:r>
              <a:rPr lang="en-US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  <a:endParaRPr lang="tr-TR" dirty="0">
              <a:solidFill>
                <a:srgbClr val="FF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tr-TR" dirty="0">
              <a:solidFill>
                <a:srgbClr val="FF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tr-TR" u="sng" dirty="0">
                <a:latin typeface="Calibri" panose="020F0502020204030204" pitchFamily="34" charset="0"/>
                <a:cs typeface="Calibri" panose="020F0502020204030204" pitchFamily="34" charset="0"/>
              </a:rPr>
              <a:t>Bu başarılı bir IDS midir? Bu </a:t>
            </a:r>
            <a:r>
              <a:rPr lang="tr-TR" u="sng" dirty="0" err="1">
                <a:latin typeface="Calibri" panose="020F0502020204030204" pitchFamily="34" charset="0"/>
                <a:cs typeface="Calibri" panose="020F0502020204030204" pitchFamily="34" charset="0"/>
              </a:rPr>
              <a:t>IDS’i</a:t>
            </a:r>
            <a:r>
              <a:rPr lang="tr-TR" u="sng" dirty="0">
                <a:latin typeface="Calibri" panose="020F0502020204030204" pitchFamily="34" charset="0"/>
                <a:cs typeface="Calibri" panose="020F0502020204030204" pitchFamily="34" charset="0"/>
              </a:rPr>
              <a:t> kullanır mısınız?</a:t>
            </a:r>
            <a:endParaRPr lang="en-US" u="sng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07160398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34570B8E-5809-4B82-993F-AF76386782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206498"/>
            <a:ext cx="8520600" cy="733500"/>
          </a:xfrm>
        </p:spPr>
        <p:txBody>
          <a:bodyPr/>
          <a:lstStyle/>
          <a:p>
            <a:r>
              <a:rPr lang="tr-TR" dirty="0"/>
              <a:t>Baz Oran Yanılgısı (Base Rate </a:t>
            </a:r>
            <a:r>
              <a:rPr lang="tr-TR" dirty="0" err="1"/>
              <a:t>Fallacy</a:t>
            </a:r>
            <a:r>
              <a:rPr lang="tr-TR" dirty="0"/>
              <a:t>)</a:t>
            </a:r>
            <a:endParaRPr lang="en-US" dirty="0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51D1D5F7-45C0-4391-A67F-0252DF4057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7493" y="939998"/>
            <a:ext cx="8089014" cy="3263504"/>
          </a:xfrm>
        </p:spPr>
        <p:txBody>
          <a:bodyPr>
            <a:noAutofit/>
          </a:bodyPr>
          <a:lstStyle/>
          <a:p>
            <a:r>
              <a:rPr lang="en-US" sz="1600" dirty="0" err="1">
                <a:latin typeface="Calibri" panose="020F0502020204030204" pitchFamily="34" charset="0"/>
                <a:cs typeface="Calibri" panose="020F0502020204030204" pitchFamily="34" charset="0"/>
              </a:rPr>
              <a:t>Böyle</a:t>
            </a: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dirty="0" err="1">
                <a:latin typeface="Calibri" panose="020F0502020204030204" pitchFamily="34" charset="0"/>
                <a:cs typeface="Calibri" panose="020F0502020204030204" pitchFamily="34" charset="0"/>
              </a:rPr>
              <a:t>bir</a:t>
            </a: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 IDS </a:t>
            </a:r>
            <a:r>
              <a:rPr lang="en-US" sz="1600" i="1" dirty="0">
                <a:latin typeface="Calibri" panose="020F0502020204030204" pitchFamily="34" charset="0"/>
                <a:cs typeface="Calibri" panose="020F0502020204030204" pitchFamily="34" charset="0"/>
              </a:rPr>
              <a:t>"%98 </a:t>
            </a:r>
            <a:r>
              <a:rPr lang="en-US" sz="1600" i="1" dirty="0" err="1">
                <a:latin typeface="Calibri" panose="020F0502020204030204" pitchFamily="34" charset="0"/>
                <a:cs typeface="Calibri" panose="020F0502020204030204" pitchFamily="34" charset="0"/>
              </a:rPr>
              <a:t>doğru</a:t>
            </a: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" </a:t>
            </a:r>
            <a:r>
              <a:rPr lang="en-US" sz="1600" dirty="0" err="1">
                <a:latin typeface="Calibri" panose="020F0502020204030204" pitchFamily="34" charset="0"/>
                <a:cs typeface="Calibri" panose="020F0502020204030204" pitchFamily="34" charset="0"/>
              </a:rPr>
              <a:t>veya</a:t>
            </a: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i="1" dirty="0">
                <a:latin typeface="Calibri" panose="020F0502020204030204" pitchFamily="34" charset="0"/>
                <a:cs typeface="Calibri" panose="020F0502020204030204" pitchFamily="34" charset="0"/>
              </a:rPr>
              <a:t>"%99 </a:t>
            </a:r>
            <a:r>
              <a:rPr lang="en-US" sz="1600" i="1" dirty="0" err="1">
                <a:latin typeface="Calibri" panose="020F0502020204030204" pitchFamily="34" charset="0"/>
                <a:cs typeface="Calibri" panose="020F0502020204030204" pitchFamily="34" charset="0"/>
              </a:rPr>
              <a:t>doğru</a:t>
            </a: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" </a:t>
            </a:r>
            <a:r>
              <a:rPr lang="en-US" sz="1600" dirty="0" err="1">
                <a:latin typeface="Calibri" panose="020F0502020204030204" pitchFamily="34" charset="0"/>
                <a:cs typeface="Calibri" panose="020F0502020204030204" pitchFamily="34" charset="0"/>
              </a:rPr>
              <a:t>olarak</a:t>
            </a: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dirty="0" err="1">
                <a:latin typeface="Calibri" panose="020F0502020204030204" pitchFamily="34" charset="0"/>
                <a:cs typeface="Calibri" panose="020F0502020204030204" pitchFamily="34" charset="0"/>
              </a:rPr>
              <a:t>pazarlanabilir</a:t>
            </a: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dirty="0" err="1">
                <a:latin typeface="Calibri" panose="020F0502020204030204" pitchFamily="34" charset="0"/>
                <a:cs typeface="Calibri" panose="020F0502020204030204" pitchFamily="34" charset="0"/>
              </a:rPr>
              <a:t>ancak</a:t>
            </a: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tr-TR" sz="1600" dirty="0">
                <a:latin typeface="Calibri" panose="020F0502020204030204" pitchFamily="34" charset="0"/>
                <a:cs typeface="Calibri" panose="020F0502020204030204" pitchFamily="34" charset="0"/>
              </a:rPr>
              <a:t>sadece </a:t>
            </a:r>
            <a:r>
              <a:rPr lang="en-US" sz="1600" dirty="0" err="1">
                <a:latin typeface="Calibri" panose="020F0502020204030204" pitchFamily="34" charset="0"/>
                <a:cs typeface="Calibri" panose="020F0502020204030204" pitchFamily="34" charset="0"/>
              </a:rPr>
              <a:t>bu</a:t>
            </a:r>
            <a:r>
              <a:rPr lang="tr-TR" sz="1600" dirty="0">
                <a:latin typeface="Calibri" panose="020F0502020204030204" pitchFamily="34" charset="0"/>
                <a:cs typeface="Calibri" panose="020F0502020204030204" pitchFamily="34" charset="0"/>
              </a:rPr>
              <a:t> bilgi yetersizdir.</a:t>
            </a:r>
          </a:p>
          <a:p>
            <a:pPr marL="0" indent="0">
              <a:buNone/>
            </a:pPr>
            <a:r>
              <a:rPr lang="tr-TR" sz="16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Örnek:</a:t>
            </a:r>
            <a:r>
              <a:rPr lang="tr-TR" sz="1600" i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i="1" dirty="0">
                <a:latin typeface="Calibri" panose="020F0502020204030204" pitchFamily="34" charset="0"/>
                <a:cs typeface="Calibri" panose="020F0502020204030204" pitchFamily="34" charset="0"/>
              </a:rPr>
              <a:t>X </a:t>
            </a:r>
            <a:r>
              <a:rPr lang="tr-TR" sz="1600" i="1" dirty="0">
                <a:latin typeface="Calibri" panose="020F0502020204030204" pitchFamily="34" charset="0"/>
                <a:cs typeface="Calibri" panose="020F0502020204030204" pitchFamily="34" charset="0"/>
              </a:rPr>
              <a:t>saldırısının ağ trafiğindeki oranı</a:t>
            </a:r>
            <a:r>
              <a:rPr lang="en-US" sz="1600" i="1" dirty="0">
                <a:latin typeface="Calibri" panose="020F0502020204030204" pitchFamily="34" charset="0"/>
                <a:cs typeface="Calibri" panose="020F0502020204030204" pitchFamily="34" charset="0"/>
              </a:rPr>
              <a:t> 100.000'de 1</a:t>
            </a:r>
            <a:r>
              <a:rPr lang="tr-TR" sz="1600" i="1" dirty="0">
                <a:latin typeface="Calibri" panose="020F0502020204030204" pitchFamily="34" charset="0"/>
                <a:cs typeface="Calibri" panose="020F0502020204030204" pitchFamily="34" charset="0"/>
              </a:rPr>
              <a:t> olsun. </a:t>
            </a:r>
            <a:r>
              <a:rPr lang="en-US" sz="1600" i="1" dirty="0">
                <a:latin typeface="Calibri" panose="020F0502020204030204" pitchFamily="34" charset="0"/>
                <a:cs typeface="Calibri" panose="020F0502020204030204" pitchFamily="34" charset="0"/>
              </a:rPr>
              <a:t>IDS </a:t>
            </a:r>
            <a:r>
              <a:rPr lang="en-US" sz="1600" i="1" dirty="0" err="1">
                <a:latin typeface="Calibri" panose="020F0502020204030204" pitchFamily="34" charset="0"/>
                <a:cs typeface="Calibri" panose="020F0502020204030204" pitchFamily="34" charset="0"/>
              </a:rPr>
              <a:t>uygulanırsa</a:t>
            </a:r>
            <a:r>
              <a:rPr lang="tr-TR" sz="1600" i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i="1" dirty="0">
                <a:latin typeface="Calibri" panose="020F0502020204030204" pitchFamily="34" charset="0"/>
                <a:cs typeface="Calibri" panose="020F0502020204030204" pitchFamily="34" charset="0"/>
              </a:rPr>
              <a:t>99.999</a:t>
            </a:r>
            <a:r>
              <a:rPr lang="tr-TR" sz="1600" i="1" dirty="0">
                <a:latin typeface="Calibri" panose="020F0502020204030204" pitchFamily="34" charset="0"/>
                <a:cs typeface="Calibri" panose="020F0502020204030204" pitchFamily="34" charset="0"/>
              </a:rPr>
              <a:t> normal paketin </a:t>
            </a:r>
            <a:r>
              <a:rPr lang="en-US" sz="1600" i="1" dirty="0">
                <a:latin typeface="Calibri" panose="020F0502020204030204" pitchFamily="34" charset="0"/>
                <a:cs typeface="Calibri" panose="020F0502020204030204" pitchFamily="34" charset="0"/>
              </a:rPr>
              <a:t>% 1’ini</a:t>
            </a:r>
            <a:r>
              <a:rPr lang="tr-TR" sz="1600" i="1" dirty="0">
                <a:latin typeface="Calibri" panose="020F0502020204030204" pitchFamily="34" charset="0"/>
                <a:cs typeface="Calibri" panose="020F0502020204030204" pitchFamily="34" charset="0"/>
              </a:rPr>
              <a:t> yani</a:t>
            </a:r>
            <a:r>
              <a:rPr lang="en-US" sz="1600" i="1" dirty="0">
                <a:latin typeface="Calibri" panose="020F0502020204030204" pitchFamily="34" charset="0"/>
                <a:cs typeface="Calibri" panose="020F0502020204030204" pitchFamily="34" charset="0"/>
              </a:rPr>
              <a:t> 1000’ini </a:t>
            </a:r>
            <a:r>
              <a:rPr lang="en-US" sz="1600" i="1" dirty="0" err="1">
                <a:latin typeface="Calibri" panose="020F0502020204030204" pitchFamily="34" charset="0"/>
                <a:cs typeface="Calibri" panose="020F0502020204030204" pitchFamily="34" charset="0"/>
              </a:rPr>
              <a:t>saldırı</a:t>
            </a:r>
            <a:r>
              <a:rPr lang="en-US" sz="1600" i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i="1" dirty="0" err="1">
                <a:latin typeface="Calibri" panose="020F0502020204030204" pitchFamily="34" charset="0"/>
                <a:cs typeface="Calibri" panose="020F0502020204030204" pitchFamily="34" charset="0"/>
              </a:rPr>
              <a:t>olarak</a:t>
            </a:r>
            <a:r>
              <a:rPr lang="en-US" sz="1600" i="1" dirty="0">
                <a:latin typeface="Calibri" panose="020F0502020204030204" pitchFamily="34" charset="0"/>
                <a:cs typeface="Calibri" panose="020F0502020204030204" pitchFamily="34" charset="0"/>
              </a:rPr>
              <a:t> (</a:t>
            </a:r>
            <a:r>
              <a:rPr lang="en-US" sz="1600" i="1" dirty="0" err="1">
                <a:latin typeface="Calibri" panose="020F0502020204030204" pitchFamily="34" charset="0"/>
                <a:cs typeface="Calibri" panose="020F0502020204030204" pitchFamily="34" charset="0"/>
              </a:rPr>
              <a:t>yanlış</a:t>
            </a:r>
            <a:r>
              <a:rPr lang="en-US" sz="1600" i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i="1" dirty="0" err="1">
                <a:latin typeface="Calibri" panose="020F0502020204030204" pitchFamily="34" charset="0"/>
                <a:cs typeface="Calibri" panose="020F0502020204030204" pitchFamily="34" charset="0"/>
              </a:rPr>
              <a:t>pozitif</a:t>
            </a:r>
            <a:r>
              <a:rPr lang="en-US" sz="1600" i="1" dirty="0">
                <a:latin typeface="Calibri" panose="020F0502020204030204" pitchFamily="34" charset="0"/>
                <a:cs typeface="Calibri" panose="020F0502020204030204" pitchFamily="34" charset="0"/>
              </a:rPr>
              <a:t>) </a:t>
            </a:r>
            <a:r>
              <a:rPr lang="en-US" sz="1600" i="1" dirty="0" err="1">
                <a:latin typeface="Calibri" panose="020F0502020204030204" pitchFamily="34" charset="0"/>
                <a:cs typeface="Calibri" panose="020F0502020204030204" pitchFamily="34" charset="0"/>
              </a:rPr>
              <a:t>bulmasını</a:t>
            </a:r>
            <a:r>
              <a:rPr lang="en-US" sz="1600" i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i="1" dirty="0" err="1">
                <a:latin typeface="Calibri" panose="020F0502020204030204" pitchFamily="34" charset="0"/>
                <a:cs typeface="Calibri" panose="020F0502020204030204" pitchFamily="34" charset="0"/>
              </a:rPr>
              <a:t>bekle</a:t>
            </a:r>
            <a:r>
              <a:rPr lang="tr-TR" sz="1600" i="1" dirty="0" err="1">
                <a:latin typeface="Calibri" panose="020F0502020204030204" pitchFamily="34" charset="0"/>
                <a:cs typeface="Calibri" panose="020F0502020204030204" pitchFamily="34" charset="0"/>
              </a:rPr>
              <a:t>riz</a:t>
            </a:r>
            <a:r>
              <a:rPr lang="en-US" sz="1600" i="1" dirty="0">
                <a:latin typeface="Calibri" panose="020F0502020204030204" pitchFamily="34" charset="0"/>
                <a:cs typeface="Calibri" panose="020F0502020204030204" pitchFamily="34" charset="0"/>
              </a:rPr>
              <a:t>. </a:t>
            </a:r>
            <a:r>
              <a:rPr lang="en-US" sz="1600" i="1" dirty="0" err="1">
                <a:latin typeface="Calibri" panose="020F0502020204030204" pitchFamily="34" charset="0"/>
                <a:cs typeface="Calibri" panose="020F0502020204030204" pitchFamily="34" charset="0"/>
              </a:rPr>
              <a:t>Muhtemelen</a:t>
            </a:r>
            <a:r>
              <a:rPr lang="tr-TR" sz="1600" i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i="1" dirty="0" err="1">
                <a:latin typeface="Calibri" panose="020F0502020204030204" pitchFamily="34" charset="0"/>
                <a:cs typeface="Calibri" panose="020F0502020204030204" pitchFamily="34" charset="0"/>
              </a:rPr>
              <a:t>gerçekte</a:t>
            </a:r>
            <a:r>
              <a:rPr lang="en-US" sz="1600" i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i="1" dirty="0" err="1">
                <a:latin typeface="Calibri" panose="020F0502020204030204" pitchFamily="34" charset="0"/>
                <a:cs typeface="Calibri" panose="020F0502020204030204" pitchFamily="34" charset="0"/>
              </a:rPr>
              <a:t>saldırı</a:t>
            </a:r>
            <a:r>
              <a:rPr lang="en-US" sz="1600" i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i="1" dirty="0" err="1">
                <a:latin typeface="Calibri" panose="020F0502020204030204" pitchFamily="34" charset="0"/>
                <a:cs typeface="Calibri" panose="020F0502020204030204" pitchFamily="34" charset="0"/>
              </a:rPr>
              <a:t>paketi</a:t>
            </a:r>
            <a:r>
              <a:rPr lang="en-US" sz="1600" i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i="1" dirty="0" err="1">
                <a:latin typeface="Calibri" panose="020F0502020204030204" pitchFamily="34" charset="0"/>
                <a:cs typeface="Calibri" panose="020F0502020204030204" pitchFamily="34" charset="0"/>
              </a:rPr>
              <a:t>için</a:t>
            </a:r>
            <a:r>
              <a:rPr lang="en-US" sz="1600" i="1" dirty="0">
                <a:latin typeface="Calibri" panose="020F0502020204030204" pitchFamily="34" charset="0"/>
                <a:cs typeface="Calibri" panose="020F0502020204030204" pitchFamily="34" charset="0"/>
              </a:rPr>
              <a:t> de IDS </a:t>
            </a:r>
            <a:r>
              <a:rPr lang="en-US" sz="1600" i="1" dirty="0" err="1">
                <a:latin typeface="Calibri" panose="020F0502020204030204" pitchFamily="34" charset="0"/>
                <a:cs typeface="Calibri" panose="020F0502020204030204" pitchFamily="34" charset="0"/>
              </a:rPr>
              <a:t>sonucu</a:t>
            </a:r>
            <a:r>
              <a:rPr lang="en-US" sz="1600" i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i="1" dirty="0" err="1">
                <a:latin typeface="Calibri" panose="020F0502020204030204" pitchFamily="34" charset="0"/>
                <a:cs typeface="Calibri" panose="020F0502020204030204" pitchFamily="34" charset="0"/>
              </a:rPr>
              <a:t>pozitif</a:t>
            </a:r>
            <a:r>
              <a:rPr lang="tr-TR" sz="1600" i="1" dirty="0">
                <a:latin typeface="Calibri" panose="020F0502020204030204" pitchFamily="34" charset="0"/>
                <a:cs typeface="Calibri" panose="020F0502020204030204" pitchFamily="34" charset="0"/>
              </a:rPr>
              <a:t> çıkacaktır</a:t>
            </a:r>
            <a:r>
              <a:rPr lang="en-US" sz="1600" i="1" dirty="0">
                <a:latin typeface="Calibri" panose="020F0502020204030204" pitchFamily="34" charset="0"/>
                <a:cs typeface="Calibri" panose="020F0502020204030204" pitchFamily="34" charset="0"/>
              </a:rPr>
              <a:t> (%98 TPR).Bu </a:t>
            </a:r>
            <a:r>
              <a:rPr lang="en-US" sz="1600" i="1" dirty="0" err="1">
                <a:latin typeface="Calibri" panose="020F0502020204030204" pitchFamily="34" charset="0"/>
                <a:cs typeface="Calibri" panose="020F0502020204030204" pitchFamily="34" charset="0"/>
              </a:rPr>
              <a:t>durumda</a:t>
            </a:r>
            <a:r>
              <a:rPr lang="en-US" sz="1600" i="1" dirty="0">
                <a:latin typeface="Calibri" panose="020F0502020204030204" pitchFamily="34" charset="0"/>
                <a:cs typeface="Calibri" panose="020F0502020204030204" pitchFamily="34" charset="0"/>
              </a:rPr>
              <a:t> "X </a:t>
            </a:r>
            <a:r>
              <a:rPr lang="en-US" sz="1600" i="1" dirty="0" err="1">
                <a:latin typeface="Calibri" panose="020F0502020204030204" pitchFamily="34" charset="0"/>
                <a:cs typeface="Calibri" panose="020F0502020204030204" pitchFamily="34" charset="0"/>
              </a:rPr>
              <a:t>saldırısı</a:t>
            </a:r>
            <a:r>
              <a:rPr lang="en-US" sz="1600" i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i="1" dirty="0" err="1">
                <a:latin typeface="Calibri" panose="020F0502020204030204" pitchFamily="34" charset="0"/>
                <a:cs typeface="Calibri" panose="020F0502020204030204" pitchFamily="34" charset="0"/>
              </a:rPr>
              <a:t>olabilir</a:t>
            </a:r>
            <a:r>
              <a:rPr lang="en-US" sz="1600" i="1" dirty="0">
                <a:latin typeface="Calibri" panose="020F0502020204030204" pitchFamily="34" charset="0"/>
                <a:cs typeface="Calibri" panose="020F0502020204030204" pitchFamily="34" charset="0"/>
              </a:rPr>
              <a:t>" </a:t>
            </a:r>
            <a:r>
              <a:rPr lang="en-US" sz="1600" i="1" dirty="0" err="1">
                <a:latin typeface="Calibri" panose="020F0502020204030204" pitchFamily="34" charset="0"/>
                <a:cs typeface="Calibri" panose="020F0502020204030204" pitchFamily="34" charset="0"/>
              </a:rPr>
              <a:t>olarak</a:t>
            </a:r>
            <a:r>
              <a:rPr lang="en-US" sz="1600" i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i="1" dirty="0" err="1">
                <a:latin typeface="Calibri" panose="020F0502020204030204" pitchFamily="34" charset="0"/>
                <a:cs typeface="Calibri" panose="020F0502020204030204" pitchFamily="34" charset="0"/>
              </a:rPr>
              <a:t>işaretlenen</a:t>
            </a:r>
            <a:r>
              <a:rPr lang="en-US" sz="1600" i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tr-TR" sz="1600" i="1" dirty="0">
                <a:latin typeface="Calibri" panose="020F0502020204030204" pitchFamily="34" charset="0"/>
                <a:cs typeface="Calibri" panose="020F0502020204030204" pitchFamily="34" charset="0"/>
              </a:rPr>
              <a:t>toplam </a:t>
            </a:r>
            <a:r>
              <a:rPr lang="en-US" sz="1600" i="1" dirty="0">
                <a:latin typeface="Calibri" panose="020F0502020204030204" pitchFamily="34" charset="0"/>
                <a:cs typeface="Calibri" panose="020F0502020204030204" pitchFamily="34" charset="0"/>
              </a:rPr>
              <a:t>1001 </a:t>
            </a:r>
            <a:r>
              <a:rPr lang="en-US" sz="1600" i="1" dirty="0" err="1">
                <a:latin typeface="Calibri" panose="020F0502020204030204" pitchFamily="34" charset="0"/>
                <a:cs typeface="Calibri" panose="020F0502020204030204" pitchFamily="34" charset="0"/>
              </a:rPr>
              <a:t>pokettir</a:t>
            </a:r>
            <a:r>
              <a:rPr lang="en-US" sz="1600" i="1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1600" i="1" dirty="0" err="1">
                <a:latin typeface="Calibri" panose="020F0502020204030204" pitchFamily="34" charset="0"/>
                <a:cs typeface="Calibri" panose="020F0502020204030204" pitchFamily="34" charset="0"/>
              </a:rPr>
              <a:t>fakat</a:t>
            </a:r>
            <a:r>
              <a:rPr lang="en-US" sz="1600" i="1" dirty="0">
                <a:latin typeface="Calibri" panose="020F0502020204030204" pitchFamily="34" charset="0"/>
                <a:cs typeface="Calibri" panose="020F0502020204030204" pitchFamily="34" charset="0"/>
              </a:rPr>
              <a:t> 1001 </a:t>
            </a:r>
            <a:r>
              <a:rPr lang="tr-TR" sz="1600" i="1" dirty="0">
                <a:latin typeface="Calibri" panose="020F0502020204030204" pitchFamily="34" charset="0"/>
                <a:cs typeface="Calibri" panose="020F0502020204030204" pitchFamily="34" charset="0"/>
              </a:rPr>
              <a:t>alarmdan</a:t>
            </a:r>
            <a:r>
              <a:rPr lang="en-US" sz="1600" i="1" dirty="0">
                <a:latin typeface="Calibri" panose="020F0502020204030204" pitchFamily="34" charset="0"/>
                <a:cs typeface="Calibri" panose="020F0502020204030204" pitchFamily="34" charset="0"/>
              </a:rPr>
              <a:t> 1000'i </a:t>
            </a:r>
            <a:r>
              <a:rPr lang="en-US" sz="1600" i="1" dirty="0" err="1">
                <a:latin typeface="Calibri" panose="020F0502020204030204" pitchFamily="34" charset="0"/>
                <a:cs typeface="Calibri" panose="020F0502020204030204" pitchFamily="34" charset="0"/>
              </a:rPr>
              <a:t>yanlış</a:t>
            </a:r>
            <a:r>
              <a:rPr lang="en-US" sz="1600" i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i="1" dirty="0" err="1">
                <a:latin typeface="Calibri" panose="020F0502020204030204" pitchFamily="34" charset="0"/>
                <a:cs typeface="Calibri" panose="020F0502020204030204" pitchFamily="34" charset="0"/>
              </a:rPr>
              <a:t>alarmdır</a:t>
            </a:r>
            <a:r>
              <a:rPr lang="en-US" sz="1600" i="1" dirty="0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0" indent="0">
              <a:buNone/>
            </a:pPr>
            <a:r>
              <a:rPr lang="en-US" sz="1600" i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endParaRPr lang="tr-TR" sz="1600" i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tr-TR" sz="1600" dirty="0">
                <a:latin typeface="Calibri" panose="020F0502020204030204" pitchFamily="34" charset="0"/>
                <a:cs typeface="Calibri" panose="020F0502020204030204" pitchFamily="34" charset="0"/>
              </a:rPr>
              <a:t>(A</a:t>
            </a:r>
            <a:r>
              <a:rPr lang="en-US" sz="1600" dirty="0" err="1">
                <a:latin typeface="Calibri" panose="020F0502020204030204" pitchFamily="34" charset="0"/>
                <a:cs typeface="Calibri" panose="020F0502020204030204" pitchFamily="34" charset="0"/>
              </a:rPr>
              <a:t>larm</a:t>
            </a: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) </a:t>
            </a:r>
            <a:r>
              <a:rPr lang="en-US" sz="1600" dirty="0" err="1">
                <a:latin typeface="Calibri" panose="020F0502020204030204" pitchFamily="34" charset="0"/>
                <a:cs typeface="Calibri" panose="020F0502020204030204" pitchFamily="34" charset="0"/>
              </a:rPr>
              <a:t>hassasiyetini</a:t>
            </a: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dirty="0">
                <a:solidFill>
                  <a:srgbClr val="00B0F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(precision) </a:t>
            </a:r>
            <a:r>
              <a:rPr lang="en-US" sz="1600" dirty="0" err="1">
                <a:latin typeface="Calibri" panose="020F0502020204030204" pitchFamily="34" charset="0"/>
                <a:cs typeface="Calibri" panose="020F0502020204030204" pitchFamily="34" charset="0"/>
              </a:rPr>
              <a:t>doğru</a:t>
            </a: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dirty="0" err="1">
                <a:latin typeface="Calibri" panose="020F0502020204030204" pitchFamily="34" charset="0"/>
                <a:cs typeface="Calibri" panose="020F0502020204030204" pitchFamily="34" charset="0"/>
              </a:rPr>
              <a:t>şekilde</a:t>
            </a:r>
            <a:r>
              <a:rPr lang="tr-TR" sz="1600" dirty="0">
                <a:latin typeface="Calibri" panose="020F0502020204030204" pitchFamily="34" charset="0"/>
                <a:cs typeface="Calibri" panose="020F0502020204030204" pitchFamily="34" charset="0"/>
              </a:rPr>
              <a:t> verilen</a:t>
            </a: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dirty="0" err="1">
                <a:latin typeface="Calibri" panose="020F0502020204030204" pitchFamily="34" charset="0"/>
                <a:cs typeface="Calibri" panose="020F0502020204030204" pitchFamily="34" charset="0"/>
              </a:rPr>
              <a:t>alarmların</a:t>
            </a: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dirty="0" err="1">
                <a:latin typeface="Calibri" panose="020F0502020204030204" pitchFamily="34" charset="0"/>
                <a:cs typeface="Calibri" panose="020F0502020204030204" pitchFamily="34" charset="0"/>
              </a:rPr>
              <a:t>toplam</a:t>
            </a: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dirty="0" err="1">
                <a:latin typeface="Calibri" panose="020F0502020204030204" pitchFamily="34" charset="0"/>
                <a:cs typeface="Calibri" panose="020F0502020204030204" pitchFamily="34" charset="0"/>
              </a:rPr>
              <a:t>alarmlara</a:t>
            </a: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 (</a:t>
            </a:r>
            <a:r>
              <a:rPr lang="en-US" sz="1600" dirty="0" err="1">
                <a:latin typeface="Calibri" panose="020F0502020204030204" pitchFamily="34" charset="0"/>
                <a:cs typeface="Calibri" panose="020F0502020204030204" pitchFamily="34" charset="0"/>
              </a:rPr>
              <a:t>gerçek</a:t>
            </a: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dirty="0" err="1">
                <a:latin typeface="Calibri" panose="020F0502020204030204" pitchFamily="34" charset="0"/>
                <a:cs typeface="Calibri" panose="020F0502020204030204" pitchFamily="34" charset="0"/>
              </a:rPr>
              <a:t>pozitifler</a:t>
            </a:r>
            <a:r>
              <a:rPr lang="tr-TR" sz="1600" dirty="0">
                <a:latin typeface="Calibri" panose="020F0502020204030204" pitchFamily="34" charset="0"/>
                <a:cs typeface="Calibri" panose="020F0502020204030204" pitchFamily="34" charset="0"/>
              </a:rPr>
              <a:t>in</a:t>
            </a: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dirty="0" err="1">
                <a:latin typeface="Calibri" panose="020F0502020204030204" pitchFamily="34" charset="0"/>
                <a:cs typeface="Calibri" panose="020F0502020204030204" pitchFamily="34" charset="0"/>
              </a:rPr>
              <a:t>toplam</a:t>
            </a: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dirty="0" err="1">
                <a:latin typeface="Calibri" panose="020F0502020204030204" pitchFamily="34" charset="0"/>
                <a:cs typeface="Calibri" panose="020F0502020204030204" pitchFamily="34" charset="0"/>
              </a:rPr>
              <a:t>pozitiflere</a:t>
            </a: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)</a:t>
            </a:r>
            <a:r>
              <a:rPr lang="tr-TR" sz="1600" dirty="0">
                <a:latin typeface="Calibri" panose="020F0502020204030204" pitchFamily="34" charset="0"/>
                <a:cs typeface="Calibri" panose="020F0502020204030204" pitchFamily="34" charset="0"/>
              </a:rPr>
              <a:t> oranı olarak ifade edersek</a:t>
            </a: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:</a:t>
            </a:r>
          </a:p>
          <a:p>
            <a:pPr marL="114300" indent="0">
              <a:buNone/>
            </a:pP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AP = TP / (TP + FP) = 1 / (1 + 1000) = 1/1001 ≈</a:t>
            </a:r>
            <a:r>
              <a:rPr lang="tr-TR" sz="16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% 0.1</a:t>
            </a:r>
          </a:p>
          <a:p>
            <a:r>
              <a:rPr lang="en-US" sz="1600" dirty="0" err="1">
                <a:latin typeface="Calibri" panose="020F0502020204030204" pitchFamily="34" charset="0"/>
                <a:cs typeface="Calibri" panose="020F0502020204030204" pitchFamily="34" charset="0"/>
              </a:rPr>
              <a:t>Bunu</a:t>
            </a: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 alarm </a:t>
            </a:r>
            <a:r>
              <a:rPr lang="en-US" sz="1600" dirty="0" err="1">
                <a:latin typeface="Calibri" panose="020F0502020204030204" pitchFamily="34" charset="0"/>
                <a:cs typeface="Calibri" panose="020F0502020204030204" pitchFamily="34" charset="0"/>
              </a:rPr>
              <a:t>belirsizliği</a:t>
            </a:r>
            <a:r>
              <a:rPr lang="tr-TR" sz="16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dirty="0" err="1">
                <a:latin typeface="Calibri" panose="020F0502020204030204" pitchFamily="34" charset="0"/>
                <a:cs typeface="Calibri" panose="020F0502020204030204" pitchFamily="34" charset="0"/>
              </a:rPr>
              <a:t>olarak</a:t>
            </a: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dirty="0" err="1">
                <a:latin typeface="Calibri" panose="020F0502020204030204" pitchFamily="34" charset="0"/>
                <a:cs typeface="Calibri" panose="020F0502020204030204" pitchFamily="34" charset="0"/>
              </a:rPr>
              <a:t>tersten</a:t>
            </a: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dirty="0" err="1">
                <a:latin typeface="Calibri" panose="020F0502020204030204" pitchFamily="34" charset="0"/>
                <a:cs typeface="Calibri" panose="020F0502020204030204" pitchFamily="34" charset="0"/>
              </a:rPr>
              <a:t>konumlandırırsak</a:t>
            </a:r>
            <a:r>
              <a:rPr lang="tr-TR" sz="1600" dirty="0">
                <a:latin typeface="Calibri" panose="020F0502020204030204" pitchFamily="34" charset="0"/>
                <a:cs typeface="Calibri" panose="020F0502020204030204" pitchFamily="34" charset="0"/>
              </a:rPr>
              <a:t>:</a:t>
            </a:r>
          </a:p>
          <a:p>
            <a:pPr marL="114300" indent="0">
              <a:buNone/>
            </a:pP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AIP = FP / (TP + FP) = 1000 / (1 + 1000) ≈ 0,999</a:t>
            </a:r>
          </a:p>
          <a:p>
            <a:pPr marL="114300" indent="0">
              <a:buNone/>
            </a:pPr>
            <a:endParaRPr lang="tr-TR" sz="1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tr-TR" sz="16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Sonuç: </a:t>
            </a:r>
            <a:r>
              <a:rPr lang="tr-TR" sz="1600" u="sng" dirty="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lang="en-US" sz="1600" u="sng" dirty="0" err="1">
                <a:latin typeface="Calibri" panose="020F0502020204030204" pitchFamily="34" charset="0"/>
                <a:cs typeface="Calibri" panose="020F0502020204030204" pitchFamily="34" charset="0"/>
              </a:rPr>
              <a:t>larmların</a:t>
            </a:r>
            <a:r>
              <a:rPr lang="tr-TR" sz="1600" u="sng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u="sng" dirty="0">
                <a:latin typeface="Calibri" panose="020F0502020204030204" pitchFamily="34" charset="0"/>
                <a:cs typeface="Calibri" panose="020F0502020204030204" pitchFamily="34" charset="0"/>
              </a:rPr>
              <a:t>% 99,9'u (!) </a:t>
            </a:r>
            <a:r>
              <a:rPr lang="tr-TR" sz="1600" u="sng" dirty="0">
                <a:latin typeface="Calibri" panose="020F0502020204030204" pitchFamily="34" charset="0"/>
                <a:cs typeface="Calibri" panose="020F0502020204030204" pitchFamily="34" charset="0"/>
              </a:rPr>
              <a:t>y</a:t>
            </a:r>
            <a:r>
              <a:rPr lang="en-US" sz="1600" u="sng" dirty="0" err="1">
                <a:latin typeface="Calibri" panose="020F0502020204030204" pitchFamily="34" charset="0"/>
                <a:cs typeface="Calibri" panose="020F0502020204030204" pitchFamily="34" charset="0"/>
              </a:rPr>
              <a:t>anlış</a:t>
            </a:r>
            <a:r>
              <a:rPr lang="en-US" sz="1600" u="sng" dirty="0">
                <a:latin typeface="Calibri" panose="020F0502020204030204" pitchFamily="34" charset="0"/>
                <a:cs typeface="Calibri" panose="020F0502020204030204" pitchFamily="34" charset="0"/>
              </a:rPr>
              <a:t> alarm</a:t>
            </a:r>
            <a:r>
              <a:rPr lang="tr-TR" sz="1600" u="sng" dirty="0" err="1">
                <a:latin typeface="Calibri" panose="020F0502020204030204" pitchFamily="34" charset="0"/>
                <a:cs typeface="Calibri" panose="020F0502020204030204" pitchFamily="34" charset="0"/>
              </a:rPr>
              <a:t>dır</a:t>
            </a:r>
            <a:r>
              <a:rPr lang="tr-TR" sz="1600" u="sng" dirty="0">
                <a:latin typeface="Calibri" panose="020F0502020204030204" pitchFamily="34" charset="0"/>
                <a:cs typeface="Calibri" panose="020F0502020204030204" pitchFamily="34" charset="0"/>
              </a:rPr>
              <a:t>. Bu </a:t>
            </a:r>
            <a:r>
              <a:rPr lang="tr-TR" sz="1600" u="sng" dirty="0" err="1">
                <a:latin typeface="Calibri" panose="020F0502020204030204" pitchFamily="34" charset="0"/>
                <a:cs typeface="Calibri" panose="020F0502020204030204" pitchFamily="34" charset="0"/>
              </a:rPr>
              <a:t>IDS’i</a:t>
            </a:r>
            <a:r>
              <a:rPr lang="tr-TR" sz="1600" u="sng" dirty="0">
                <a:latin typeface="Calibri" panose="020F0502020204030204" pitchFamily="34" charset="0"/>
                <a:cs typeface="Calibri" panose="020F0502020204030204" pitchFamily="34" charset="0"/>
              </a:rPr>
              <a:t> kullanır mısınız?</a:t>
            </a:r>
            <a:endParaRPr lang="en-US" sz="1600" u="sng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96427951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4" name="Google Shape;1204;p110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Montserrat"/>
                <a:ea typeface="Montserrat"/>
                <a:cs typeface="Montserrat"/>
                <a:sym typeface="Montserrat"/>
              </a:rPr>
              <a:t>Evaluating Performance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05" name="Google Shape;1205;p110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/>
              <a:t>REGRESSION</a:t>
            </a:r>
            <a:endParaRPr sz="3500"/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2" name="Google Shape;1212;p111"/>
          <p:cNvSpPr txBox="1">
            <a:spLocks noGrp="1"/>
          </p:cNvSpPr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Evaluating Regression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13" name="Google Shape;1213;p11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Font typeface="Montserrat"/>
              <a:buChar char="●"/>
            </a:pPr>
            <a:r>
              <a:rPr lang="en" sz="3000">
                <a:latin typeface="Montserrat"/>
                <a:ea typeface="Montserrat"/>
                <a:cs typeface="Montserrat"/>
                <a:sym typeface="Montserrat"/>
              </a:rPr>
              <a:t>Let’s take a moment now to discuss evaluating Regression Models</a:t>
            </a:r>
            <a:endParaRPr sz="3000"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Font typeface="Montserrat"/>
              <a:buChar char="●"/>
            </a:pPr>
            <a:r>
              <a:rPr lang="en" sz="3000">
                <a:latin typeface="Montserrat"/>
                <a:ea typeface="Montserrat"/>
                <a:cs typeface="Montserrat"/>
                <a:sym typeface="Montserrat"/>
              </a:rPr>
              <a:t>Regression is a task when a model attempts to predict continuous values (unlike categorical values, which is classification)</a:t>
            </a:r>
            <a:endParaRPr sz="300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0" name="Google Shape;1220;p112"/>
          <p:cNvSpPr txBox="1">
            <a:spLocks noGrp="1"/>
          </p:cNvSpPr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Evaluating Regression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21" name="Google Shape;1221;p11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Font typeface="Montserrat"/>
              <a:buChar char="●"/>
            </a:pPr>
            <a:r>
              <a:rPr lang="en" sz="3000">
                <a:latin typeface="Montserrat"/>
                <a:ea typeface="Montserrat"/>
                <a:cs typeface="Montserrat"/>
                <a:sym typeface="Montserrat"/>
              </a:rPr>
              <a:t>You may have heard of some evaluation metrics like accuracy or recall.</a:t>
            </a:r>
            <a:endParaRPr sz="3000"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Font typeface="Montserrat"/>
              <a:buChar char="●"/>
            </a:pPr>
            <a:r>
              <a:rPr lang="en" sz="3000">
                <a:latin typeface="Montserrat"/>
                <a:ea typeface="Montserrat"/>
                <a:cs typeface="Montserrat"/>
                <a:sym typeface="Montserrat"/>
              </a:rPr>
              <a:t>These sort of metrics aren’t useful for regression problems, we need metrics designed for </a:t>
            </a:r>
            <a:r>
              <a:rPr lang="en" sz="3000" b="1">
                <a:latin typeface="Montserrat"/>
                <a:ea typeface="Montserrat"/>
                <a:cs typeface="Montserrat"/>
                <a:sym typeface="Montserrat"/>
              </a:rPr>
              <a:t>continuous</a:t>
            </a:r>
            <a:r>
              <a:rPr lang="en" sz="3000">
                <a:latin typeface="Montserrat"/>
                <a:ea typeface="Montserrat"/>
                <a:cs typeface="Montserrat"/>
                <a:sym typeface="Montserrat"/>
              </a:rPr>
              <a:t> values!</a:t>
            </a:r>
            <a:endParaRPr sz="300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" name="Google Shape;1228;p113"/>
          <p:cNvSpPr txBox="1">
            <a:spLocks noGrp="1"/>
          </p:cNvSpPr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Evaluating Regression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29" name="Google Shape;1229;p11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Font typeface="Montserrat"/>
              <a:buChar char="●"/>
            </a:pPr>
            <a:r>
              <a:rPr lang="en" sz="3000">
                <a:latin typeface="Montserrat"/>
                <a:ea typeface="Montserrat"/>
                <a:cs typeface="Montserrat"/>
                <a:sym typeface="Montserrat"/>
              </a:rPr>
              <a:t>For example, attempting to predict the price of a house given its features is a </a:t>
            </a:r>
            <a:r>
              <a:rPr lang="en" sz="3000" b="1">
                <a:latin typeface="Montserrat"/>
                <a:ea typeface="Montserrat"/>
                <a:cs typeface="Montserrat"/>
                <a:sym typeface="Montserrat"/>
              </a:rPr>
              <a:t>regression task.</a:t>
            </a:r>
            <a:endParaRPr sz="3000"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Font typeface="Montserrat"/>
              <a:buChar char="●"/>
            </a:pPr>
            <a:r>
              <a:rPr lang="en" sz="3000">
                <a:latin typeface="Montserrat"/>
                <a:ea typeface="Montserrat"/>
                <a:cs typeface="Montserrat"/>
                <a:sym typeface="Montserrat"/>
              </a:rPr>
              <a:t>Attempting to predict the country a house is in given its features would be a classification task.</a:t>
            </a:r>
            <a:endParaRPr sz="300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6" name="Google Shape;1236;p114"/>
          <p:cNvSpPr txBox="1">
            <a:spLocks noGrp="1"/>
          </p:cNvSpPr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Evaluating Regression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37" name="Google Shape;1237;p11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Font typeface="Montserrat"/>
              <a:buChar char="●"/>
            </a:pPr>
            <a:r>
              <a:rPr lang="en" sz="3000">
                <a:latin typeface="Montserrat"/>
                <a:ea typeface="Montserrat"/>
                <a:cs typeface="Montserrat"/>
                <a:sym typeface="Montserrat"/>
              </a:rPr>
              <a:t>Let’s discuss some of the most common evaluation metrics for regression:</a:t>
            </a:r>
            <a:endParaRPr sz="3000">
              <a:latin typeface="Montserrat"/>
              <a:ea typeface="Montserrat"/>
              <a:cs typeface="Montserrat"/>
              <a:sym typeface="Montserrat"/>
            </a:endParaRPr>
          </a:p>
          <a:p>
            <a:pPr marL="1371600" lvl="1" indent="-419100" algn="l" rtl="0">
              <a:spcBef>
                <a:spcPts val="0"/>
              </a:spcBef>
              <a:spcAft>
                <a:spcPts val="0"/>
              </a:spcAft>
              <a:buSzPts val="3000"/>
              <a:buFont typeface="Montserrat"/>
              <a:buChar char="○"/>
            </a:pPr>
            <a:r>
              <a:rPr lang="en" sz="3000">
                <a:latin typeface="Montserrat"/>
                <a:ea typeface="Montserrat"/>
                <a:cs typeface="Montserrat"/>
                <a:sym typeface="Montserrat"/>
              </a:rPr>
              <a:t>Mean Absolute Error</a:t>
            </a:r>
            <a:endParaRPr sz="3000">
              <a:latin typeface="Montserrat"/>
              <a:ea typeface="Montserrat"/>
              <a:cs typeface="Montserrat"/>
              <a:sym typeface="Montserrat"/>
            </a:endParaRPr>
          </a:p>
          <a:p>
            <a:pPr marL="1371600" lvl="1" indent="-419100" algn="l" rtl="0">
              <a:spcBef>
                <a:spcPts val="0"/>
              </a:spcBef>
              <a:spcAft>
                <a:spcPts val="0"/>
              </a:spcAft>
              <a:buSzPts val="3000"/>
              <a:buFont typeface="Montserrat"/>
              <a:buChar char="○"/>
            </a:pPr>
            <a:r>
              <a:rPr lang="en" sz="3000">
                <a:latin typeface="Montserrat"/>
                <a:ea typeface="Montserrat"/>
                <a:cs typeface="Montserrat"/>
                <a:sym typeface="Montserrat"/>
              </a:rPr>
              <a:t>Mean Squared Error</a:t>
            </a:r>
            <a:endParaRPr sz="3000">
              <a:latin typeface="Montserrat"/>
              <a:ea typeface="Montserrat"/>
              <a:cs typeface="Montserrat"/>
              <a:sym typeface="Montserrat"/>
            </a:endParaRPr>
          </a:p>
          <a:p>
            <a:pPr marL="1371600" lvl="1" indent="-419100" algn="l" rtl="0">
              <a:spcBef>
                <a:spcPts val="0"/>
              </a:spcBef>
              <a:spcAft>
                <a:spcPts val="0"/>
              </a:spcAft>
              <a:buSzPts val="3000"/>
              <a:buFont typeface="Montserrat"/>
              <a:buChar char="○"/>
            </a:pPr>
            <a:r>
              <a:rPr lang="en" sz="3000">
                <a:latin typeface="Montserrat"/>
                <a:ea typeface="Montserrat"/>
                <a:cs typeface="Montserrat"/>
                <a:sym typeface="Montserrat"/>
              </a:rPr>
              <a:t>Root Mean Square Error</a:t>
            </a:r>
            <a:endParaRPr sz="3000">
              <a:latin typeface="Montserrat"/>
              <a:ea typeface="Montserrat"/>
              <a:cs typeface="Montserrat"/>
              <a:sym typeface="Montserrat"/>
            </a:endParaRPr>
          </a:p>
          <a:p>
            <a:pPr marL="137160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endParaRPr sz="300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4" name="Google Shape;1244;p115"/>
          <p:cNvSpPr txBox="1">
            <a:spLocks noGrp="1"/>
          </p:cNvSpPr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Evaluating Regression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45" name="Google Shape;1245;p11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7960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419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Montserrat"/>
              <a:buChar char="●"/>
            </a:pPr>
            <a:r>
              <a:rPr lang="en" sz="3000">
                <a:latin typeface="Montserrat"/>
                <a:ea typeface="Montserrat"/>
                <a:cs typeface="Montserrat"/>
                <a:sym typeface="Montserrat"/>
              </a:rPr>
              <a:t>Mean Absolute Error (MAE)</a:t>
            </a:r>
            <a:endParaRPr sz="3000">
              <a:latin typeface="Montserrat"/>
              <a:ea typeface="Montserrat"/>
              <a:cs typeface="Montserrat"/>
              <a:sym typeface="Montserrat"/>
            </a:endParaRPr>
          </a:p>
          <a:p>
            <a:pPr marL="1371600" marR="0" lvl="1" indent="-419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Font typeface="Montserrat"/>
              <a:buChar char="○"/>
            </a:pPr>
            <a:r>
              <a:rPr lang="en" sz="3000">
                <a:latin typeface="Montserrat"/>
                <a:ea typeface="Montserrat"/>
                <a:cs typeface="Montserrat"/>
                <a:sym typeface="Montserrat"/>
              </a:rPr>
              <a:t>This is the mean of the absolute value of errors.</a:t>
            </a:r>
            <a:endParaRPr sz="3000">
              <a:latin typeface="Montserrat"/>
              <a:ea typeface="Montserrat"/>
              <a:cs typeface="Montserrat"/>
              <a:sym typeface="Montserrat"/>
            </a:endParaRPr>
          </a:p>
          <a:p>
            <a:pPr marL="1371600" marR="0" lvl="1" indent="-419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Font typeface="Montserrat"/>
              <a:buChar char="○"/>
            </a:pPr>
            <a:r>
              <a:rPr lang="en" sz="3000">
                <a:latin typeface="Montserrat"/>
                <a:ea typeface="Montserrat"/>
                <a:cs typeface="Montserrat"/>
                <a:sym typeface="Montserrat"/>
              </a:rPr>
              <a:t>Easy to understand</a:t>
            </a:r>
            <a:endParaRPr sz="3000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248" name="Google Shape;1248;p115" descr="Screen Shot 2017-05-01 at 11.04.18 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50100" y="3323477"/>
            <a:ext cx="5186449" cy="162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53" name="Google Shape;1253;p1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70675" y="1333781"/>
            <a:ext cx="4981824" cy="3623524"/>
          </a:xfrm>
          <a:prstGeom prst="rect">
            <a:avLst/>
          </a:prstGeom>
          <a:noFill/>
          <a:ln>
            <a:noFill/>
          </a:ln>
        </p:spPr>
      </p:pic>
      <p:sp>
        <p:nvSpPr>
          <p:cNvPr id="1254" name="Google Shape;1254;p116"/>
          <p:cNvSpPr txBox="1">
            <a:spLocks noGrp="1"/>
          </p:cNvSpPr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Evaluating Regression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55" name="Google Shape;1255;p116"/>
          <p:cNvSpPr txBox="1">
            <a:spLocks noGrp="1"/>
          </p:cNvSpPr>
          <p:nvPr>
            <p:ph type="body" idx="1"/>
          </p:nvPr>
        </p:nvSpPr>
        <p:spPr>
          <a:xfrm>
            <a:off x="301287" y="868488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Font typeface="Montserrat"/>
              <a:buChar char="●"/>
            </a:pPr>
            <a:r>
              <a:rPr lang="en" sz="3000" dirty="0">
                <a:latin typeface="Montserrat"/>
                <a:ea typeface="Montserrat"/>
                <a:cs typeface="Montserrat"/>
                <a:sym typeface="Montserrat"/>
              </a:rPr>
              <a:t>MAE won’t punish large errors however.</a:t>
            </a:r>
            <a:endParaRPr sz="3000" dirty="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62" name="Google Shape;1262;p117"/>
          <p:cNvPicPr preferRelativeResize="0"/>
          <p:nvPr/>
        </p:nvPicPr>
        <p:blipFill rotWithShape="1">
          <a:blip r:embed="rId3">
            <a:alphaModFix/>
          </a:blip>
          <a:srcRect t="53246" r="49346"/>
          <a:stretch/>
        </p:blipFill>
        <p:spPr>
          <a:xfrm>
            <a:off x="2770950" y="2046550"/>
            <a:ext cx="3359750" cy="2255550"/>
          </a:xfrm>
          <a:prstGeom prst="rect">
            <a:avLst/>
          </a:prstGeom>
          <a:noFill/>
          <a:ln>
            <a:noFill/>
          </a:ln>
        </p:spPr>
      </p:pic>
      <p:sp>
        <p:nvSpPr>
          <p:cNvPr id="1263" name="Google Shape;1263;p117"/>
          <p:cNvSpPr txBox="1">
            <a:spLocks noGrp="1"/>
          </p:cNvSpPr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Evaluating Regression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64" name="Google Shape;1264;p11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Font typeface="Montserrat"/>
              <a:buChar char="●"/>
            </a:pPr>
            <a:r>
              <a:rPr lang="en" sz="3000">
                <a:latin typeface="Montserrat"/>
                <a:ea typeface="Montserrat"/>
                <a:cs typeface="Montserrat"/>
                <a:sym typeface="Montserrat"/>
              </a:rPr>
              <a:t>MAE won’t punish large errors however.</a:t>
            </a:r>
            <a:endParaRPr sz="300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71" name="Google Shape;1271;p118"/>
          <p:cNvPicPr preferRelativeResize="0"/>
          <p:nvPr/>
        </p:nvPicPr>
        <p:blipFill rotWithShape="1">
          <a:blip r:embed="rId3">
            <a:alphaModFix/>
          </a:blip>
          <a:srcRect t="53246" r="49346"/>
          <a:stretch/>
        </p:blipFill>
        <p:spPr>
          <a:xfrm>
            <a:off x="2770950" y="2046550"/>
            <a:ext cx="3359750" cy="2255550"/>
          </a:xfrm>
          <a:prstGeom prst="rect">
            <a:avLst/>
          </a:prstGeom>
          <a:noFill/>
          <a:ln>
            <a:noFill/>
          </a:ln>
        </p:spPr>
      </p:pic>
      <p:sp>
        <p:nvSpPr>
          <p:cNvPr id="1272" name="Google Shape;1272;p118"/>
          <p:cNvSpPr txBox="1">
            <a:spLocks noGrp="1"/>
          </p:cNvSpPr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Evaluating Regression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73" name="Google Shape;1273;p11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Font typeface="Montserrat"/>
              <a:buChar char="●"/>
            </a:pPr>
            <a:r>
              <a:rPr lang="en" sz="3000">
                <a:latin typeface="Montserrat"/>
                <a:ea typeface="Montserrat"/>
                <a:cs typeface="Montserrat"/>
                <a:sym typeface="Montserrat"/>
              </a:rPr>
              <a:t>We want our error metrics to account for these!</a:t>
            </a:r>
            <a:endParaRPr sz="300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276" name="Google Shape;1276;p118"/>
          <p:cNvCxnSpPr/>
          <p:nvPr/>
        </p:nvCxnSpPr>
        <p:spPr>
          <a:xfrm flipH="1">
            <a:off x="3857325" y="2275950"/>
            <a:ext cx="978300" cy="4287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triangle" w="med" len="med"/>
            <a:tailEnd type="none" w="med" len="med"/>
          </a:ln>
        </p:spPr>
      </p:cxnSp>
      <p:cxnSp>
        <p:nvCxnSpPr>
          <p:cNvPr id="1277" name="Google Shape;1277;p118"/>
          <p:cNvCxnSpPr/>
          <p:nvPr/>
        </p:nvCxnSpPr>
        <p:spPr>
          <a:xfrm>
            <a:off x="4871825" y="2251800"/>
            <a:ext cx="0" cy="471000"/>
          </a:xfrm>
          <a:prstGeom prst="straightConnector1">
            <a:avLst/>
          </a:prstGeom>
          <a:noFill/>
          <a:ln w="19050" cap="flat" cmpd="sng">
            <a:solidFill>
              <a:srgbClr val="E06666"/>
            </a:solidFill>
            <a:prstDash val="solid"/>
            <a:round/>
            <a:headEnd type="diamond" w="med" len="med"/>
            <a:tailEnd type="diamond" w="med" len="med"/>
          </a:ln>
        </p:spPr>
      </p:cxn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2" name="Google Shape;1282;p119"/>
          <p:cNvSpPr txBox="1">
            <a:spLocks noGrp="1"/>
          </p:cNvSpPr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Evaluating Regression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83" name="Google Shape;1283;p11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7960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419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Montserrat"/>
              <a:buChar char="●"/>
            </a:pPr>
            <a:r>
              <a:rPr lang="en" sz="3000">
                <a:latin typeface="Montserrat"/>
                <a:ea typeface="Montserrat"/>
                <a:cs typeface="Montserrat"/>
                <a:sym typeface="Montserrat"/>
              </a:rPr>
              <a:t>Mean Squared Error (MSE)</a:t>
            </a:r>
            <a:endParaRPr sz="3000">
              <a:latin typeface="Montserrat"/>
              <a:ea typeface="Montserrat"/>
              <a:cs typeface="Montserrat"/>
              <a:sym typeface="Montserrat"/>
            </a:endParaRPr>
          </a:p>
          <a:p>
            <a:pPr marL="1371600" marR="0" lvl="1" indent="-419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Font typeface="Montserrat"/>
              <a:buChar char="○"/>
            </a:pPr>
            <a:r>
              <a:rPr lang="en" sz="3000">
                <a:latin typeface="Montserrat"/>
                <a:ea typeface="Montserrat"/>
                <a:cs typeface="Montserrat"/>
                <a:sym typeface="Montserrat"/>
              </a:rPr>
              <a:t>This is the mean of the squared errors.</a:t>
            </a:r>
            <a:endParaRPr sz="3000">
              <a:latin typeface="Montserrat"/>
              <a:ea typeface="Montserrat"/>
              <a:cs typeface="Montserrat"/>
              <a:sym typeface="Montserrat"/>
            </a:endParaRPr>
          </a:p>
          <a:p>
            <a:pPr marL="1371600" marR="0" lvl="1" indent="-419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Font typeface="Montserrat"/>
              <a:buChar char="○"/>
            </a:pPr>
            <a:r>
              <a:rPr lang="en" sz="3000">
                <a:latin typeface="Montserrat"/>
                <a:ea typeface="Montserrat"/>
                <a:cs typeface="Montserrat"/>
                <a:sym typeface="Montserrat"/>
              </a:rPr>
              <a:t>Larger errors are noted more than with MAE, making MSE more popular.</a:t>
            </a:r>
            <a:endParaRPr sz="3000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286" name="Google Shape;1286;p119" descr="Screen Shot 2017-05-01 at 11.04.25 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54725" y="3803600"/>
            <a:ext cx="3864275" cy="1216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1" name="Google Shape;1291;p120"/>
          <p:cNvSpPr txBox="1">
            <a:spLocks noGrp="1"/>
          </p:cNvSpPr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Evaluating Regression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92" name="Google Shape;1292;p12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7960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419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Montserrat"/>
              <a:buChar char="●"/>
            </a:pPr>
            <a:r>
              <a:rPr lang="en" sz="3000">
                <a:latin typeface="Montserrat"/>
                <a:ea typeface="Montserrat"/>
                <a:cs typeface="Montserrat"/>
                <a:sym typeface="Montserrat"/>
              </a:rPr>
              <a:t>Root Mean Square Error (RMSE)</a:t>
            </a:r>
            <a:endParaRPr sz="3000">
              <a:latin typeface="Montserrat"/>
              <a:ea typeface="Montserrat"/>
              <a:cs typeface="Montserrat"/>
              <a:sym typeface="Montserrat"/>
            </a:endParaRPr>
          </a:p>
          <a:p>
            <a:pPr marL="1371600" marR="0" lvl="1" indent="-419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Font typeface="Montserrat"/>
              <a:buChar char="○"/>
            </a:pPr>
            <a:r>
              <a:rPr lang="en" sz="3000">
                <a:latin typeface="Montserrat"/>
                <a:ea typeface="Montserrat"/>
                <a:cs typeface="Montserrat"/>
                <a:sym typeface="Montserrat"/>
              </a:rPr>
              <a:t>This is the root of the  mean of the squared errors.</a:t>
            </a:r>
            <a:endParaRPr sz="3000">
              <a:latin typeface="Montserrat"/>
              <a:ea typeface="Montserrat"/>
              <a:cs typeface="Montserrat"/>
              <a:sym typeface="Montserrat"/>
            </a:endParaRPr>
          </a:p>
          <a:p>
            <a:pPr marL="1371600" marR="0" lvl="1" indent="-419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Font typeface="Montserrat"/>
              <a:buChar char="○"/>
            </a:pPr>
            <a:r>
              <a:rPr lang="en" sz="3000">
                <a:latin typeface="Montserrat"/>
                <a:ea typeface="Montserrat"/>
                <a:cs typeface="Montserrat"/>
                <a:sym typeface="Montserrat"/>
              </a:rPr>
              <a:t>Most popular (has same units as y)</a:t>
            </a:r>
            <a:endParaRPr sz="3000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295" name="Google Shape;1295;p120" descr="Screen Shot 2017-05-01 at 11.04.31 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11225" y="3310551"/>
            <a:ext cx="5743402" cy="1909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" name="Google Shape;1300;p121"/>
          <p:cNvSpPr txBox="1">
            <a:spLocks noGrp="1"/>
          </p:cNvSpPr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Machine Learning 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01" name="Google Shape;1301;p12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412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Most common question from students: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371600" marR="0" lvl="1" indent="-412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“Is this value of RMSE good?”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914400" marR="0" lvl="0" indent="-412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Context is everything!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914400" marR="0" lvl="0" indent="-412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 RMSE of $10 is fantastic for predicting the price of a house, but horrible for predicting the price of a candy bar!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8" name="Google Shape;1308;p122"/>
          <p:cNvSpPr txBox="1">
            <a:spLocks noGrp="1"/>
          </p:cNvSpPr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Machine Learning 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09" name="Google Shape;1309;p12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412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Compare your error metric to the average value of the label in your data set to try to get an intuition of its overall performance.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412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Domain knowledge also plays an important role here!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6" name="Google Shape;1316;p123"/>
          <p:cNvSpPr txBox="1">
            <a:spLocks noGrp="1"/>
          </p:cNvSpPr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Machine Learning 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17" name="Google Shape;1317;p12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412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Context of importance is also necessary to consider. 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412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We may create a model to predict how much medication to give, in which case small fluctuations in RMSE may actually be very significant.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4" name="Google Shape;1324;p124"/>
          <p:cNvSpPr txBox="1">
            <a:spLocks noGrp="1"/>
          </p:cNvSpPr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Evaluating Regression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25" name="Google Shape;1325;p12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7960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419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Font typeface="Montserrat"/>
              <a:buChar char="●"/>
            </a:pPr>
            <a:r>
              <a:rPr lang="en" sz="3000">
                <a:latin typeface="Montserrat"/>
                <a:ea typeface="Montserrat"/>
                <a:cs typeface="Montserrat"/>
                <a:sym typeface="Montserrat"/>
              </a:rPr>
              <a:t>You should now feel comfortable with the various methods of evaluating a regression task.</a:t>
            </a:r>
            <a:endParaRPr sz="3000">
              <a:latin typeface="Montserrat"/>
              <a:ea typeface="Montserrat"/>
              <a:cs typeface="Montserrat"/>
              <a:sym typeface="Montserrat"/>
            </a:endParaRPr>
          </a:p>
          <a:p>
            <a:pPr marL="914400" marR="0" lvl="0" indent="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endParaRPr sz="3000"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endParaRPr sz="300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2" name="Google Shape;1332;p125"/>
          <p:cNvSpPr txBox="1">
            <a:spLocks noGrp="1"/>
          </p:cNvSpPr>
          <p:nvPr>
            <p:ph type="ctrTitle"/>
          </p:nvPr>
        </p:nvSpPr>
        <p:spPr>
          <a:xfrm>
            <a:off x="335850" y="807750"/>
            <a:ext cx="8520600" cy="2053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Montserrat"/>
                <a:ea typeface="Montserrat"/>
                <a:cs typeface="Montserrat"/>
                <a:sym typeface="Montserrat"/>
              </a:rPr>
              <a:t>Unsupervised Learning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9" name="Google Shape;1339;p126"/>
          <p:cNvSpPr txBox="1">
            <a:spLocks noGrp="1"/>
          </p:cNvSpPr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Machine Learning 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40" name="Google Shape;1340;p12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412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We’ve covered supervised learning, where the </a:t>
            </a:r>
            <a:r>
              <a:rPr lang="en" sz="2900" b="1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label was known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due to </a:t>
            </a:r>
            <a:r>
              <a:rPr lang="en" sz="2900" b="1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historical labeled data.</a:t>
            </a:r>
            <a:endParaRPr sz="2900" b="1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412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But what happens when we don’t have historical labels?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7" name="Google Shape;1347;p127"/>
          <p:cNvSpPr txBox="1">
            <a:spLocks noGrp="1"/>
          </p:cNvSpPr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Machine Learning 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48" name="Google Shape;1348;p12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412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There are certain tasks that fall under unsupervised learning: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371600" marR="0" lvl="1" indent="-412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Clustering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371600" marR="0" lvl="1" indent="-412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Anomaly Detection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371600" marR="0" lvl="1" indent="-412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Dimensionality Reduction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5" name="Google Shape;1355;p128"/>
          <p:cNvSpPr txBox="1">
            <a:spLocks noGrp="1"/>
          </p:cNvSpPr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Machine Learning 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56" name="Google Shape;1356;p12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412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Clustering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371600" marR="0" lvl="1" indent="-412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Grouping together </a:t>
            </a:r>
            <a:r>
              <a:rPr lang="en" sz="2900" b="1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unlabeled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data points into categories/clusters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371600" marR="0" lvl="1" indent="-412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Data points are assigned to a cluster based on similarity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3" name="Google Shape;1363;p129"/>
          <p:cNvSpPr txBox="1">
            <a:spLocks noGrp="1"/>
          </p:cNvSpPr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Machine Learning 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64" name="Google Shape;1364;p12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412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Anomaly Detection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371600" marR="0" lvl="1" indent="-412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Attempts to detect outliers in a dataset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371600" marR="0" lvl="1" indent="-412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For example, fraudulent transactions on a credit card.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1" name="Google Shape;1371;p130"/>
          <p:cNvSpPr txBox="1">
            <a:spLocks noGrp="1"/>
          </p:cNvSpPr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Machine Learning 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72" name="Google Shape;1372;p13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412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Dimensionality Reduction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371600" marR="0" lvl="1" indent="-412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Data processing techniques that reduces the number of features in a data set, either for compression, or to better understand underlying trends within a data set.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9" name="Google Shape;1379;p131"/>
          <p:cNvSpPr txBox="1">
            <a:spLocks noGrp="1"/>
          </p:cNvSpPr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Machine Learning 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80" name="Google Shape;1380;p13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412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Unsupervised Learning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371600" marR="0" lvl="1" indent="-412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It’s important to note, these are situations where we </a:t>
            </a:r>
            <a:r>
              <a:rPr lang="en" sz="2900" b="1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don’t 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have the correct answer for historical data!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371600" marR="0" lvl="1" indent="-412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Which means evaluation is much harder and more nuanced!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8" name="Google Shape;1388;p132"/>
          <p:cNvSpPr txBox="1"/>
          <p:nvPr/>
        </p:nvSpPr>
        <p:spPr>
          <a:xfrm>
            <a:off x="1042425" y="211038"/>
            <a:ext cx="7061700" cy="74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000"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90" name="Google Shape;1390;p132"/>
          <p:cNvSpPr txBox="1"/>
          <p:nvPr/>
        </p:nvSpPr>
        <p:spPr>
          <a:xfrm>
            <a:off x="1109150" y="27825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2A3990"/>
                </a:solidFill>
                <a:latin typeface="Roboto"/>
                <a:ea typeface="Roboto"/>
                <a:cs typeface="Roboto"/>
                <a:sym typeface="Roboto"/>
              </a:rPr>
              <a:t>Unsupervised Process</a:t>
            </a:r>
            <a:endParaRPr sz="3000">
              <a:solidFill>
                <a:srgbClr val="2A399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91" name="Google Shape;1391;p132"/>
          <p:cNvSpPr/>
          <p:nvPr/>
        </p:nvSpPr>
        <p:spPr>
          <a:xfrm>
            <a:off x="185125" y="2707875"/>
            <a:ext cx="1340400" cy="907800"/>
          </a:xfrm>
          <a:prstGeom prst="roundRect">
            <a:avLst>
              <a:gd name="adj" fmla="val 16667"/>
            </a:avLst>
          </a:prstGeom>
          <a:solidFill>
            <a:srgbClr val="20124D"/>
          </a:solidFill>
          <a:ln w="9525" cap="flat" cmpd="sng">
            <a:solidFill>
              <a:srgbClr val="3D85C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2" name="Google Shape;1392;p132"/>
          <p:cNvSpPr/>
          <p:nvPr/>
        </p:nvSpPr>
        <p:spPr>
          <a:xfrm>
            <a:off x="1948450" y="2707875"/>
            <a:ext cx="1340400" cy="907800"/>
          </a:xfrm>
          <a:prstGeom prst="roundRect">
            <a:avLst>
              <a:gd name="adj" fmla="val 16667"/>
            </a:avLst>
          </a:prstGeom>
          <a:solidFill>
            <a:srgbClr val="20124D"/>
          </a:solidFill>
          <a:ln w="9525" cap="flat" cmpd="sng">
            <a:solidFill>
              <a:srgbClr val="3D85C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3" name="Google Shape;1393;p132"/>
          <p:cNvSpPr/>
          <p:nvPr/>
        </p:nvSpPr>
        <p:spPr>
          <a:xfrm>
            <a:off x="3813975" y="2707875"/>
            <a:ext cx="1340400" cy="907800"/>
          </a:xfrm>
          <a:prstGeom prst="roundRect">
            <a:avLst>
              <a:gd name="adj" fmla="val 16667"/>
            </a:avLst>
          </a:prstGeom>
          <a:solidFill>
            <a:srgbClr val="20124D"/>
          </a:solidFill>
          <a:ln w="9525" cap="flat" cmpd="sng">
            <a:solidFill>
              <a:srgbClr val="3D85C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4" name="Google Shape;1394;p132"/>
          <p:cNvSpPr/>
          <p:nvPr/>
        </p:nvSpPr>
        <p:spPr>
          <a:xfrm>
            <a:off x="5628400" y="2707875"/>
            <a:ext cx="1340400" cy="907800"/>
          </a:xfrm>
          <a:prstGeom prst="roundRect">
            <a:avLst>
              <a:gd name="adj" fmla="val 16667"/>
            </a:avLst>
          </a:prstGeom>
          <a:solidFill>
            <a:srgbClr val="20124D"/>
          </a:solidFill>
          <a:ln w="9525" cap="flat" cmpd="sng">
            <a:solidFill>
              <a:srgbClr val="3D85C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5" name="Google Shape;1395;p132"/>
          <p:cNvSpPr/>
          <p:nvPr/>
        </p:nvSpPr>
        <p:spPr>
          <a:xfrm>
            <a:off x="7442825" y="2707875"/>
            <a:ext cx="1340400" cy="907800"/>
          </a:xfrm>
          <a:prstGeom prst="roundRect">
            <a:avLst>
              <a:gd name="adj" fmla="val 16667"/>
            </a:avLst>
          </a:prstGeom>
          <a:solidFill>
            <a:srgbClr val="20124D"/>
          </a:solidFill>
          <a:ln w="9525" cap="flat" cmpd="sng">
            <a:solidFill>
              <a:srgbClr val="3D85C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396" name="Google Shape;1396;p132"/>
          <p:cNvCxnSpPr>
            <a:stCxn id="1391" idx="3"/>
            <a:endCxn id="1392" idx="1"/>
          </p:cNvCxnSpPr>
          <p:nvPr/>
        </p:nvCxnSpPr>
        <p:spPr>
          <a:xfrm>
            <a:off x="1525525" y="3161775"/>
            <a:ext cx="423000" cy="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397" name="Google Shape;1397;p132"/>
          <p:cNvCxnSpPr>
            <a:endCxn id="1393" idx="1"/>
          </p:cNvCxnSpPr>
          <p:nvPr/>
        </p:nvCxnSpPr>
        <p:spPr>
          <a:xfrm>
            <a:off x="3288975" y="3161775"/>
            <a:ext cx="525000" cy="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398" name="Google Shape;1398;p132"/>
          <p:cNvCxnSpPr>
            <a:endCxn id="1394" idx="1"/>
          </p:cNvCxnSpPr>
          <p:nvPr/>
        </p:nvCxnSpPr>
        <p:spPr>
          <a:xfrm>
            <a:off x="5154400" y="3161775"/>
            <a:ext cx="474000" cy="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399" name="Google Shape;1399;p132"/>
          <p:cNvCxnSpPr>
            <a:endCxn id="1395" idx="1"/>
          </p:cNvCxnSpPr>
          <p:nvPr/>
        </p:nvCxnSpPr>
        <p:spPr>
          <a:xfrm>
            <a:off x="6968825" y="3161775"/>
            <a:ext cx="474000" cy="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400" name="Google Shape;1400;p132"/>
          <p:cNvSpPr txBox="1"/>
          <p:nvPr/>
        </p:nvSpPr>
        <p:spPr>
          <a:xfrm>
            <a:off x="185125" y="2800650"/>
            <a:ext cx="1340400" cy="6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Data</a:t>
            </a:r>
            <a:endParaRPr sz="18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Acquisition </a:t>
            </a:r>
            <a:endParaRPr sz="18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01" name="Google Shape;1401;p132"/>
          <p:cNvSpPr txBox="1"/>
          <p:nvPr/>
        </p:nvSpPr>
        <p:spPr>
          <a:xfrm>
            <a:off x="1948450" y="2800650"/>
            <a:ext cx="1340400" cy="6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Data</a:t>
            </a:r>
            <a:endParaRPr sz="18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Cleaning</a:t>
            </a:r>
            <a:endParaRPr sz="18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02" name="Google Shape;1402;p132"/>
          <p:cNvSpPr txBox="1"/>
          <p:nvPr/>
        </p:nvSpPr>
        <p:spPr>
          <a:xfrm>
            <a:off x="3813975" y="1636650"/>
            <a:ext cx="1340400" cy="6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Test</a:t>
            </a:r>
            <a:endParaRPr sz="18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Data</a:t>
            </a:r>
            <a:endParaRPr sz="18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03" name="Google Shape;1403;p132"/>
          <p:cNvSpPr txBox="1"/>
          <p:nvPr/>
        </p:nvSpPr>
        <p:spPr>
          <a:xfrm>
            <a:off x="3813975" y="2631663"/>
            <a:ext cx="1340400" cy="6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Model</a:t>
            </a:r>
            <a:endParaRPr sz="18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Training &amp;</a:t>
            </a:r>
            <a:endParaRPr sz="18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Building</a:t>
            </a:r>
            <a:endParaRPr sz="18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04" name="Google Shape;1404;p132"/>
          <p:cNvSpPr txBox="1"/>
          <p:nvPr/>
        </p:nvSpPr>
        <p:spPr>
          <a:xfrm>
            <a:off x="5453950" y="2857875"/>
            <a:ext cx="1689300" cy="6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Transformation</a:t>
            </a:r>
            <a:endParaRPr sz="15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05" name="Google Shape;1405;p132"/>
          <p:cNvSpPr txBox="1"/>
          <p:nvPr/>
        </p:nvSpPr>
        <p:spPr>
          <a:xfrm>
            <a:off x="7398275" y="2800650"/>
            <a:ext cx="1429500" cy="6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Model </a:t>
            </a:r>
            <a:endParaRPr sz="18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Deployment</a:t>
            </a:r>
            <a:endParaRPr sz="18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0" name="Google Shape;1410;p133"/>
          <p:cNvSpPr txBox="1">
            <a:spLocks noGrp="1"/>
          </p:cNvSpPr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Machine Learning 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11" name="Google Shape;1411;p13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412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Later on in the course, we’ll explore unsupervised learning processes with specialized neural network structures, such as autoencoders.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hoosing the right estimator — scikit-learn 1.4.2 documentation">
            <a:extLst>
              <a:ext uri="{FF2B5EF4-FFF2-40B4-BE49-F238E27FC236}">
                <a16:creationId xmlns:a16="http://schemas.microsoft.com/office/drawing/2014/main" id="{A0D5628B-C1FA-D3DD-46CC-7BB7AE5367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6088" y="0"/>
            <a:ext cx="8250237" cy="514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29338693"/>
      </p:ext>
    </p:extLst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275B866-1CFE-5AA7-4072-A2F338501C53}"/>
              </a:ext>
            </a:extLst>
          </p:cNvPr>
          <p:cNvSpPr txBox="1"/>
          <p:nvPr/>
        </p:nvSpPr>
        <p:spPr>
          <a:xfrm>
            <a:off x="740664" y="2217807"/>
            <a:ext cx="797356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b="1" spc="-10" dirty="0">
                <a:solidFill>
                  <a:srgbClr val="000000"/>
                </a:solidFill>
                <a:latin typeface="Roboto"/>
                <a:cs typeface="Roboto"/>
              </a:rPr>
              <a:t>Introduction</a:t>
            </a:r>
            <a:r>
              <a:rPr lang="en-US" sz="4000" b="1" spc="-110" dirty="0">
                <a:solidFill>
                  <a:srgbClr val="000000"/>
                </a:solidFill>
                <a:latin typeface="Roboto"/>
                <a:cs typeface="Roboto"/>
              </a:rPr>
              <a:t> </a:t>
            </a:r>
            <a:r>
              <a:rPr lang="en-US" sz="4000" b="1" dirty="0">
                <a:solidFill>
                  <a:srgbClr val="000000"/>
                </a:solidFill>
                <a:latin typeface="Roboto"/>
                <a:cs typeface="Roboto"/>
              </a:rPr>
              <a:t>to</a:t>
            </a:r>
            <a:r>
              <a:rPr lang="en-US" sz="4000" b="1" spc="-105" dirty="0">
                <a:solidFill>
                  <a:srgbClr val="000000"/>
                </a:solidFill>
                <a:latin typeface="Roboto"/>
                <a:cs typeface="Roboto"/>
              </a:rPr>
              <a:t> </a:t>
            </a:r>
            <a:r>
              <a:rPr lang="en-US" sz="4000" b="1" dirty="0">
                <a:solidFill>
                  <a:srgbClr val="000000"/>
                </a:solidFill>
                <a:latin typeface="Roboto"/>
                <a:cs typeface="Roboto"/>
              </a:rPr>
              <a:t>Linear</a:t>
            </a:r>
            <a:r>
              <a:rPr lang="en-US" sz="4000" b="1" spc="-105" dirty="0">
                <a:solidFill>
                  <a:srgbClr val="000000"/>
                </a:solidFill>
                <a:latin typeface="Roboto"/>
                <a:cs typeface="Roboto"/>
              </a:rPr>
              <a:t> </a:t>
            </a:r>
            <a:r>
              <a:rPr lang="en-US" sz="4000" b="1" spc="-10" dirty="0">
                <a:solidFill>
                  <a:srgbClr val="000000"/>
                </a:solidFill>
                <a:latin typeface="Roboto"/>
                <a:cs typeface="Roboto"/>
              </a:rPr>
              <a:t>Regression</a:t>
            </a:r>
            <a:endParaRPr lang="en-TR" sz="4000" dirty="0"/>
          </a:p>
        </p:txBody>
      </p:sp>
    </p:spTree>
    <p:extLst>
      <p:ext uri="{BB962C8B-B14F-4D97-AF65-F5344CB8AC3E}">
        <p14:creationId xmlns:p14="http://schemas.microsoft.com/office/powerpoint/2010/main" val="2875884712"/>
      </p:ext>
    </p:extLst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5" dirty="0"/>
              <a:t>History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4725" y="1246104"/>
            <a:ext cx="3668395" cy="3454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3599"/>
              </a:lnSpc>
              <a:spcBef>
                <a:spcPts val="100"/>
              </a:spcBef>
            </a:pPr>
            <a:r>
              <a:rPr sz="2200" dirty="0">
                <a:solidFill>
                  <a:srgbClr val="313131"/>
                </a:solidFill>
                <a:latin typeface="Roboto"/>
                <a:cs typeface="Roboto"/>
              </a:rPr>
              <a:t>This</a:t>
            </a:r>
            <a:r>
              <a:rPr sz="2200" spc="-90" dirty="0">
                <a:solidFill>
                  <a:srgbClr val="313131"/>
                </a:solidFill>
                <a:latin typeface="Roboto"/>
                <a:cs typeface="Roboto"/>
              </a:rPr>
              <a:t> </a:t>
            </a:r>
            <a:r>
              <a:rPr sz="2200" dirty="0">
                <a:solidFill>
                  <a:srgbClr val="313131"/>
                </a:solidFill>
                <a:latin typeface="Roboto"/>
                <a:cs typeface="Roboto"/>
              </a:rPr>
              <a:t>all</a:t>
            </a:r>
            <a:r>
              <a:rPr sz="2200" spc="-90" dirty="0">
                <a:solidFill>
                  <a:srgbClr val="313131"/>
                </a:solidFill>
                <a:latin typeface="Roboto"/>
                <a:cs typeface="Roboto"/>
              </a:rPr>
              <a:t> </a:t>
            </a:r>
            <a:r>
              <a:rPr sz="2200" spc="-10" dirty="0">
                <a:solidFill>
                  <a:srgbClr val="313131"/>
                </a:solidFill>
                <a:latin typeface="Roboto"/>
                <a:cs typeface="Roboto"/>
              </a:rPr>
              <a:t>started</a:t>
            </a:r>
            <a:r>
              <a:rPr sz="2200" spc="-90" dirty="0">
                <a:solidFill>
                  <a:srgbClr val="313131"/>
                </a:solidFill>
                <a:latin typeface="Roboto"/>
                <a:cs typeface="Roboto"/>
              </a:rPr>
              <a:t> </a:t>
            </a:r>
            <a:r>
              <a:rPr sz="2200" dirty="0">
                <a:solidFill>
                  <a:srgbClr val="313131"/>
                </a:solidFill>
                <a:latin typeface="Roboto"/>
                <a:cs typeface="Roboto"/>
              </a:rPr>
              <a:t>in</a:t>
            </a:r>
            <a:r>
              <a:rPr sz="2200" spc="-85" dirty="0">
                <a:solidFill>
                  <a:srgbClr val="313131"/>
                </a:solidFill>
                <a:latin typeface="Roboto"/>
                <a:cs typeface="Roboto"/>
              </a:rPr>
              <a:t> </a:t>
            </a:r>
            <a:r>
              <a:rPr sz="2200" dirty="0">
                <a:solidFill>
                  <a:srgbClr val="313131"/>
                </a:solidFill>
                <a:latin typeface="Roboto"/>
                <a:cs typeface="Roboto"/>
              </a:rPr>
              <a:t>the</a:t>
            </a:r>
            <a:r>
              <a:rPr sz="2200" spc="-95" dirty="0">
                <a:solidFill>
                  <a:srgbClr val="313131"/>
                </a:solidFill>
                <a:latin typeface="Roboto"/>
                <a:cs typeface="Roboto"/>
              </a:rPr>
              <a:t> </a:t>
            </a:r>
            <a:r>
              <a:rPr sz="2200" spc="-10" dirty="0">
                <a:solidFill>
                  <a:srgbClr val="313131"/>
                </a:solidFill>
                <a:latin typeface="Roboto"/>
                <a:cs typeface="Roboto"/>
              </a:rPr>
              <a:t>1800s </a:t>
            </a:r>
            <a:r>
              <a:rPr sz="2200" dirty="0">
                <a:solidFill>
                  <a:srgbClr val="313131"/>
                </a:solidFill>
                <a:latin typeface="Roboto"/>
                <a:cs typeface="Roboto"/>
              </a:rPr>
              <a:t>with</a:t>
            </a:r>
            <a:r>
              <a:rPr sz="2200" spc="-90" dirty="0">
                <a:solidFill>
                  <a:srgbClr val="313131"/>
                </a:solidFill>
                <a:latin typeface="Roboto"/>
                <a:cs typeface="Roboto"/>
              </a:rPr>
              <a:t> </a:t>
            </a:r>
            <a:r>
              <a:rPr sz="2200" dirty="0">
                <a:solidFill>
                  <a:srgbClr val="313131"/>
                </a:solidFill>
                <a:latin typeface="Roboto"/>
                <a:cs typeface="Roboto"/>
              </a:rPr>
              <a:t>a</a:t>
            </a:r>
            <a:r>
              <a:rPr sz="2200" spc="-85" dirty="0">
                <a:solidFill>
                  <a:srgbClr val="313131"/>
                </a:solidFill>
                <a:latin typeface="Roboto"/>
                <a:cs typeface="Roboto"/>
              </a:rPr>
              <a:t> </a:t>
            </a:r>
            <a:r>
              <a:rPr sz="2200" spc="-20" dirty="0">
                <a:solidFill>
                  <a:srgbClr val="313131"/>
                </a:solidFill>
                <a:latin typeface="Roboto"/>
                <a:cs typeface="Roboto"/>
              </a:rPr>
              <a:t>guy</a:t>
            </a:r>
            <a:r>
              <a:rPr sz="2200" spc="-80" dirty="0">
                <a:solidFill>
                  <a:srgbClr val="313131"/>
                </a:solidFill>
                <a:latin typeface="Roboto"/>
                <a:cs typeface="Roboto"/>
              </a:rPr>
              <a:t> </a:t>
            </a:r>
            <a:r>
              <a:rPr sz="2200" dirty="0">
                <a:solidFill>
                  <a:srgbClr val="313131"/>
                </a:solidFill>
                <a:latin typeface="Roboto"/>
                <a:cs typeface="Roboto"/>
              </a:rPr>
              <a:t>named</a:t>
            </a:r>
            <a:r>
              <a:rPr sz="2200" spc="-65" dirty="0">
                <a:solidFill>
                  <a:srgbClr val="313131"/>
                </a:solidFill>
                <a:latin typeface="Roboto"/>
                <a:cs typeface="Roboto"/>
              </a:rPr>
              <a:t> </a:t>
            </a:r>
            <a:r>
              <a:rPr sz="2200" spc="-10" dirty="0">
                <a:solidFill>
                  <a:srgbClr val="0B5394"/>
                </a:solidFill>
                <a:latin typeface="Roboto"/>
                <a:cs typeface="Roboto"/>
              </a:rPr>
              <a:t>Francis Galton</a:t>
            </a:r>
            <a:r>
              <a:rPr sz="2200" spc="-10" dirty="0">
                <a:solidFill>
                  <a:srgbClr val="313131"/>
                </a:solidFill>
                <a:latin typeface="Roboto"/>
                <a:cs typeface="Roboto"/>
              </a:rPr>
              <a:t>.</a:t>
            </a:r>
            <a:r>
              <a:rPr sz="2200" spc="-100" dirty="0">
                <a:solidFill>
                  <a:srgbClr val="313131"/>
                </a:solidFill>
                <a:latin typeface="Roboto"/>
                <a:cs typeface="Roboto"/>
              </a:rPr>
              <a:t> </a:t>
            </a:r>
            <a:r>
              <a:rPr sz="2200" spc="-10" dirty="0">
                <a:solidFill>
                  <a:srgbClr val="313131"/>
                </a:solidFill>
                <a:latin typeface="Roboto"/>
                <a:cs typeface="Roboto"/>
              </a:rPr>
              <a:t>Galton</a:t>
            </a:r>
            <a:r>
              <a:rPr sz="2200" spc="-95" dirty="0">
                <a:solidFill>
                  <a:srgbClr val="313131"/>
                </a:solidFill>
                <a:latin typeface="Roboto"/>
                <a:cs typeface="Roboto"/>
              </a:rPr>
              <a:t> </a:t>
            </a:r>
            <a:r>
              <a:rPr sz="2200" dirty="0">
                <a:solidFill>
                  <a:srgbClr val="313131"/>
                </a:solidFill>
                <a:latin typeface="Roboto"/>
                <a:cs typeface="Roboto"/>
              </a:rPr>
              <a:t>was</a:t>
            </a:r>
            <a:r>
              <a:rPr sz="2200" spc="-100" dirty="0">
                <a:solidFill>
                  <a:srgbClr val="313131"/>
                </a:solidFill>
                <a:latin typeface="Roboto"/>
                <a:cs typeface="Roboto"/>
              </a:rPr>
              <a:t> </a:t>
            </a:r>
            <a:r>
              <a:rPr sz="2200" spc="-10" dirty="0">
                <a:solidFill>
                  <a:srgbClr val="313131"/>
                </a:solidFill>
                <a:latin typeface="Roboto"/>
                <a:cs typeface="Roboto"/>
              </a:rPr>
              <a:t>studying </a:t>
            </a:r>
            <a:r>
              <a:rPr sz="2200" dirty="0">
                <a:solidFill>
                  <a:srgbClr val="313131"/>
                </a:solidFill>
                <a:latin typeface="Roboto"/>
                <a:cs typeface="Roboto"/>
              </a:rPr>
              <a:t>the</a:t>
            </a:r>
            <a:r>
              <a:rPr sz="2200" spc="-75" dirty="0">
                <a:solidFill>
                  <a:srgbClr val="313131"/>
                </a:solidFill>
                <a:latin typeface="Roboto"/>
                <a:cs typeface="Roboto"/>
              </a:rPr>
              <a:t> </a:t>
            </a:r>
            <a:r>
              <a:rPr sz="2200" spc="-20" dirty="0">
                <a:solidFill>
                  <a:srgbClr val="313131"/>
                </a:solidFill>
                <a:latin typeface="Roboto"/>
                <a:cs typeface="Roboto"/>
              </a:rPr>
              <a:t>relationship</a:t>
            </a:r>
            <a:r>
              <a:rPr sz="2200" spc="-65" dirty="0">
                <a:solidFill>
                  <a:srgbClr val="313131"/>
                </a:solidFill>
                <a:latin typeface="Roboto"/>
                <a:cs typeface="Roboto"/>
              </a:rPr>
              <a:t> </a:t>
            </a:r>
            <a:r>
              <a:rPr sz="2200" spc="-10" dirty="0">
                <a:solidFill>
                  <a:srgbClr val="313131"/>
                </a:solidFill>
                <a:latin typeface="Roboto"/>
                <a:cs typeface="Roboto"/>
              </a:rPr>
              <a:t>between parents</a:t>
            </a:r>
            <a:r>
              <a:rPr sz="2200" spc="-114" dirty="0">
                <a:solidFill>
                  <a:srgbClr val="313131"/>
                </a:solidFill>
                <a:latin typeface="Roboto"/>
                <a:cs typeface="Roboto"/>
              </a:rPr>
              <a:t> </a:t>
            </a:r>
            <a:r>
              <a:rPr sz="2200" dirty="0">
                <a:solidFill>
                  <a:srgbClr val="313131"/>
                </a:solidFill>
                <a:latin typeface="Roboto"/>
                <a:cs typeface="Roboto"/>
              </a:rPr>
              <a:t>and</a:t>
            </a:r>
            <a:r>
              <a:rPr sz="2200" spc="-114" dirty="0">
                <a:solidFill>
                  <a:srgbClr val="313131"/>
                </a:solidFill>
                <a:latin typeface="Roboto"/>
                <a:cs typeface="Roboto"/>
              </a:rPr>
              <a:t> </a:t>
            </a:r>
            <a:r>
              <a:rPr sz="2200" dirty="0">
                <a:solidFill>
                  <a:srgbClr val="313131"/>
                </a:solidFill>
                <a:latin typeface="Roboto"/>
                <a:cs typeface="Roboto"/>
              </a:rPr>
              <a:t>their</a:t>
            </a:r>
            <a:r>
              <a:rPr sz="2200" spc="-110" dirty="0">
                <a:solidFill>
                  <a:srgbClr val="313131"/>
                </a:solidFill>
                <a:latin typeface="Roboto"/>
                <a:cs typeface="Roboto"/>
              </a:rPr>
              <a:t> </a:t>
            </a:r>
            <a:r>
              <a:rPr sz="2200" spc="-10" dirty="0">
                <a:solidFill>
                  <a:srgbClr val="313131"/>
                </a:solidFill>
                <a:latin typeface="Roboto"/>
                <a:cs typeface="Roboto"/>
              </a:rPr>
              <a:t>children.</a:t>
            </a:r>
            <a:r>
              <a:rPr sz="2200" spc="-110" dirty="0">
                <a:solidFill>
                  <a:srgbClr val="313131"/>
                </a:solidFill>
                <a:latin typeface="Roboto"/>
                <a:cs typeface="Roboto"/>
              </a:rPr>
              <a:t> </a:t>
            </a:r>
            <a:r>
              <a:rPr sz="2200" spc="-25" dirty="0">
                <a:solidFill>
                  <a:srgbClr val="313131"/>
                </a:solidFill>
                <a:latin typeface="Roboto"/>
                <a:cs typeface="Roboto"/>
              </a:rPr>
              <a:t>In particular,</a:t>
            </a:r>
            <a:r>
              <a:rPr sz="2200" spc="-60" dirty="0">
                <a:solidFill>
                  <a:srgbClr val="313131"/>
                </a:solidFill>
                <a:latin typeface="Roboto"/>
                <a:cs typeface="Roboto"/>
              </a:rPr>
              <a:t> </a:t>
            </a:r>
            <a:r>
              <a:rPr sz="2200" dirty="0">
                <a:solidFill>
                  <a:srgbClr val="313131"/>
                </a:solidFill>
                <a:latin typeface="Roboto"/>
                <a:cs typeface="Roboto"/>
              </a:rPr>
              <a:t>he</a:t>
            </a:r>
            <a:r>
              <a:rPr sz="2200" spc="-65" dirty="0">
                <a:solidFill>
                  <a:srgbClr val="313131"/>
                </a:solidFill>
                <a:latin typeface="Roboto"/>
                <a:cs typeface="Roboto"/>
              </a:rPr>
              <a:t> </a:t>
            </a:r>
            <a:r>
              <a:rPr sz="2200" spc="-20" dirty="0">
                <a:solidFill>
                  <a:srgbClr val="313131"/>
                </a:solidFill>
                <a:latin typeface="Roboto"/>
                <a:cs typeface="Roboto"/>
              </a:rPr>
              <a:t>investigated</a:t>
            </a:r>
            <a:r>
              <a:rPr sz="2200" spc="-60" dirty="0">
                <a:solidFill>
                  <a:srgbClr val="313131"/>
                </a:solidFill>
                <a:latin typeface="Roboto"/>
                <a:cs typeface="Roboto"/>
              </a:rPr>
              <a:t> </a:t>
            </a:r>
            <a:r>
              <a:rPr sz="2200" spc="-25" dirty="0">
                <a:solidFill>
                  <a:srgbClr val="313131"/>
                </a:solidFill>
                <a:latin typeface="Roboto"/>
                <a:cs typeface="Roboto"/>
              </a:rPr>
              <a:t>the </a:t>
            </a:r>
            <a:r>
              <a:rPr sz="2200" spc="-20" dirty="0">
                <a:solidFill>
                  <a:srgbClr val="313131"/>
                </a:solidFill>
                <a:latin typeface="Roboto"/>
                <a:cs typeface="Roboto"/>
              </a:rPr>
              <a:t>relationship</a:t>
            </a:r>
            <a:r>
              <a:rPr sz="2200" spc="-90" dirty="0">
                <a:solidFill>
                  <a:srgbClr val="313131"/>
                </a:solidFill>
                <a:latin typeface="Roboto"/>
                <a:cs typeface="Roboto"/>
              </a:rPr>
              <a:t> </a:t>
            </a:r>
            <a:r>
              <a:rPr sz="2200" dirty="0">
                <a:solidFill>
                  <a:srgbClr val="313131"/>
                </a:solidFill>
                <a:latin typeface="Roboto"/>
                <a:cs typeface="Roboto"/>
              </a:rPr>
              <a:t>between</a:t>
            </a:r>
            <a:r>
              <a:rPr sz="2200" spc="-85" dirty="0">
                <a:solidFill>
                  <a:srgbClr val="313131"/>
                </a:solidFill>
                <a:latin typeface="Roboto"/>
                <a:cs typeface="Roboto"/>
              </a:rPr>
              <a:t> </a:t>
            </a:r>
            <a:r>
              <a:rPr sz="2200" spc="-25" dirty="0">
                <a:solidFill>
                  <a:srgbClr val="313131"/>
                </a:solidFill>
                <a:latin typeface="Roboto"/>
                <a:cs typeface="Roboto"/>
              </a:rPr>
              <a:t>the </a:t>
            </a:r>
            <a:r>
              <a:rPr sz="2200" spc="-10" dirty="0">
                <a:solidFill>
                  <a:srgbClr val="313131"/>
                </a:solidFill>
                <a:latin typeface="Roboto"/>
                <a:cs typeface="Roboto"/>
              </a:rPr>
              <a:t>heights</a:t>
            </a:r>
            <a:r>
              <a:rPr sz="2200" spc="-70" dirty="0">
                <a:solidFill>
                  <a:srgbClr val="313131"/>
                </a:solidFill>
                <a:latin typeface="Roboto"/>
                <a:cs typeface="Roboto"/>
              </a:rPr>
              <a:t> </a:t>
            </a:r>
            <a:r>
              <a:rPr sz="2200" dirty="0">
                <a:solidFill>
                  <a:srgbClr val="313131"/>
                </a:solidFill>
                <a:latin typeface="Roboto"/>
                <a:cs typeface="Roboto"/>
              </a:rPr>
              <a:t>of</a:t>
            </a:r>
            <a:r>
              <a:rPr sz="2200" spc="-70" dirty="0">
                <a:solidFill>
                  <a:srgbClr val="313131"/>
                </a:solidFill>
                <a:latin typeface="Roboto"/>
                <a:cs typeface="Roboto"/>
              </a:rPr>
              <a:t> </a:t>
            </a:r>
            <a:r>
              <a:rPr sz="2200" dirty="0">
                <a:solidFill>
                  <a:srgbClr val="313131"/>
                </a:solidFill>
                <a:latin typeface="Roboto"/>
                <a:cs typeface="Roboto"/>
              </a:rPr>
              <a:t>fathers</a:t>
            </a:r>
            <a:r>
              <a:rPr sz="2200" spc="-70" dirty="0">
                <a:solidFill>
                  <a:srgbClr val="313131"/>
                </a:solidFill>
                <a:latin typeface="Roboto"/>
                <a:cs typeface="Roboto"/>
              </a:rPr>
              <a:t> </a:t>
            </a:r>
            <a:r>
              <a:rPr sz="2200" dirty="0">
                <a:solidFill>
                  <a:srgbClr val="313131"/>
                </a:solidFill>
                <a:latin typeface="Roboto"/>
                <a:cs typeface="Roboto"/>
              </a:rPr>
              <a:t>and</a:t>
            </a:r>
            <a:r>
              <a:rPr sz="2200" spc="-75" dirty="0">
                <a:solidFill>
                  <a:srgbClr val="313131"/>
                </a:solidFill>
                <a:latin typeface="Roboto"/>
                <a:cs typeface="Roboto"/>
              </a:rPr>
              <a:t> </a:t>
            </a:r>
            <a:r>
              <a:rPr sz="2200" spc="-20" dirty="0">
                <a:solidFill>
                  <a:srgbClr val="313131"/>
                </a:solidFill>
                <a:latin typeface="Roboto"/>
                <a:cs typeface="Roboto"/>
              </a:rPr>
              <a:t>their </a:t>
            </a:r>
            <a:r>
              <a:rPr sz="2200" spc="-10" dirty="0">
                <a:solidFill>
                  <a:srgbClr val="313131"/>
                </a:solidFill>
                <a:latin typeface="Roboto"/>
                <a:cs typeface="Roboto"/>
              </a:rPr>
              <a:t>sons.</a:t>
            </a:r>
            <a:endParaRPr sz="2200" dirty="0">
              <a:latin typeface="Roboto"/>
              <a:cs typeface="Roboto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201079" y="1127075"/>
            <a:ext cx="2611271" cy="3544800"/>
          </a:xfrm>
          <a:prstGeom prst="rect">
            <a:avLst/>
          </a:prstGeom>
        </p:spPr>
      </p:pic>
    </p:spTree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5" dirty="0"/>
              <a:t>History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4725" y="1291824"/>
            <a:ext cx="3817620" cy="2827655"/>
          </a:xfrm>
          <a:prstGeom prst="rect">
            <a:avLst/>
          </a:prstGeom>
        </p:spPr>
        <p:txBody>
          <a:bodyPr vert="horz" wrap="square" lIns="0" tIns="26034" rIns="0" bIns="0" rtlCol="0">
            <a:spAutoFit/>
          </a:bodyPr>
          <a:lstStyle/>
          <a:p>
            <a:pPr marL="12700" marR="5080">
              <a:lnSpc>
                <a:spcPts val="2620"/>
              </a:lnSpc>
              <a:spcBef>
                <a:spcPts val="204"/>
              </a:spcBef>
            </a:pPr>
            <a:r>
              <a:rPr sz="2200" dirty="0">
                <a:solidFill>
                  <a:srgbClr val="313131"/>
                </a:solidFill>
                <a:latin typeface="Roboto"/>
                <a:cs typeface="Roboto"/>
              </a:rPr>
              <a:t>What</a:t>
            </a:r>
            <a:r>
              <a:rPr sz="2200" spc="-75" dirty="0">
                <a:solidFill>
                  <a:srgbClr val="313131"/>
                </a:solidFill>
                <a:latin typeface="Roboto"/>
                <a:cs typeface="Roboto"/>
              </a:rPr>
              <a:t> </a:t>
            </a:r>
            <a:r>
              <a:rPr sz="2200" dirty="0">
                <a:solidFill>
                  <a:srgbClr val="313131"/>
                </a:solidFill>
                <a:latin typeface="Roboto"/>
                <a:cs typeface="Roboto"/>
              </a:rPr>
              <a:t>he</a:t>
            </a:r>
            <a:r>
              <a:rPr sz="2200" spc="-75" dirty="0">
                <a:solidFill>
                  <a:srgbClr val="313131"/>
                </a:solidFill>
                <a:latin typeface="Roboto"/>
                <a:cs typeface="Roboto"/>
              </a:rPr>
              <a:t> </a:t>
            </a:r>
            <a:r>
              <a:rPr sz="2200" spc="-10" dirty="0">
                <a:solidFill>
                  <a:srgbClr val="313131"/>
                </a:solidFill>
                <a:latin typeface="Roboto"/>
                <a:cs typeface="Roboto"/>
              </a:rPr>
              <a:t>discovered</a:t>
            </a:r>
            <a:r>
              <a:rPr sz="2200" spc="-75" dirty="0">
                <a:solidFill>
                  <a:srgbClr val="313131"/>
                </a:solidFill>
                <a:latin typeface="Roboto"/>
                <a:cs typeface="Roboto"/>
              </a:rPr>
              <a:t> </a:t>
            </a:r>
            <a:r>
              <a:rPr sz="2200" dirty="0">
                <a:solidFill>
                  <a:srgbClr val="313131"/>
                </a:solidFill>
                <a:latin typeface="Roboto"/>
                <a:cs typeface="Roboto"/>
              </a:rPr>
              <a:t>was</a:t>
            </a:r>
            <a:r>
              <a:rPr sz="2200" spc="-70" dirty="0">
                <a:solidFill>
                  <a:srgbClr val="313131"/>
                </a:solidFill>
                <a:latin typeface="Roboto"/>
                <a:cs typeface="Roboto"/>
              </a:rPr>
              <a:t> </a:t>
            </a:r>
            <a:r>
              <a:rPr sz="2200" spc="-10" dirty="0">
                <a:solidFill>
                  <a:srgbClr val="313131"/>
                </a:solidFill>
                <a:latin typeface="Roboto"/>
                <a:cs typeface="Roboto"/>
              </a:rPr>
              <a:t>that</a:t>
            </a:r>
            <a:r>
              <a:rPr sz="2200" spc="-75" dirty="0">
                <a:solidFill>
                  <a:srgbClr val="313131"/>
                </a:solidFill>
                <a:latin typeface="Roboto"/>
                <a:cs typeface="Roboto"/>
              </a:rPr>
              <a:t> </a:t>
            </a:r>
            <a:r>
              <a:rPr sz="2200" spc="-50" dirty="0">
                <a:solidFill>
                  <a:srgbClr val="313131"/>
                </a:solidFill>
                <a:latin typeface="Roboto"/>
                <a:cs typeface="Roboto"/>
              </a:rPr>
              <a:t>a </a:t>
            </a:r>
            <a:r>
              <a:rPr sz="2200" spc="-20" dirty="0">
                <a:solidFill>
                  <a:srgbClr val="313131"/>
                </a:solidFill>
                <a:latin typeface="Roboto"/>
                <a:cs typeface="Roboto"/>
              </a:rPr>
              <a:t>man's</a:t>
            </a:r>
            <a:r>
              <a:rPr sz="2200" spc="-85" dirty="0">
                <a:solidFill>
                  <a:srgbClr val="313131"/>
                </a:solidFill>
                <a:latin typeface="Roboto"/>
                <a:cs typeface="Roboto"/>
              </a:rPr>
              <a:t> </a:t>
            </a:r>
            <a:r>
              <a:rPr sz="2200" dirty="0">
                <a:solidFill>
                  <a:srgbClr val="313131"/>
                </a:solidFill>
                <a:latin typeface="Roboto"/>
                <a:cs typeface="Roboto"/>
              </a:rPr>
              <a:t>son</a:t>
            </a:r>
            <a:r>
              <a:rPr sz="2200" spc="-80" dirty="0">
                <a:solidFill>
                  <a:srgbClr val="313131"/>
                </a:solidFill>
                <a:latin typeface="Roboto"/>
                <a:cs typeface="Roboto"/>
              </a:rPr>
              <a:t> </a:t>
            </a:r>
            <a:r>
              <a:rPr sz="2200" dirty="0">
                <a:solidFill>
                  <a:srgbClr val="313131"/>
                </a:solidFill>
                <a:latin typeface="Roboto"/>
                <a:cs typeface="Roboto"/>
              </a:rPr>
              <a:t>tended</a:t>
            </a:r>
            <a:r>
              <a:rPr sz="2200" spc="-85" dirty="0">
                <a:solidFill>
                  <a:srgbClr val="313131"/>
                </a:solidFill>
                <a:latin typeface="Roboto"/>
                <a:cs typeface="Roboto"/>
              </a:rPr>
              <a:t> </a:t>
            </a:r>
            <a:r>
              <a:rPr sz="2200" dirty="0">
                <a:solidFill>
                  <a:srgbClr val="313131"/>
                </a:solidFill>
                <a:latin typeface="Roboto"/>
                <a:cs typeface="Roboto"/>
              </a:rPr>
              <a:t>to</a:t>
            </a:r>
            <a:r>
              <a:rPr sz="2200" spc="-80" dirty="0">
                <a:solidFill>
                  <a:srgbClr val="313131"/>
                </a:solidFill>
                <a:latin typeface="Roboto"/>
                <a:cs typeface="Roboto"/>
              </a:rPr>
              <a:t> </a:t>
            </a:r>
            <a:r>
              <a:rPr sz="2200" spc="-25" dirty="0">
                <a:solidFill>
                  <a:srgbClr val="313131"/>
                </a:solidFill>
                <a:latin typeface="Roboto"/>
                <a:cs typeface="Roboto"/>
              </a:rPr>
              <a:t>be roughly</a:t>
            </a:r>
            <a:r>
              <a:rPr sz="2200" spc="-85" dirty="0">
                <a:solidFill>
                  <a:srgbClr val="313131"/>
                </a:solidFill>
                <a:latin typeface="Roboto"/>
                <a:cs typeface="Roboto"/>
              </a:rPr>
              <a:t> </a:t>
            </a:r>
            <a:r>
              <a:rPr sz="2200" dirty="0">
                <a:solidFill>
                  <a:srgbClr val="313131"/>
                </a:solidFill>
                <a:latin typeface="Roboto"/>
                <a:cs typeface="Roboto"/>
              </a:rPr>
              <a:t>as</a:t>
            </a:r>
            <a:r>
              <a:rPr sz="2200" spc="-80" dirty="0">
                <a:solidFill>
                  <a:srgbClr val="313131"/>
                </a:solidFill>
                <a:latin typeface="Roboto"/>
                <a:cs typeface="Roboto"/>
              </a:rPr>
              <a:t> </a:t>
            </a:r>
            <a:r>
              <a:rPr sz="2200" dirty="0">
                <a:solidFill>
                  <a:srgbClr val="313131"/>
                </a:solidFill>
                <a:latin typeface="Roboto"/>
                <a:cs typeface="Roboto"/>
              </a:rPr>
              <a:t>tall</a:t>
            </a:r>
            <a:r>
              <a:rPr sz="2200" spc="-85" dirty="0">
                <a:solidFill>
                  <a:srgbClr val="313131"/>
                </a:solidFill>
                <a:latin typeface="Roboto"/>
                <a:cs typeface="Roboto"/>
              </a:rPr>
              <a:t> </a:t>
            </a:r>
            <a:r>
              <a:rPr sz="2200" dirty="0">
                <a:solidFill>
                  <a:srgbClr val="313131"/>
                </a:solidFill>
                <a:latin typeface="Roboto"/>
                <a:cs typeface="Roboto"/>
              </a:rPr>
              <a:t>as</a:t>
            </a:r>
            <a:r>
              <a:rPr sz="2200" spc="-85" dirty="0">
                <a:solidFill>
                  <a:srgbClr val="313131"/>
                </a:solidFill>
                <a:latin typeface="Roboto"/>
                <a:cs typeface="Roboto"/>
              </a:rPr>
              <a:t> </a:t>
            </a:r>
            <a:r>
              <a:rPr sz="2200" dirty="0">
                <a:solidFill>
                  <a:srgbClr val="313131"/>
                </a:solidFill>
                <a:latin typeface="Roboto"/>
                <a:cs typeface="Roboto"/>
              </a:rPr>
              <a:t>his</a:t>
            </a:r>
            <a:r>
              <a:rPr sz="2200" spc="-80" dirty="0">
                <a:solidFill>
                  <a:srgbClr val="313131"/>
                </a:solidFill>
                <a:latin typeface="Roboto"/>
                <a:cs typeface="Roboto"/>
              </a:rPr>
              <a:t> </a:t>
            </a:r>
            <a:r>
              <a:rPr sz="2200" spc="-10" dirty="0">
                <a:solidFill>
                  <a:srgbClr val="313131"/>
                </a:solidFill>
                <a:latin typeface="Roboto"/>
                <a:cs typeface="Roboto"/>
              </a:rPr>
              <a:t>father.</a:t>
            </a:r>
            <a:endParaRPr sz="2200">
              <a:latin typeface="Roboto"/>
              <a:cs typeface="Roboto"/>
            </a:endParaRPr>
          </a:p>
          <a:p>
            <a:pPr marL="12700" marR="238760">
              <a:lnSpc>
                <a:spcPts val="2630"/>
              </a:lnSpc>
              <a:spcBef>
                <a:spcPts val="1050"/>
              </a:spcBef>
            </a:pPr>
            <a:r>
              <a:rPr sz="2200" dirty="0">
                <a:solidFill>
                  <a:srgbClr val="313131"/>
                </a:solidFill>
                <a:latin typeface="Roboto"/>
                <a:cs typeface="Roboto"/>
              </a:rPr>
              <a:t>However</a:t>
            </a:r>
            <a:r>
              <a:rPr sz="2200" spc="-125" dirty="0">
                <a:solidFill>
                  <a:srgbClr val="313131"/>
                </a:solidFill>
                <a:latin typeface="Roboto"/>
                <a:cs typeface="Roboto"/>
              </a:rPr>
              <a:t> </a:t>
            </a:r>
            <a:r>
              <a:rPr sz="2200" spc="-10" dirty="0">
                <a:solidFill>
                  <a:srgbClr val="313131"/>
                </a:solidFill>
                <a:latin typeface="Roboto"/>
                <a:cs typeface="Roboto"/>
              </a:rPr>
              <a:t>Galton's </a:t>
            </a:r>
            <a:r>
              <a:rPr sz="2200" spc="-25" dirty="0">
                <a:solidFill>
                  <a:srgbClr val="313131"/>
                </a:solidFill>
                <a:latin typeface="Roboto"/>
                <a:cs typeface="Roboto"/>
              </a:rPr>
              <a:t>breakthrough</a:t>
            </a:r>
            <a:r>
              <a:rPr sz="2200" spc="-80" dirty="0">
                <a:solidFill>
                  <a:srgbClr val="313131"/>
                </a:solidFill>
                <a:latin typeface="Roboto"/>
                <a:cs typeface="Roboto"/>
              </a:rPr>
              <a:t> </a:t>
            </a:r>
            <a:r>
              <a:rPr sz="2200" dirty="0">
                <a:solidFill>
                  <a:srgbClr val="313131"/>
                </a:solidFill>
                <a:latin typeface="Roboto"/>
                <a:cs typeface="Roboto"/>
              </a:rPr>
              <a:t>was</a:t>
            </a:r>
            <a:r>
              <a:rPr sz="2200" spc="-75" dirty="0">
                <a:solidFill>
                  <a:srgbClr val="313131"/>
                </a:solidFill>
                <a:latin typeface="Roboto"/>
                <a:cs typeface="Roboto"/>
              </a:rPr>
              <a:t> </a:t>
            </a:r>
            <a:r>
              <a:rPr sz="2200" spc="-10" dirty="0">
                <a:solidFill>
                  <a:srgbClr val="313131"/>
                </a:solidFill>
                <a:latin typeface="Roboto"/>
                <a:cs typeface="Roboto"/>
              </a:rPr>
              <a:t>that</a:t>
            </a:r>
            <a:r>
              <a:rPr sz="2200" spc="-70" dirty="0">
                <a:solidFill>
                  <a:srgbClr val="313131"/>
                </a:solidFill>
                <a:latin typeface="Roboto"/>
                <a:cs typeface="Roboto"/>
              </a:rPr>
              <a:t> </a:t>
            </a:r>
            <a:r>
              <a:rPr sz="2200" spc="-25" dirty="0">
                <a:solidFill>
                  <a:srgbClr val="313131"/>
                </a:solidFill>
                <a:latin typeface="Roboto"/>
                <a:cs typeface="Roboto"/>
              </a:rPr>
              <a:t>the </a:t>
            </a:r>
            <a:r>
              <a:rPr sz="2200" spc="-20" dirty="0">
                <a:solidFill>
                  <a:srgbClr val="313131"/>
                </a:solidFill>
                <a:latin typeface="Roboto"/>
                <a:cs typeface="Roboto"/>
              </a:rPr>
              <a:t>son's</a:t>
            </a:r>
            <a:r>
              <a:rPr sz="2200" spc="-60" dirty="0">
                <a:solidFill>
                  <a:srgbClr val="313131"/>
                </a:solidFill>
                <a:latin typeface="Roboto"/>
                <a:cs typeface="Roboto"/>
              </a:rPr>
              <a:t> </a:t>
            </a:r>
            <a:r>
              <a:rPr sz="2200" spc="-10" dirty="0">
                <a:solidFill>
                  <a:srgbClr val="313131"/>
                </a:solidFill>
                <a:latin typeface="Roboto"/>
                <a:cs typeface="Roboto"/>
              </a:rPr>
              <a:t>height</a:t>
            </a:r>
            <a:r>
              <a:rPr sz="2200" spc="-45" dirty="0">
                <a:solidFill>
                  <a:srgbClr val="313131"/>
                </a:solidFill>
                <a:latin typeface="Roboto"/>
                <a:cs typeface="Roboto"/>
              </a:rPr>
              <a:t> </a:t>
            </a:r>
            <a:r>
              <a:rPr sz="2200" b="1" dirty="0">
                <a:solidFill>
                  <a:srgbClr val="313131"/>
                </a:solidFill>
                <a:latin typeface="Roboto"/>
                <a:cs typeface="Roboto"/>
              </a:rPr>
              <a:t>tended</a:t>
            </a:r>
            <a:r>
              <a:rPr sz="2200" b="1" spc="-60" dirty="0">
                <a:solidFill>
                  <a:srgbClr val="313131"/>
                </a:solidFill>
                <a:latin typeface="Roboto"/>
                <a:cs typeface="Roboto"/>
              </a:rPr>
              <a:t> </a:t>
            </a:r>
            <a:r>
              <a:rPr sz="2200" b="1" dirty="0">
                <a:solidFill>
                  <a:srgbClr val="313131"/>
                </a:solidFill>
                <a:latin typeface="Roboto"/>
                <a:cs typeface="Roboto"/>
              </a:rPr>
              <a:t>to</a:t>
            </a:r>
            <a:r>
              <a:rPr sz="2200" b="1" spc="-60" dirty="0">
                <a:solidFill>
                  <a:srgbClr val="313131"/>
                </a:solidFill>
                <a:latin typeface="Roboto"/>
                <a:cs typeface="Roboto"/>
              </a:rPr>
              <a:t> </a:t>
            </a:r>
            <a:r>
              <a:rPr sz="2200" b="1" spc="-25" dirty="0">
                <a:solidFill>
                  <a:srgbClr val="313131"/>
                </a:solidFill>
                <a:latin typeface="Roboto"/>
                <a:cs typeface="Roboto"/>
              </a:rPr>
              <a:t>be </a:t>
            </a:r>
            <a:r>
              <a:rPr sz="2200" b="1" dirty="0">
                <a:solidFill>
                  <a:srgbClr val="313131"/>
                </a:solidFill>
                <a:latin typeface="Roboto"/>
                <a:cs typeface="Roboto"/>
              </a:rPr>
              <a:t>closer</a:t>
            </a:r>
            <a:r>
              <a:rPr sz="2200" b="1" spc="-15" dirty="0">
                <a:solidFill>
                  <a:srgbClr val="313131"/>
                </a:solidFill>
                <a:latin typeface="Roboto"/>
                <a:cs typeface="Roboto"/>
              </a:rPr>
              <a:t> </a:t>
            </a:r>
            <a:r>
              <a:rPr sz="2200" b="1" dirty="0">
                <a:solidFill>
                  <a:srgbClr val="313131"/>
                </a:solidFill>
                <a:latin typeface="Roboto"/>
                <a:cs typeface="Roboto"/>
              </a:rPr>
              <a:t>to</a:t>
            </a:r>
            <a:r>
              <a:rPr sz="2200" b="1" spc="-10" dirty="0">
                <a:solidFill>
                  <a:srgbClr val="313131"/>
                </a:solidFill>
                <a:latin typeface="Roboto"/>
                <a:cs typeface="Roboto"/>
              </a:rPr>
              <a:t> </a:t>
            </a:r>
            <a:r>
              <a:rPr sz="2200" b="1" dirty="0">
                <a:solidFill>
                  <a:srgbClr val="313131"/>
                </a:solidFill>
                <a:latin typeface="Roboto"/>
                <a:cs typeface="Roboto"/>
              </a:rPr>
              <a:t>the</a:t>
            </a:r>
            <a:r>
              <a:rPr sz="2200" b="1" spc="-15" dirty="0">
                <a:solidFill>
                  <a:srgbClr val="313131"/>
                </a:solidFill>
                <a:latin typeface="Roboto"/>
                <a:cs typeface="Roboto"/>
              </a:rPr>
              <a:t> </a:t>
            </a:r>
            <a:r>
              <a:rPr sz="2200" b="1" dirty="0">
                <a:solidFill>
                  <a:srgbClr val="313131"/>
                </a:solidFill>
                <a:latin typeface="Roboto"/>
                <a:cs typeface="Roboto"/>
              </a:rPr>
              <a:t>overall</a:t>
            </a:r>
            <a:r>
              <a:rPr sz="2200" b="1" spc="-10" dirty="0">
                <a:solidFill>
                  <a:srgbClr val="313131"/>
                </a:solidFill>
                <a:latin typeface="Roboto"/>
                <a:cs typeface="Roboto"/>
              </a:rPr>
              <a:t> average </a:t>
            </a:r>
            <a:r>
              <a:rPr sz="2200" spc="-10" dirty="0">
                <a:solidFill>
                  <a:srgbClr val="313131"/>
                </a:solidFill>
                <a:latin typeface="Roboto"/>
                <a:cs typeface="Roboto"/>
              </a:rPr>
              <a:t>height</a:t>
            </a:r>
            <a:r>
              <a:rPr sz="2200" spc="-50" dirty="0">
                <a:solidFill>
                  <a:srgbClr val="313131"/>
                </a:solidFill>
                <a:latin typeface="Roboto"/>
                <a:cs typeface="Roboto"/>
              </a:rPr>
              <a:t> </a:t>
            </a:r>
            <a:r>
              <a:rPr sz="2200" dirty="0">
                <a:solidFill>
                  <a:srgbClr val="313131"/>
                </a:solidFill>
                <a:latin typeface="Roboto"/>
                <a:cs typeface="Roboto"/>
              </a:rPr>
              <a:t>of</a:t>
            </a:r>
            <a:r>
              <a:rPr sz="2200" spc="-50" dirty="0">
                <a:solidFill>
                  <a:srgbClr val="313131"/>
                </a:solidFill>
                <a:latin typeface="Roboto"/>
                <a:cs typeface="Roboto"/>
              </a:rPr>
              <a:t> </a:t>
            </a:r>
            <a:r>
              <a:rPr sz="2200" dirty="0">
                <a:solidFill>
                  <a:srgbClr val="313131"/>
                </a:solidFill>
                <a:latin typeface="Roboto"/>
                <a:cs typeface="Roboto"/>
              </a:rPr>
              <a:t>all</a:t>
            </a:r>
            <a:r>
              <a:rPr sz="2200" spc="-50" dirty="0">
                <a:solidFill>
                  <a:srgbClr val="313131"/>
                </a:solidFill>
                <a:latin typeface="Roboto"/>
                <a:cs typeface="Roboto"/>
              </a:rPr>
              <a:t> </a:t>
            </a:r>
            <a:r>
              <a:rPr sz="2200" spc="-10" dirty="0">
                <a:solidFill>
                  <a:srgbClr val="313131"/>
                </a:solidFill>
                <a:latin typeface="Roboto"/>
                <a:cs typeface="Roboto"/>
              </a:rPr>
              <a:t>people.</a:t>
            </a:r>
            <a:endParaRPr sz="2200">
              <a:latin typeface="Roboto"/>
              <a:cs typeface="Roboto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201079" y="1127075"/>
            <a:ext cx="2611271" cy="3544800"/>
          </a:xfrm>
          <a:prstGeom prst="rect">
            <a:avLst/>
          </a:prstGeom>
        </p:spPr>
      </p:pic>
    </p:spTree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Example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4909524" cy="308699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15599"/>
              </a:lnSpc>
              <a:spcBef>
                <a:spcPts val="100"/>
              </a:spcBef>
            </a:pPr>
            <a:r>
              <a:rPr sz="2000" dirty="0">
                <a:latin typeface="Arial MT"/>
                <a:cs typeface="Arial MT"/>
              </a:rPr>
              <a:t>Let's</a:t>
            </a:r>
            <a:r>
              <a:rPr sz="2000" spc="-7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take</a:t>
            </a:r>
            <a:r>
              <a:rPr sz="2000" spc="-55" dirty="0"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B5394"/>
                </a:solidFill>
                <a:latin typeface="Arial MT"/>
                <a:cs typeface="Arial MT"/>
              </a:rPr>
              <a:t>Shaquille</a:t>
            </a:r>
            <a:r>
              <a:rPr sz="2000" spc="-60" dirty="0">
                <a:solidFill>
                  <a:srgbClr val="0B539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B5394"/>
                </a:solidFill>
                <a:latin typeface="Arial MT"/>
                <a:cs typeface="Arial MT"/>
              </a:rPr>
              <a:t>O'Neal</a:t>
            </a:r>
            <a:r>
              <a:rPr sz="2000" spc="-55" dirty="0">
                <a:solidFill>
                  <a:srgbClr val="0B5394"/>
                </a:solidFill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as</a:t>
            </a:r>
            <a:r>
              <a:rPr sz="2000" spc="-60" dirty="0">
                <a:latin typeface="Arial MT"/>
                <a:cs typeface="Arial MT"/>
              </a:rPr>
              <a:t> </a:t>
            </a:r>
            <a:r>
              <a:rPr sz="2000" spc="-25" dirty="0">
                <a:latin typeface="Arial MT"/>
                <a:cs typeface="Arial MT"/>
              </a:rPr>
              <a:t>an </a:t>
            </a:r>
            <a:r>
              <a:rPr sz="2000" dirty="0">
                <a:latin typeface="Arial MT"/>
                <a:cs typeface="Arial MT"/>
              </a:rPr>
              <a:t>example.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Shaq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is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really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tall:7ft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spc="-25" dirty="0">
                <a:latin typeface="Arial MT"/>
                <a:cs typeface="Arial MT"/>
              </a:rPr>
              <a:t>1in </a:t>
            </a:r>
            <a:r>
              <a:rPr sz="2000" dirty="0">
                <a:latin typeface="Arial MT"/>
                <a:cs typeface="Arial MT"/>
              </a:rPr>
              <a:t>(2.2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meters).</a:t>
            </a:r>
            <a:endParaRPr sz="2000" dirty="0">
              <a:latin typeface="Arial MT"/>
              <a:cs typeface="Arial MT"/>
            </a:endParaRPr>
          </a:p>
          <a:p>
            <a:pPr marL="12700" marR="87630">
              <a:lnSpc>
                <a:spcPct val="115599"/>
              </a:lnSpc>
              <a:spcBef>
                <a:spcPts val="1575"/>
              </a:spcBef>
            </a:pPr>
            <a:r>
              <a:rPr sz="2000" dirty="0">
                <a:latin typeface="Arial MT"/>
                <a:cs typeface="Arial MT"/>
              </a:rPr>
              <a:t>If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Shaq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has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son,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chances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spc="-25" dirty="0">
                <a:latin typeface="Arial MT"/>
                <a:cs typeface="Arial MT"/>
              </a:rPr>
              <a:t>are </a:t>
            </a:r>
            <a:r>
              <a:rPr sz="2000" dirty="0">
                <a:latin typeface="Arial MT"/>
                <a:cs typeface="Arial MT"/>
              </a:rPr>
              <a:t>he'll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be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pretty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tall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too.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However, </a:t>
            </a:r>
            <a:r>
              <a:rPr sz="2000" dirty="0">
                <a:latin typeface="Arial MT"/>
                <a:cs typeface="Arial MT"/>
              </a:rPr>
              <a:t>Shaq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is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such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an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anomaly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spc="-20" dirty="0">
                <a:latin typeface="Arial MT"/>
                <a:cs typeface="Arial MT"/>
              </a:rPr>
              <a:t>that </a:t>
            </a:r>
            <a:r>
              <a:rPr sz="2000" dirty="0">
                <a:latin typeface="Arial MT"/>
                <a:cs typeface="Arial MT"/>
              </a:rPr>
              <a:t>there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is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also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very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good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chance </a:t>
            </a:r>
            <a:r>
              <a:rPr sz="2000" dirty="0">
                <a:latin typeface="Arial MT"/>
                <a:cs typeface="Arial MT"/>
              </a:rPr>
              <a:t>that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his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son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will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be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b="1" dirty="0">
                <a:latin typeface="Arial"/>
                <a:cs typeface="Arial"/>
              </a:rPr>
              <a:t>not</a:t>
            </a:r>
            <a:r>
              <a:rPr sz="2000" b="1" spc="-3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be</a:t>
            </a:r>
            <a:r>
              <a:rPr sz="2000" b="1" spc="-3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as</a:t>
            </a:r>
            <a:r>
              <a:rPr sz="2000" b="1" spc="-35" dirty="0">
                <a:latin typeface="Arial"/>
                <a:cs typeface="Arial"/>
              </a:rPr>
              <a:t> </a:t>
            </a:r>
            <a:r>
              <a:rPr sz="2000" b="1" spc="-20" dirty="0">
                <a:latin typeface="Arial"/>
                <a:cs typeface="Arial"/>
              </a:rPr>
              <a:t>tall </a:t>
            </a:r>
            <a:r>
              <a:rPr sz="2000" b="1" dirty="0">
                <a:latin typeface="Arial"/>
                <a:cs typeface="Arial"/>
              </a:rPr>
              <a:t>as</a:t>
            </a:r>
            <a:r>
              <a:rPr sz="2000" b="1" spc="-35" dirty="0">
                <a:latin typeface="Arial"/>
                <a:cs typeface="Arial"/>
              </a:rPr>
              <a:t> </a:t>
            </a:r>
            <a:r>
              <a:rPr sz="2000" b="1" spc="-10" dirty="0">
                <a:latin typeface="Arial"/>
                <a:cs typeface="Arial"/>
              </a:rPr>
              <a:t>Shaq</a:t>
            </a:r>
            <a:r>
              <a:rPr sz="2000" spc="-10" dirty="0">
                <a:latin typeface="Arial MT"/>
                <a:cs typeface="Arial MT"/>
              </a:rPr>
              <a:t>.</a:t>
            </a:r>
            <a:endParaRPr sz="2000" dirty="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383250" y="605475"/>
            <a:ext cx="2720874" cy="4195899"/>
          </a:xfrm>
          <a:prstGeom prst="rect">
            <a:avLst/>
          </a:prstGeom>
        </p:spPr>
      </p:pic>
    </p:spTree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Example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4724" y="1291824"/>
            <a:ext cx="4635331" cy="2501325"/>
          </a:xfrm>
          <a:prstGeom prst="rect">
            <a:avLst/>
          </a:prstGeom>
        </p:spPr>
        <p:txBody>
          <a:bodyPr vert="horz" wrap="square" lIns="0" tIns="26034" rIns="0" bIns="0" rtlCol="0">
            <a:spAutoFit/>
          </a:bodyPr>
          <a:lstStyle/>
          <a:p>
            <a:pPr marL="12700" marR="12065">
              <a:lnSpc>
                <a:spcPts val="2620"/>
              </a:lnSpc>
              <a:spcBef>
                <a:spcPts val="204"/>
              </a:spcBef>
            </a:pPr>
            <a:r>
              <a:rPr sz="2200" spc="-20" dirty="0">
                <a:solidFill>
                  <a:srgbClr val="313131"/>
                </a:solidFill>
                <a:latin typeface="Roboto"/>
                <a:cs typeface="Roboto"/>
              </a:rPr>
              <a:t>Turns</a:t>
            </a:r>
            <a:r>
              <a:rPr sz="2200" spc="-90" dirty="0">
                <a:solidFill>
                  <a:srgbClr val="313131"/>
                </a:solidFill>
                <a:latin typeface="Roboto"/>
                <a:cs typeface="Roboto"/>
              </a:rPr>
              <a:t> </a:t>
            </a:r>
            <a:r>
              <a:rPr sz="2200" dirty="0">
                <a:solidFill>
                  <a:srgbClr val="313131"/>
                </a:solidFill>
                <a:latin typeface="Roboto"/>
                <a:cs typeface="Roboto"/>
              </a:rPr>
              <a:t>out</a:t>
            </a:r>
            <a:r>
              <a:rPr sz="2200" spc="-85" dirty="0">
                <a:solidFill>
                  <a:srgbClr val="313131"/>
                </a:solidFill>
                <a:latin typeface="Roboto"/>
                <a:cs typeface="Roboto"/>
              </a:rPr>
              <a:t> </a:t>
            </a:r>
            <a:r>
              <a:rPr sz="2200" dirty="0">
                <a:solidFill>
                  <a:srgbClr val="313131"/>
                </a:solidFill>
                <a:latin typeface="Roboto"/>
                <a:cs typeface="Roboto"/>
              </a:rPr>
              <a:t>this</a:t>
            </a:r>
            <a:r>
              <a:rPr sz="2200" spc="-85" dirty="0">
                <a:solidFill>
                  <a:srgbClr val="313131"/>
                </a:solidFill>
                <a:latin typeface="Roboto"/>
                <a:cs typeface="Roboto"/>
              </a:rPr>
              <a:t> </a:t>
            </a:r>
            <a:r>
              <a:rPr sz="2200" dirty="0">
                <a:solidFill>
                  <a:srgbClr val="313131"/>
                </a:solidFill>
                <a:latin typeface="Roboto"/>
                <a:cs typeface="Roboto"/>
              </a:rPr>
              <a:t>is</a:t>
            </a:r>
            <a:r>
              <a:rPr sz="2200" spc="-85" dirty="0">
                <a:solidFill>
                  <a:srgbClr val="313131"/>
                </a:solidFill>
                <a:latin typeface="Roboto"/>
                <a:cs typeface="Roboto"/>
              </a:rPr>
              <a:t> </a:t>
            </a:r>
            <a:r>
              <a:rPr sz="2200" dirty="0">
                <a:solidFill>
                  <a:srgbClr val="313131"/>
                </a:solidFill>
                <a:latin typeface="Roboto"/>
                <a:cs typeface="Roboto"/>
              </a:rPr>
              <a:t>the</a:t>
            </a:r>
            <a:r>
              <a:rPr sz="2200" spc="-90" dirty="0">
                <a:solidFill>
                  <a:srgbClr val="313131"/>
                </a:solidFill>
                <a:latin typeface="Roboto"/>
                <a:cs typeface="Roboto"/>
              </a:rPr>
              <a:t> </a:t>
            </a:r>
            <a:r>
              <a:rPr sz="2200" spc="-10" dirty="0">
                <a:solidFill>
                  <a:srgbClr val="313131"/>
                </a:solidFill>
                <a:latin typeface="Roboto"/>
                <a:cs typeface="Roboto"/>
              </a:rPr>
              <a:t>case: </a:t>
            </a:r>
            <a:r>
              <a:rPr sz="2200" spc="-35" dirty="0">
                <a:solidFill>
                  <a:srgbClr val="313131"/>
                </a:solidFill>
                <a:latin typeface="Roboto"/>
                <a:cs typeface="Roboto"/>
              </a:rPr>
              <a:t>Shaq's</a:t>
            </a:r>
            <a:r>
              <a:rPr sz="2200" spc="-60" dirty="0">
                <a:solidFill>
                  <a:srgbClr val="313131"/>
                </a:solidFill>
                <a:latin typeface="Roboto"/>
                <a:cs typeface="Roboto"/>
              </a:rPr>
              <a:t> </a:t>
            </a:r>
            <a:r>
              <a:rPr sz="2200" dirty="0">
                <a:solidFill>
                  <a:srgbClr val="313131"/>
                </a:solidFill>
                <a:latin typeface="Roboto"/>
                <a:cs typeface="Roboto"/>
              </a:rPr>
              <a:t>son</a:t>
            </a:r>
            <a:r>
              <a:rPr sz="2200" spc="-55" dirty="0">
                <a:solidFill>
                  <a:srgbClr val="313131"/>
                </a:solidFill>
                <a:latin typeface="Roboto"/>
                <a:cs typeface="Roboto"/>
              </a:rPr>
              <a:t> </a:t>
            </a:r>
            <a:r>
              <a:rPr sz="2200" dirty="0">
                <a:solidFill>
                  <a:srgbClr val="313131"/>
                </a:solidFill>
                <a:latin typeface="Roboto"/>
                <a:cs typeface="Roboto"/>
              </a:rPr>
              <a:t>is</a:t>
            </a:r>
            <a:r>
              <a:rPr sz="2200" spc="-60" dirty="0">
                <a:solidFill>
                  <a:srgbClr val="313131"/>
                </a:solidFill>
                <a:latin typeface="Roboto"/>
                <a:cs typeface="Roboto"/>
              </a:rPr>
              <a:t> </a:t>
            </a:r>
            <a:r>
              <a:rPr sz="2200" spc="-20" dirty="0">
                <a:solidFill>
                  <a:srgbClr val="313131"/>
                </a:solidFill>
                <a:latin typeface="Roboto"/>
                <a:cs typeface="Roboto"/>
              </a:rPr>
              <a:t>pretty</a:t>
            </a:r>
            <a:r>
              <a:rPr sz="2200" spc="-55" dirty="0">
                <a:solidFill>
                  <a:srgbClr val="313131"/>
                </a:solidFill>
                <a:latin typeface="Roboto"/>
                <a:cs typeface="Roboto"/>
              </a:rPr>
              <a:t> </a:t>
            </a:r>
            <a:r>
              <a:rPr sz="2200" dirty="0">
                <a:solidFill>
                  <a:srgbClr val="313131"/>
                </a:solidFill>
                <a:latin typeface="Roboto"/>
                <a:cs typeface="Roboto"/>
              </a:rPr>
              <a:t>tall</a:t>
            </a:r>
            <a:r>
              <a:rPr sz="2200" spc="-60" dirty="0">
                <a:solidFill>
                  <a:srgbClr val="313131"/>
                </a:solidFill>
                <a:latin typeface="Roboto"/>
                <a:cs typeface="Roboto"/>
              </a:rPr>
              <a:t> </a:t>
            </a:r>
            <a:r>
              <a:rPr sz="2200" dirty="0">
                <a:solidFill>
                  <a:srgbClr val="313131"/>
                </a:solidFill>
                <a:latin typeface="Roboto"/>
                <a:cs typeface="Roboto"/>
              </a:rPr>
              <a:t>(6</a:t>
            </a:r>
            <a:r>
              <a:rPr sz="2200" spc="-55" dirty="0">
                <a:solidFill>
                  <a:srgbClr val="313131"/>
                </a:solidFill>
                <a:latin typeface="Roboto"/>
                <a:cs typeface="Roboto"/>
              </a:rPr>
              <a:t> </a:t>
            </a:r>
            <a:r>
              <a:rPr sz="2200" dirty="0">
                <a:solidFill>
                  <a:srgbClr val="313131"/>
                </a:solidFill>
                <a:latin typeface="Roboto"/>
                <a:cs typeface="Roboto"/>
              </a:rPr>
              <a:t>ft</a:t>
            </a:r>
            <a:r>
              <a:rPr sz="2200" spc="-55" dirty="0">
                <a:solidFill>
                  <a:srgbClr val="313131"/>
                </a:solidFill>
                <a:latin typeface="Roboto"/>
                <a:cs typeface="Roboto"/>
              </a:rPr>
              <a:t> </a:t>
            </a:r>
            <a:r>
              <a:rPr sz="2200" spc="-50" dirty="0">
                <a:solidFill>
                  <a:srgbClr val="313131"/>
                </a:solidFill>
                <a:latin typeface="Roboto"/>
                <a:cs typeface="Roboto"/>
              </a:rPr>
              <a:t>7 </a:t>
            </a:r>
            <a:r>
              <a:rPr sz="2200" dirty="0">
                <a:solidFill>
                  <a:srgbClr val="313131"/>
                </a:solidFill>
                <a:latin typeface="Roboto"/>
                <a:cs typeface="Roboto"/>
              </a:rPr>
              <a:t>in),</a:t>
            </a:r>
            <a:r>
              <a:rPr sz="2200" spc="-85" dirty="0">
                <a:solidFill>
                  <a:srgbClr val="313131"/>
                </a:solidFill>
                <a:latin typeface="Roboto"/>
                <a:cs typeface="Roboto"/>
              </a:rPr>
              <a:t> </a:t>
            </a:r>
            <a:r>
              <a:rPr sz="2200" dirty="0">
                <a:solidFill>
                  <a:srgbClr val="313131"/>
                </a:solidFill>
                <a:latin typeface="Roboto"/>
                <a:cs typeface="Roboto"/>
              </a:rPr>
              <a:t>but</a:t>
            </a:r>
            <a:r>
              <a:rPr sz="2200" spc="-85" dirty="0">
                <a:solidFill>
                  <a:srgbClr val="313131"/>
                </a:solidFill>
                <a:latin typeface="Roboto"/>
                <a:cs typeface="Roboto"/>
              </a:rPr>
              <a:t> </a:t>
            </a:r>
            <a:r>
              <a:rPr sz="2200" dirty="0">
                <a:solidFill>
                  <a:srgbClr val="313131"/>
                </a:solidFill>
                <a:latin typeface="Roboto"/>
                <a:cs typeface="Roboto"/>
              </a:rPr>
              <a:t>not</a:t>
            </a:r>
            <a:r>
              <a:rPr sz="2200" spc="-85" dirty="0">
                <a:solidFill>
                  <a:srgbClr val="313131"/>
                </a:solidFill>
                <a:latin typeface="Roboto"/>
                <a:cs typeface="Roboto"/>
              </a:rPr>
              <a:t> </a:t>
            </a:r>
            <a:r>
              <a:rPr sz="2200" spc="-20" dirty="0">
                <a:solidFill>
                  <a:srgbClr val="313131"/>
                </a:solidFill>
                <a:latin typeface="Roboto"/>
                <a:cs typeface="Roboto"/>
              </a:rPr>
              <a:t>nearly</a:t>
            </a:r>
            <a:r>
              <a:rPr sz="2200" spc="-85" dirty="0">
                <a:solidFill>
                  <a:srgbClr val="313131"/>
                </a:solidFill>
                <a:latin typeface="Roboto"/>
                <a:cs typeface="Roboto"/>
              </a:rPr>
              <a:t> </a:t>
            </a:r>
            <a:r>
              <a:rPr sz="2200" dirty="0">
                <a:solidFill>
                  <a:srgbClr val="313131"/>
                </a:solidFill>
                <a:latin typeface="Roboto"/>
                <a:cs typeface="Roboto"/>
              </a:rPr>
              <a:t>as</a:t>
            </a:r>
            <a:r>
              <a:rPr sz="2200" spc="-85" dirty="0">
                <a:solidFill>
                  <a:srgbClr val="313131"/>
                </a:solidFill>
                <a:latin typeface="Roboto"/>
                <a:cs typeface="Roboto"/>
              </a:rPr>
              <a:t> </a:t>
            </a:r>
            <a:r>
              <a:rPr sz="2200" dirty="0">
                <a:solidFill>
                  <a:srgbClr val="313131"/>
                </a:solidFill>
                <a:latin typeface="Roboto"/>
                <a:cs typeface="Roboto"/>
              </a:rPr>
              <a:t>tall</a:t>
            </a:r>
            <a:r>
              <a:rPr sz="2200" spc="-80" dirty="0">
                <a:solidFill>
                  <a:srgbClr val="313131"/>
                </a:solidFill>
                <a:latin typeface="Roboto"/>
                <a:cs typeface="Roboto"/>
              </a:rPr>
              <a:t> </a:t>
            </a:r>
            <a:r>
              <a:rPr sz="2200" dirty="0">
                <a:solidFill>
                  <a:srgbClr val="313131"/>
                </a:solidFill>
                <a:latin typeface="Roboto"/>
                <a:cs typeface="Roboto"/>
              </a:rPr>
              <a:t>as</a:t>
            </a:r>
            <a:r>
              <a:rPr sz="2200" spc="-85" dirty="0">
                <a:solidFill>
                  <a:srgbClr val="313131"/>
                </a:solidFill>
                <a:latin typeface="Roboto"/>
                <a:cs typeface="Roboto"/>
              </a:rPr>
              <a:t> </a:t>
            </a:r>
            <a:r>
              <a:rPr sz="2200" spc="-25" dirty="0">
                <a:solidFill>
                  <a:srgbClr val="313131"/>
                </a:solidFill>
                <a:latin typeface="Roboto"/>
                <a:cs typeface="Roboto"/>
              </a:rPr>
              <a:t>his </a:t>
            </a:r>
            <a:r>
              <a:rPr sz="2200" spc="-20" dirty="0">
                <a:solidFill>
                  <a:srgbClr val="313131"/>
                </a:solidFill>
                <a:latin typeface="Roboto"/>
                <a:cs typeface="Roboto"/>
              </a:rPr>
              <a:t>dad.</a:t>
            </a:r>
            <a:endParaRPr sz="2200" dirty="0">
              <a:latin typeface="Roboto"/>
              <a:cs typeface="Roboto"/>
            </a:endParaRPr>
          </a:p>
          <a:p>
            <a:pPr marL="12700" marR="5080">
              <a:lnSpc>
                <a:spcPts val="2620"/>
              </a:lnSpc>
              <a:spcBef>
                <a:spcPts val="1070"/>
              </a:spcBef>
            </a:pPr>
            <a:r>
              <a:rPr sz="2200" spc="-10" dirty="0">
                <a:solidFill>
                  <a:srgbClr val="313131"/>
                </a:solidFill>
                <a:latin typeface="Roboto"/>
                <a:cs typeface="Roboto"/>
              </a:rPr>
              <a:t>Galton</a:t>
            </a:r>
            <a:r>
              <a:rPr sz="2200" spc="-95" dirty="0">
                <a:solidFill>
                  <a:srgbClr val="313131"/>
                </a:solidFill>
                <a:latin typeface="Roboto"/>
                <a:cs typeface="Roboto"/>
              </a:rPr>
              <a:t> </a:t>
            </a:r>
            <a:r>
              <a:rPr sz="2200" dirty="0">
                <a:solidFill>
                  <a:srgbClr val="313131"/>
                </a:solidFill>
                <a:latin typeface="Roboto"/>
                <a:cs typeface="Roboto"/>
              </a:rPr>
              <a:t>called</a:t>
            </a:r>
            <a:r>
              <a:rPr sz="2200" spc="-100" dirty="0">
                <a:solidFill>
                  <a:srgbClr val="313131"/>
                </a:solidFill>
                <a:latin typeface="Roboto"/>
                <a:cs typeface="Roboto"/>
              </a:rPr>
              <a:t> </a:t>
            </a:r>
            <a:r>
              <a:rPr sz="2200" spc="-20" dirty="0">
                <a:solidFill>
                  <a:srgbClr val="313131"/>
                </a:solidFill>
                <a:latin typeface="Roboto"/>
                <a:cs typeface="Roboto"/>
              </a:rPr>
              <a:t>this </a:t>
            </a:r>
            <a:r>
              <a:rPr sz="2200" spc="-10" dirty="0">
                <a:solidFill>
                  <a:srgbClr val="313131"/>
                </a:solidFill>
                <a:latin typeface="Roboto"/>
                <a:cs typeface="Roboto"/>
              </a:rPr>
              <a:t>phenomenon</a:t>
            </a:r>
            <a:r>
              <a:rPr sz="2200" spc="-20" dirty="0">
                <a:solidFill>
                  <a:srgbClr val="313131"/>
                </a:solidFill>
                <a:latin typeface="Roboto"/>
                <a:cs typeface="Roboto"/>
              </a:rPr>
              <a:t> </a:t>
            </a:r>
            <a:r>
              <a:rPr sz="2200" b="1" dirty="0">
                <a:solidFill>
                  <a:srgbClr val="313131"/>
                </a:solidFill>
                <a:latin typeface="Roboto"/>
                <a:cs typeface="Roboto"/>
              </a:rPr>
              <a:t>regression</a:t>
            </a:r>
            <a:r>
              <a:rPr sz="2200" dirty="0">
                <a:solidFill>
                  <a:srgbClr val="313131"/>
                </a:solidFill>
                <a:latin typeface="Roboto"/>
                <a:cs typeface="Roboto"/>
              </a:rPr>
              <a:t>,</a:t>
            </a:r>
            <a:r>
              <a:rPr sz="2200" spc="-30" dirty="0">
                <a:solidFill>
                  <a:srgbClr val="313131"/>
                </a:solidFill>
                <a:latin typeface="Roboto"/>
                <a:cs typeface="Roboto"/>
              </a:rPr>
              <a:t> </a:t>
            </a:r>
            <a:r>
              <a:rPr sz="2200" dirty="0">
                <a:solidFill>
                  <a:srgbClr val="313131"/>
                </a:solidFill>
                <a:latin typeface="Roboto"/>
                <a:cs typeface="Roboto"/>
              </a:rPr>
              <a:t>as</a:t>
            </a:r>
            <a:r>
              <a:rPr sz="2200" spc="-35" dirty="0">
                <a:solidFill>
                  <a:srgbClr val="313131"/>
                </a:solidFill>
                <a:latin typeface="Roboto"/>
                <a:cs typeface="Roboto"/>
              </a:rPr>
              <a:t> </a:t>
            </a:r>
            <a:r>
              <a:rPr sz="2200" spc="-25" dirty="0">
                <a:solidFill>
                  <a:srgbClr val="313131"/>
                </a:solidFill>
                <a:latin typeface="Roboto"/>
                <a:cs typeface="Roboto"/>
              </a:rPr>
              <a:t>in </a:t>
            </a:r>
            <a:r>
              <a:rPr sz="2200" dirty="0">
                <a:solidFill>
                  <a:srgbClr val="313131"/>
                </a:solidFill>
                <a:latin typeface="Roboto"/>
                <a:cs typeface="Roboto"/>
              </a:rPr>
              <a:t>"A</a:t>
            </a:r>
            <a:r>
              <a:rPr sz="2200" spc="-75" dirty="0">
                <a:solidFill>
                  <a:srgbClr val="313131"/>
                </a:solidFill>
                <a:latin typeface="Roboto"/>
                <a:cs typeface="Roboto"/>
              </a:rPr>
              <a:t> </a:t>
            </a:r>
            <a:r>
              <a:rPr sz="2200" spc="-25" dirty="0">
                <a:solidFill>
                  <a:srgbClr val="313131"/>
                </a:solidFill>
                <a:latin typeface="Roboto"/>
                <a:cs typeface="Roboto"/>
              </a:rPr>
              <a:t>father's</a:t>
            </a:r>
            <a:r>
              <a:rPr sz="2200" spc="-75" dirty="0">
                <a:solidFill>
                  <a:srgbClr val="313131"/>
                </a:solidFill>
                <a:latin typeface="Roboto"/>
                <a:cs typeface="Roboto"/>
              </a:rPr>
              <a:t> </a:t>
            </a:r>
            <a:r>
              <a:rPr sz="2200" spc="-20" dirty="0">
                <a:solidFill>
                  <a:srgbClr val="313131"/>
                </a:solidFill>
                <a:latin typeface="Roboto"/>
                <a:cs typeface="Roboto"/>
              </a:rPr>
              <a:t>son's</a:t>
            </a:r>
            <a:r>
              <a:rPr sz="2200" spc="-75" dirty="0">
                <a:solidFill>
                  <a:srgbClr val="313131"/>
                </a:solidFill>
                <a:latin typeface="Roboto"/>
                <a:cs typeface="Roboto"/>
              </a:rPr>
              <a:t> </a:t>
            </a:r>
            <a:r>
              <a:rPr sz="2200" spc="-10" dirty="0">
                <a:solidFill>
                  <a:srgbClr val="313131"/>
                </a:solidFill>
                <a:latin typeface="Roboto"/>
                <a:cs typeface="Roboto"/>
              </a:rPr>
              <a:t>height</a:t>
            </a:r>
            <a:r>
              <a:rPr sz="2200" spc="-70" dirty="0">
                <a:solidFill>
                  <a:srgbClr val="313131"/>
                </a:solidFill>
                <a:latin typeface="Roboto"/>
                <a:cs typeface="Roboto"/>
              </a:rPr>
              <a:t> </a:t>
            </a:r>
            <a:r>
              <a:rPr sz="2200" spc="-10" dirty="0">
                <a:solidFill>
                  <a:srgbClr val="313131"/>
                </a:solidFill>
                <a:latin typeface="Roboto"/>
                <a:cs typeface="Roboto"/>
              </a:rPr>
              <a:t>tends </a:t>
            </a:r>
            <a:r>
              <a:rPr sz="2200" dirty="0">
                <a:solidFill>
                  <a:srgbClr val="313131"/>
                </a:solidFill>
                <a:latin typeface="Roboto"/>
                <a:cs typeface="Roboto"/>
              </a:rPr>
              <a:t>to</a:t>
            </a:r>
            <a:r>
              <a:rPr sz="2200" spc="-60" dirty="0">
                <a:solidFill>
                  <a:srgbClr val="313131"/>
                </a:solidFill>
                <a:latin typeface="Roboto"/>
                <a:cs typeface="Roboto"/>
              </a:rPr>
              <a:t> </a:t>
            </a:r>
            <a:r>
              <a:rPr sz="2200" spc="-10" dirty="0">
                <a:solidFill>
                  <a:srgbClr val="313131"/>
                </a:solidFill>
                <a:latin typeface="Roboto"/>
                <a:cs typeface="Roboto"/>
              </a:rPr>
              <a:t>regress</a:t>
            </a:r>
            <a:r>
              <a:rPr sz="2200" spc="-55" dirty="0">
                <a:solidFill>
                  <a:srgbClr val="313131"/>
                </a:solidFill>
                <a:latin typeface="Roboto"/>
                <a:cs typeface="Roboto"/>
              </a:rPr>
              <a:t> </a:t>
            </a:r>
            <a:r>
              <a:rPr sz="2200" dirty="0">
                <a:solidFill>
                  <a:srgbClr val="313131"/>
                </a:solidFill>
                <a:latin typeface="Roboto"/>
                <a:cs typeface="Roboto"/>
              </a:rPr>
              <a:t>(or</a:t>
            </a:r>
            <a:r>
              <a:rPr sz="2200" spc="-55" dirty="0">
                <a:solidFill>
                  <a:srgbClr val="313131"/>
                </a:solidFill>
                <a:latin typeface="Roboto"/>
                <a:cs typeface="Roboto"/>
              </a:rPr>
              <a:t> </a:t>
            </a:r>
            <a:r>
              <a:rPr sz="2200" dirty="0">
                <a:solidFill>
                  <a:srgbClr val="313131"/>
                </a:solidFill>
                <a:latin typeface="Roboto"/>
                <a:cs typeface="Roboto"/>
              </a:rPr>
              <a:t>drift</a:t>
            </a:r>
            <a:r>
              <a:rPr sz="2200" spc="-55" dirty="0">
                <a:solidFill>
                  <a:srgbClr val="313131"/>
                </a:solidFill>
                <a:latin typeface="Roboto"/>
                <a:cs typeface="Roboto"/>
              </a:rPr>
              <a:t> </a:t>
            </a:r>
            <a:r>
              <a:rPr sz="2200" spc="-10" dirty="0">
                <a:solidFill>
                  <a:srgbClr val="313131"/>
                </a:solidFill>
                <a:latin typeface="Roboto"/>
                <a:cs typeface="Roboto"/>
              </a:rPr>
              <a:t>towards) </a:t>
            </a:r>
            <a:r>
              <a:rPr sz="2200" dirty="0">
                <a:solidFill>
                  <a:srgbClr val="313131"/>
                </a:solidFill>
                <a:latin typeface="Roboto"/>
                <a:cs typeface="Roboto"/>
              </a:rPr>
              <a:t>the</a:t>
            </a:r>
            <a:r>
              <a:rPr sz="2200" spc="-75" dirty="0">
                <a:solidFill>
                  <a:srgbClr val="313131"/>
                </a:solidFill>
                <a:latin typeface="Roboto"/>
                <a:cs typeface="Roboto"/>
              </a:rPr>
              <a:t> </a:t>
            </a:r>
            <a:r>
              <a:rPr sz="2200" dirty="0">
                <a:solidFill>
                  <a:srgbClr val="313131"/>
                </a:solidFill>
                <a:latin typeface="Roboto"/>
                <a:cs typeface="Roboto"/>
              </a:rPr>
              <a:t>mean</a:t>
            </a:r>
            <a:r>
              <a:rPr sz="2200" spc="-65" dirty="0">
                <a:solidFill>
                  <a:srgbClr val="313131"/>
                </a:solidFill>
                <a:latin typeface="Roboto"/>
                <a:cs typeface="Roboto"/>
              </a:rPr>
              <a:t> </a:t>
            </a:r>
            <a:r>
              <a:rPr sz="2200" spc="-10" dirty="0">
                <a:solidFill>
                  <a:srgbClr val="313131"/>
                </a:solidFill>
                <a:latin typeface="Roboto"/>
                <a:cs typeface="Roboto"/>
              </a:rPr>
              <a:t>(average)</a:t>
            </a:r>
            <a:r>
              <a:rPr sz="2200" spc="-70" dirty="0">
                <a:solidFill>
                  <a:srgbClr val="313131"/>
                </a:solidFill>
                <a:latin typeface="Roboto"/>
                <a:cs typeface="Roboto"/>
              </a:rPr>
              <a:t> </a:t>
            </a:r>
            <a:r>
              <a:rPr sz="2200" spc="-10" dirty="0">
                <a:solidFill>
                  <a:srgbClr val="313131"/>
                </a:solidFill>
                <a:latin typeface="Roboto"/>
                <a:cs typeface="Roboto"/>
              </a:rPr>
              <a:t>height."</a:t>
            </a:r>
            <a:endParaRPr sz="2200" dirty="0">
              <a:latin typeface="Roboto"/>
              <a:cs typeface="Roboto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383250" y="605475"/>
            <a:ext cx="2720874" cy="4195899"/>
          </a:xfrm>
          <a:prstGeom prst="rect">
            <a:avLst/>
          </a:prstGeom>
        </p:spPr>
      </p:pic>
    </p:spTree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Example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4725" y="1237468"/>
            <a:ext cx="3583771" cy="21259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4599"/>
              </a:lnSpc>
              <a:spcBef>
                <a:spcPts val="100"/>
              </a:spcBef>
            </a:pPr>
            <a:r>
              <a:rPr sz="2400" dirty="0">
                <a:solidFill>
                  <a:srgbClr val="313131"/>
                </a:solidFill>
                <a:latin typeface="Arial MT"/>
                <a:cs typeface="Arial MT"/>
              </a:rPr>
              <a:t>Let's</a:t>
            </a:r>
            <a:r>
              <a:rPr sz="2400" spc="-60" dirty="0">
                <a:solidFill>
                  <a:srgbClr val="313131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313131"/>
                </a:solidFill>
                <a:latin typeface="Arial MT"/>
                <a:cs typeface="Arial MT"/>
              </a:rPr>
              <a:t>take</a:t>
            </a:r>
            <a:r>
              <a:rPr sz="2400" spc="-55" dirty="0">
                <a:solidFill>
                  <a:srgbClr val="313131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313131"/>
                </a:solidFill>
                <a:latin typeface="Arial MT"/>
                <a:cs typeface="Arial MT"/>
              </a:rPr>
              <a:t>the</a:t>
            </a:r>
            <a:r>
              <a:rPr sz="2400" spc="-55" dirty="0">
                <a:solidFill>
                  <a:srgbClr val="313131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313131"/>
                </a:solidFill>
                <a:latin typeface="Arial MT"/>
                <a:cs typeface="Arial MT"/>
              </a:rPr>
              <a:t>simplest </a:t>
            </a:r>
            <a:r>
              <a:rPr sz="2400" dirty="0">
                <a:solidFill>
                  <a:srgbClr val="313131"/>
                </a:solidFill>
                <a:latin typeface="Arial MT"/>
                <a:cs typeface="Arial MT"/>
              </a:rPr>
              <a:t>possible</a:t>
            </a:r>
            <a:r>
              <a:rPr sz="2400" spc="-130" dirty="0">
                <a:solidFill>
                  <a:srgbClr val="313131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313131"/>
                </a:solidFill>
                <a:latin typeface="Arial MT"/>
                <a:cs typeface="Arial MT"/>
              </a:rPr>
              <a:t>example:</a:t>
            </a:r>
            <a:endParaRPr lang="tr-TR" sz="2400" spc="-10" dirty="0">
              <a:solidFill>
                <a:srgbClr val="313131"/>
              </a:solidFill>
              <a:latin typeface="Arial MT"/>
              <a:cs typeface="Arial MT"/>
            </a:endParaRPr>
          </a:p>
          <a:p>
            <a:pPr marL="12700" marR="5080">
              <a:lnSpc>
                <a:spcPct val="114599"/>
              </a:lnSpc>
              <a:spcBef>
                <a:spcPts val="100"/>
              </a:spcBef>
            </a:pPr>
            <a:endParaRPr lang="tr-TR" sz="2400" spc="-10" dirty="0">
              <a:solidFill>
                <a:srgbClr val="313131"/>
              </a:solidFill>
              <a:latin typeface="Arial MT"/>
              <a:cs typeface="Arial MT"/>
            </a:endParaRPr>
          </a:p>
          <a:p>
            <a:pPr marL="12700" marR="5080">
              <a:lnSpc>
                <a:spcPct val="114599"/>
              </a:lnSpc>
              <a:spcBef>
                <a:spcPts val="100"/>
              </a:spcBef>
            </a:pPr>
            <a:r>
              <a:rPr sz="2400" spc="-10" dirty="0">
                <a:solidFill>
                  <a:srgbClr val="313131"/>
                </a:solidFill>
                <a:latin typeface="Arial MT"/>
                <a:cs typeface="Arial MT"/>
              </a:rPr>
              <a:t>calculating</a:t>
            </a:r>
            <a:r>
              <a:rPr sz="2400" spc="-40" dirty="0">
                <a:solidFill>
                  <a:srgbClr val="313131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313131"/>
                </a:solidFill>
                <a:latin typeface="Arial MT"/>
                <a:cs typeface="Arial MT"/>
              </a:rPr>
              <a:t>a</a:t>
            </a:r>
            <a:r>
              <a:rPr sz="2400" spc="-40" dirty="0">
                <a:solidFill>
                  <a:srgbClr val="313131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313131"/>
                </a:solidFill>
                <a:latin typeface="Arial MT"/>
                <a:cs typeface="Arial MT"/>
              </a:rPr>
              <a:t>regression </a:t>
            </a:r>
            <a:r>
              <a:rPr sz="2400" dirty="0">
                <a:solidFill>
                  <a:srgbClr val="313131"/>
                </a:solidFill>
                <a:latin typeface="Arial MT"/>
                <a:cs typeface="Arial MT"/>
              </a:rPr>
              <a:t>with</a:t>
            </a:r>
            <a:r>
              <a:rPr sz="2400" spc="-50" dirty="0">
                <a:solidFill>
                  <a:srgbClr val="313131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313131"/>
                </a:solidFill>
                <a:latin typeface="Arial MT"/>
                <a:cs typeface="Arial MT"/>
              </a:rPr>
              <a:t>only</a:t>
            </a:r>
            <a:r>
              <a:rPr sz="2400" spc="-50" dirty="0">
                <a:solidFill>
                  <a:srgbClr val="313131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313131"/>
                </a:solidFill>
                <a:latin typeface="Arial MT"/>
                <a:cs typeface="Arial MT"/>
              </a:rPr>
              <a:t>2</a:t>
            </a:r>
            <a:r>
              <a:rPr sz="2400" spc="-50" dirty="0">
                <a:solidFill>
                  <a:srgbClr val="313131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313131"/>
                </a:solidFill>
                <a:latin typeface="Arial MT"/>
                <a:cs typeface="Arial MT"/>
              </a:rPr>
              <a:t>data</a:t>
            </a:r>
            <a:r>
              <a:rPr sz="2400" spc="-50" dirty="0">
                <a:solidFill>
                  <a:srgbClr val="313131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313131"/>
                </a:solidFill>
                <a:latin typeface="Arial MT"/>
                <a:cs typeface="Arial MT"/>
              </a:rPr>
              <a:t>points.</a:t>
            </a:r>
            <a:endParaRPr sz="2400" dirty="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72000" y="1118176"/>
            <a:ext cx="3865657" cy="2907148"/>
          </a:xfrm>
          <a:prstGeom prst="rect">
            <a:avLst/>
          </a:prstGeom>
        </p:spPr>
      </p:pic>
    </p:spTree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Example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4386288" cy="322960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156210">
              <a:lnSpc>
                <a:spcPct val="116100"/>
              </a:lnSpc>
              <a:spcBef>
                <a:spcPts val="100"/>
              </a:spcBef>
            </a:pPr>
            <a:r>
              <a:rPr sz="2100" dirty="0"/>
              <a:t>All</a:t>
            </a:r>
            <a:r>
              <a:rPr sz="2100" spc="-60" dirty="0"/>
              <a:t> </a:t>
            </a:r>
            <a:r>
              <a:rPr sz="2100" spc="-20" dirty="0"/>
              <a:t>we're</a:t>
            </a:r>
            <a:r>
              <a:rPr sz="2100" spc="-60" dirty="0"/>
              <a:t> </a:t>
            </a:r>
            <a:r>
              <a:rPr sz="2100" spc="-25" dirty="0"/>
              <a:t>trying</a:t>
            </a:r>
            <a:r>
              <a:rPr sz="2100" spc="-55" dirty="0"/>
              <a:t> </a:t>
            </a:r>
            <a:r>
              <a:rPr sz="2100" dirty="0"/>
              <a:t>to</a:t>
            </a:r>
            <a:r>
              <a:rPr sz="2100" spc="-60" dirty="0"/>
              <a:t> </a:t>
            </a:r>
            <a:r>
              <a:rPr sz="2100" dirty="0"/>
              <a:t>do</a:t>
            </a:r>
            <a:r>
              <a:rPr sz="2100" spc="-55" dirty="0"/>
              <a:t> </a:t>
            </a:r>
            <a:r>
              <a:rPr sz="2100" dirty="0"/>
              <a:t>when</a:t>
            </a:r>
            <a:r>
              <a:rPr sz="2100" spc="-60" dirty="0"/>
              <a:t> </a:t>
            </a:r>
            <a:r>
              <a:rPr sz="2100" spc="-35" dirty="0"/>
              <a:t>we </a:t>
            </a:r>
            <a:r>
              <a:rPr sz="2100" spc="-20" dirty="0"/>
              <a:t>calculate</a:t>
            </a:r>
            <a:r>
              <a:rPr sz="2100" spc="-65" dirty="0"/>
              <a:t> </a:t>
            </a:r>
            <a:r>
              <a:rPr sz="2100" dirty="0"/>
              <a:t>our</a:t>
            </a:r>
            <a:r>
              <a:rPr sz="2100" spc="-60" dirty="0"/>
              <a:t> </a:t>
            </a:r>
            <a:r>
              <a:rPr sz="2100" spc="-20" dirty="0"/>
              <a:t>regression</a:t>
            </a:r>
            <a:r>
              <a:rPr sz="2100" spc="-65" dirty="0"/>
              <a:t> </a:t>
            </a:r>
            <a:r>
              <a:rPr sz="2100" dirty="0"/>
              <a:t>line</a:t>
            </a:r>
            <a:r>
              <a:rPr sz="2100" spc="-60" dirty="0"/>
              <a:t> </a:t>
            </a:r>
            <a:r>
              <a:rPr sz="2100" spc="-25" dirty="0"/>
              <a:t>is </a:t>
            </a:r>
            <a:r>
              <a:rPr sz="2100" dirty="0"/>
              <a:t>draw</a:t>
            </a:r>
            <a:r>
              <a:rPr sz="2100" spc="-75" dirty="0"/>
              <a:t> </a:t>
            </a:r>
            <a:r>
              <a:rPr sz="2100" dirty="0"/>
              <a:t>a</a:t>
            </a:r>
            <a:r>
              <a:rPr sz="2100" spc="-80" dirty="0"/>
              <a:t> </a:t>
            </a:r>
            <a:r>
              <a:rPr sz="2100" dirty="0"/>
              <a:t>line</a:t>
            </a:r>
            <a:r>
              <a:rPr sz="2100" spc="-70" dirty="0"/>
              <a:t> </a:t>
            </a:r>
            <a:r>
              <a:rPr sz="2100" spc="-25" dirty="0"/>
              <a:t>that's</a:t>
            </a:r>
            <a:r>
              <a:rPr sz="2100" spc="-75" dirty="0"/>
              <a:t> </a:t>
            </a:r>
            <a:r>
              <a:rPr sz="2100" dirty="0"/>
              <a:t>as</a:t>
            </a:r>
            <a:r>
              <a:rPr sz="2100" spc="-75" dirty="0"/>
              <a:t> </a:t>
            </a:r>
            <a:r>
              <a:rPr sz="2100" dirty="0"/>
              <a:t>close</a:t>
            </a:r>
            <a:r>
              <a:rPr sz="2100" spc="-70" dirty="0"/>
              <a:t> </a:t>
            </a:r>
            <a:r>
              <a:rPr sz="2100" spc="-25" dirty="0"/>
              <a:t>to </a:t>
            </a:r>
            <a:r>
              <a:rPr sz="2100" dirty="0"/>
              <a:t>every</a:t>
            </a:r>
            <a:r>
              <a:rPr sz="2100" spc="-80" dirty="0"/>
              <a:t> </a:t>
            </a:r>
            <a:r>
              <a:rPr sz="2100" dirty="0"/>
              <a:t>dot</a:t>
            </a:r>
            <a:r>
              <a:rPr sz="2100" spc="-75" dirty="0"/>
              <a:t> </a:t>
            </a:r>
            <a:r>
              <a:rPr sz="2100" dirty="0"/>
              <a:t>as</a:t>
            </a:r>
            <a:r>
              <a:rPr sz="2100" spc="-75" dirty="0"/>
              <a:t> </a:t>
            </a:r>
            <a:r>
              <a:rPr sz="2100" spc="-10" dirty="0"/>
              <a:t>possible.</a:t>
            </a:r>
            <a:endParaRPr sz="2100" dirty="0"/>
          </a:p>
          <a:p>
            <a:pPr marL="12700" marR="5080" indent="65405">
              <a:lnSpc>
                <a:spcPct val="116100"/>
              </a:lnSpc>
              <a:spcBef>
                <a:spcPts val="1570"/>
              </a:spcBef>
            </a:pPr>
            <a:r>
              <a:rPr lang="tr-TR" sz="2100" dirty="0"/>
              <a:t> </a:t>
            </a:r>
            <a:r>
              <a:rPr sz="2100" dirty="0"/>
              <a:t>For</a:t>
            </a:r>
            <a:r>
              <a:rPr sz="2100" spc="-65" dirty="0"/>
              <a:t> </a:t>
            </a:r>
            <a:r>
              <a:rPr sz="2100" spc="-10" dirty="0"/>
              <a:t>classic</a:t>
            </a:r>
            <a:r>
              <a:rPr sz="2100" spc="-65" dirty="0"/>
              <a:t> </a:t>
            </a:r>
            <a:r>
              <a:rPr sz="2100" spc="-10" dirty="0"/>
              <a:t>linear</a:t>
            </a:r>
            <a:r>
              <a:rPr sz="2100" spc="-65" dirty="0"/>
              <a:t> </a:t>
            </a:r>
            <a:r>
              <a:rPr sz="2100" spc="-20" dirty="0"/>
              <a:t>regression,</a:t>
            </a:r>
            <a:r>
              <a:rPr sz="2100" spc="-65" dirty="0"/>
              <a:t> </a:t>
            </a:r>
            <a:r>
              <a:rPr sz="2100" spc="-25" dirty="0"/>
              <a:t>or </a:t>
            </a:r>
            <a:r>
              <a:rPr sz="2100" spc="-20" dirty="0"/>
              <a:t>"Least</a:t>
            </a:r>
            <a:r>
              <a:rPr sz="2100" spc="-90" dirty="0"/>
              <a:t> </a:t>
            </a:r>
            <a:r>
              <a:rPr sz="2100" spc="-10" dirty="0"/>
              <a:t>Squares</a:t>
            </a:r>
            <a:r>
              <a:rPr sz="2100" spc="-85" dirty="0"/>
              <a:t> </a:t>
            </a:r>
            <a:r>
              <a:rPr sz="2100" spc="-20" dirty="0"/>
              <a:t>Method",</a:t>
            </a:r>
            <a:r>
              <a:rPr sz="2100" spc="-85" dirty="0"/>
              <a:t> </a:t>
            </a:r>
            <a:r>
              <a:rPr sz="2100" spc="-25" dirty="0"/>
              <a:t>you </a:t>
            </a:r>
            <a:r>
              <a:rPr sz="2100" spc="-10" dirty="0"/>
              <a:t>only</a:t>
            </a:r>
            <a:r>
              <a:rPr sz="2100" spc="-90" dirty="0"/>
              <a:t> </a:t>
            </a:r>
            <a:r>
              <a:rPr sz="2100" dirty="0"/>
              <a:t>measure</a:t>
            </a:r>
            <a:r>
              <a:rPr sz="2100" spc="-85" dirty="0"/>
              <a:t> </a:t>
            </a:r>
            <a:r>
              <a:rPr sz="2100" dirty="0"/>
              <a:t>the</a:t>
            </a:r>
            <a:r>
              <a:rPr sz="2100" spc="-85" dirty="0"/>
              <a:t> </a:t>
            </a:r>
            <a:r>
              <a:rPr sz="2100" spc="-10" dirty="0"/>
              <a:t>closeness</a:t>
            </a:r>
            <a:r>
              <a:rPr sz="2100" spc="-85" dirty="0"/>
              <a:t> </a:t>
            </a:r>
            <a:r>
              <a:rPr sz="2100" spc="-25" dirty="0"/>
              <a:t>in </a:t>
            </a:r>
            <a:r>
              <a:rPr sz="2100" dirty="0"/>
              <a:t>the</a:t>
            </a:r>
            <a:r>
              <a:rPr sz="2100" spc="-95" dirty="0"/>
              <a:t> </a:t>
            </a:r>
            <a:r>
              <a:rPr sz="2100" spc="-10" dirty="0"/>
              <a:t>"up</a:t>
            </a:r>
            <a:r>
              <a:rPr sz="2100" spc="-90" dirty="0"/>
              <a:t> </a:t>
            </a:r>
            <a:r>
              <a:rPr sz="2100" dirty="0"/>
              <a:t>and</a:t>
            </a:r>
            <a:r>
              <a:rPr sz="2100" spc="-95" dirty="0"/>
              <a:t> </a:t>
            </a:r>
            <a:r>
              <a:rPr sz="2100" spc="-10" dirty="0"/>
              <a:t>down"</a:t>
            </a:r>
            <a:r>
              <a:rPr sz="2100" spc="-90" dirty="0"/>
              <a:t> </a:t>
            </a:r>
            <a:r>
              <a:rPr sz="2100" spc="-10" dirty="0"/>
              <a:t>direction</a:t>
            </a:r>
            <a:endParaRPr sz="2100" dirty="0"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697988" y="1465098"/>
            <a:ext cx="3921334" cy="2949029"/>
          </a:xfrm>
          <a:prstGeom prst="rect">
            <a:avLst/>
          </a:prstGeom>
        </p:spPr>
      </p:pic>
    </p:spTree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Example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4725" y="1245215"/>
            <a:ext cx="3820160" cy="33972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116839">
              <a:lnSpc>
                <a:spcPct val="115599"/>
              </a:lnSpc>
              <a:spcBef>
                <a:spcPts val="100"/>
              </a:spcBef>
            </a:pPr>
            <a:r>
              <a:rPr sz="2000" dirty="0">
                <a:solidFill>
                  <a:srgbClr val="313131"/>
                </a:solidFill>
                <a:latin typeface="Arial MT"/>
                <a:cs typeface="Arial MT"/>
              </a:rPr>
              <a:t>Now</a:t>
            </a:r>
            <a:r>
              <a:rPr sz="2000" spc="-45" dirty="0">
                <a:solidFill>
                  <a:srgbClr val="313131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13131"/>
                </a:solidFill>
                <a:latin typeface="Arial MT"/>
                <a:cs typeface="Arial MT"/>
              </a:rPr>
              <a:t>wouldn't</a:t>
            </a:r>
            <a:r>
              <a:rPr sz="2000" spc="-40" dirty="0">
                <a:solidFill>
                  <a:srgbClr val="313131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13131"/>
                </a:solidFill>
                <a:latin typeface="Arial MT"/>
                <a:cs typeface="Arial MT"/>
              </a:rPr>
              <a:t>it</a:t>
            </a:r>
            <a:r>
              <a:rPr sz="2000" spc="-40" dirty="0">
                <a:solidFill>
                  <a:srgbClr val="313131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13131"/>
                </a:solidFill>
                <a:latin typeface="Arial MT"/>
                <a:cs typeface="Arial MT"/>
              </a:rPr>
              <a:t>be</a:t>
            </a:r>
            <a:r>
              <a:rPr sz="2000" spc="-40" dirty="0">
                <a:solidFill>
                  <a:srgbClr val="313131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13131"/>
                </a:solidFill>
                <a:latin typeface="Arial MT"/>
                <a:cs typeface="Arial MT"/>
              </a:rPr>
              <a:t>great</a:t>
            </a:r>
            <a:r>
              <a:rPr sz="2000" spc="-40" dirty="0">
                <a:solidFill>
                  <a:srgbClr val="313131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13131"/>
                </a:solidFill>
                <a:latin typeface="Arial MT"/>
                <a:cs typeface="Arial MT"/>
              </a:rPr>
              <a:t>if</a:t>
            </a:r>
            <a:r>
              <a:rPr sz="2000" spc="-45" dirty="0">
                <a:solidFill>
                  <a:srgbClr val="313131"/>
                </a:solidFill>
                <a:latin typeface="Arial MT"/>
                <a:cs typeface="Arial MT"/>
              </a:rPr>
              <a:t> </a:t>
            </a:r>
            <a:r>
              <a:rPr sz="2000" spc="-25" dirty="0">
                <a:solidFill>
                  <a:srgbClr val="313131"/>
                </a:solidFill>
                <a:latin typeface="Arial MT"/>
                <a:cs typeface="Arial MT"/>
              </a:rPr>
              <a:t>we </a:t>
            </a:r>
            <a:r>
              <a:rPr sz="2000" dirty="0">
                <a:solidFill>
                  <a:srgbClr val="313131"/>
                </a:solidFill>
                <a:latin typeface="Arial MT"/>
                <a:cs typeface="Arial MT"/>
              </a:rPr>
              <a:t>could</a:t>
            </a:r>
            <a:r>
              <a:rPr sz="2000" spc="-40" dirty="0">
                <a:solidFill>
                  <a:srgbClr val="313131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13131"/>
                </a:solidFill>
                <a:latin typeface="Arial MT"/>
                <a:cs typeface="Arial MT"/>
              </a:rPr>
              <a:t>apply</a:t>
            </a:r>
            <a:r>
              <a:rPr sz="2000" spc="-35" dirty="0">
                <a:solidFill>
                  <a:srgbClr val="313131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13131"/>
                </a:solidFill>
                <a:latin typeface="Arial MT"/>
                <a:cs typeface="Arial MT"/>
              </a:rPr>
              <a:t>this</a:t>
            </a:r>
            <a:r>
              <a:rPr sz="2000" spc="-40" dirty="0">
                <a:solidFill>
                  <a:srgbClr val="313131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13131"/>
                </a:solidFill>
                <a:latin typeface="Arial MT"/>
                <a:cs typeface="Arial MT"/>
              </a:rPr>
              <a:t>same</a:t>
            </a:r>
            <a:r>
              <a:rPr sz="2000" spc="-35" dirty="0">
                <a:solidFill>
                  <a:srgbClr val="313131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13131"/>
                </a:solidFill>
                <a:latin typeface="Arial MT"/>
                <a:cs typeface="Arial MT"/>
              </a:rPr>
              <a:t>concept</a:t>
            </a:r>
            <a:r>
              <a:rPr sz="2000" spc="-40" dirty="0">
                <a:solidFill>
                  <a:srgbClr val="313131"/>
                </a:solidFill>
                <a:latin typeface="Arial MT"/>
                <a:cs typeface="Arial MT"/>
              </a:rPr>
              <a:t> </a:t>
            </a:r>
            <a:r>
              <a:rPr sz="2000" spc="-25" dirty="0">
                <a:solidFill>
                  <a:srgbClr val="313131"/>
                </a:solidFill>
                <a:latin typeface="Arial MT"/>
                <a:cs typeface="Arial MT"/>
              </a:rPr>
              <a:t>to </a:t>
            </a:r>
            <a:r>
              <a:rPr sz="2000" dirty="0">
                <a:solidFill>
                  <a:srgbClr val="313131"/>
                </a:solidFill>
                <a:latin typeface="Arial MT"/>
                <a:cs typeface="Arial MT"/>
              </a:rPr>
              <a:t>a</a:t>
            </a:r>
            <a:r>
              <a:rPr sz="2000" spc="-30" dirty="0">
                <a:solidFill>
                  <a:srgbClr val="313131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13131"/>
                </a:solidFill>
                <a:latin typeface="Arial MT"/>
                <a:cs typeface="Arial MT"/>
              </a:rPr>
              <a:t>graph</a:t>
            </a:r>
            <a:r>
              <a:rPr sz="2000" spc="-25" dirty="0">
                <a:solidFill>
                  <a:srgbClr val="313131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13131"/>
                </a:solidFill>
                <a:latin typeface="Arial MT"/>
                <a:cs typeface="Arial MT"/>
              </a:rPr>
              <a:t>with</a:t>
            </a:r>
            <a:r>
              <a:rPr sz="2000" spc="-25" dirty="0">
                <a:solidFill>
                  <a:srgbClr val="313131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13131"/>
                </a:solidFill>
                <a:latin typeface="Arial MT"/>
                <a:cs typeface="Arial MT"/>
              </a:rPr>
              <a:t>more</a:t>
            </a:r>
            <a:r>
              <a:rPr sz="2000" spc="-25" dirty="0">
                <a:solidFill>
                  <a:srgbClr val="313131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13131"/>
                </a:solidFill>
                <a:latin typeface="Arial MT"/>
                <a:cs typeface="Arial MT"/>
              </a:rPr>
              <a:t>than</a:t>
            </a:r>
            <a:r>
              <a:rPr sz="2000" spc="-30" dirty="0">
                <a:solidFill>
                  <a:srgbClr val="313131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13131"/>
                </a:solidFill>
                <a:latin typeface="Arial MT"/>
                <a:cs typeface="Arial MT"/>
              </a:rPr>
              <a:t>just</a:t>
            </a:r>
            <a:r>
              <a:rPr sz="2000" spc="-25" dirty="0">
                <a:solidFill>
                  <a:srgbClr val="313131"/>
                </a:solidFill>
                <a:latin typeface="Arial MT"/>
                <a:cs typeface="Arial MT"/>
              </a:rPr>
              <a:t> two </a:t>
            </a:r>
            <a:r>
              <a:rPr sz="2000" dirty="0">
                <a:solidFill>
                  <a:srgbClr val="313131"/>
                </a:solidFill>
                <a:latin typeface="Arial MT"/>
                <a:cs typeface="Arial MT"/>
              </a:rPr>
              <a:t>data</a:t>
            </a:r>
            <a:r>
              <a:rPr sz="2000" spc="-20" dirty="0">
                <a:solidFill>
                  <a:srgbClr val="313131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313131"/>
                </a:solidFill>
                <a:latin typeface="Arial MT"/>
                <a:cs typeface="Arial MT"/>
              </a:rPr>
              <a:t>points?</a:t>
            </a:r>
            <a:endParaRPr sz="2000">
              <a:latin typeface="Arial MT"/>
              <a:cs typeface="Arial MT"/>
            </a:endParaRPr>
          </a:p>
          <a:p>
            <a:pPr marL="12700" marR="5080">
              <a:lnSpc>
                <a:spcPct val="115599"/>
              </a:lnSpc>
              <a:spcBef>
                <a:spcPts val="1575"/>
              </a:spcBef>
            </a:pPr>
            <a:r>
              <a:rPr sz="2000" dirty="0">
                <a:solidFill>
                  <a:srgbClr val="313131"/>
                </a:solidFill>
                <a:latin typeface="Arial MT"/>
                <a:cs typeface="Arial MT"/>
              </a:rPr>
              <a:t>By</a:t>
            </a:r>
            <a:r>
              <a:rPr sz="2000" spc="-50" dirty="0">
                <a:solidFill>
                  <a:srgbClr val="313131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13131"/>
                </a:solidFill>
                <a:latin typeface="Arial MT"/>
                <a:cs typeface="Arial MT"/>
              </a:rPr>
              <a:t>doing</a:t>
            </a:r>
            <a:r>
              <a:rPr sz="2000" spc="-45" dirty="0">
                <a:solidFill>
                  <a:srgbClr val="313131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13131"/>
                </a:solidFill>
                <a:latin typeface="Arial MT"/>
                <a:cs typeface="Arial MT"/>
              </a:rPr>
              <a:t>this,</a:t>
            </a:r>
            <a:r>
              <a:rPr sz="2000" spc="-50" dirty="0">
                <a:solidFill>
                  <a:srgbClr val="313131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13131"/>
                </a:solidFill>
                <a:latin typeface="Arial MT"/>
                <a:cs typeface="Arial MT"/>
              </a:rPr>
              <a:t>we</a:t>
            </a:r>
            <a:r>
              <a:rPr sz="2000" spc="-45" dirty="0">
                <a:solidFill>
                  <a:srgbClr val="313131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13131"/>
                </a:solidFill>
                <a:latin typeface="Arial MT"/>
                <a:cs typeface="Arial MT"/>
              </a:rPr>
              <a:t>could</a:t>
            </a:r>
            <a:r>
              <a:rPr sz="2000" spc="-50" dirty="0">
                <a:solidFill>
                  <a:srgbClr val="313131"/>
                </a:solidFill>
                <a:latin typeface="Arial MT"/>
                <a:cs typeface="Arial MT"/>
              </a:rPr>
              <a:t> </a:t>
            </a:r>
            <a:r>
              <a:rPr sz="2000" spc="-20" dirty="0">
                <a:solidFill>
                  <a:srgbClr val="313131"/>
                </a:solidFill>
                <a:latin typeface="Arial MT"/>
                <a:cs typeface="Arial MT"/>
              </a:rPr>
              <a:t>take </a:t>
            </a:r>
            <a:r>
              <a:rPr sz="2000" dirty="0">
                <a:solidFill>
                  <a:srgbClr val="313131"/>
                </a:solidFill>
                <a:latin typeface="Arial MT"/>
                <a:cs typeface="Arial MT"/>
              </a:rPr>
              <a:t>multiple</a:t>
            </a:r>
            <a:r>
              <a:rPr sz="2000" spc="-45" dirty="0">
                <a:solidFill>
                  <a:srgbClr val="313131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13131"/>
                </a:solidFill>
                <a:latin typeface="Arial MT"/>
                <a:cs typeface="Arial MT"/>
              </a:rPr>
              <a:t>men</a:t>
            </a:r>
            <a:r>
              <a:rPr sz="2000" spc="-45" dirty="0">
                <a:solidFill>
                  <a:srgbClr val="313131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13131"/>
                </a:solidFill>
                <a:latin typeface="Arial MT"/>
                <a:cs typeface="Arial MT"/>
              </a:rPr>
              <a:t>and</a:t>
            </a:r>
            <a:r>
              <a:rPr sz="2000" spc="-45" dirty="0">
                <a:solidFill>
                  <a:srgbClr val="313131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13131"/>
                </a:solidFill>
                <a:latin typeface="Arial MT"/>
                <a:cs typeface="Arial MT"/>
              </a:rPr>
              <a:t>their</a:t>
            </a:r>
            <a:r>
              <a:rPr sz="2000" spc="-45" dirty="0">
                <a:solidFill>
                  <a:srgbClr val="313131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313131"/>
                </a:solidFill>
                <a:latin typeface="Arial MT"/>
                <a:cs typeface="Arial MT"/>
              </a:rPr>
              <a:t>son's </a:t>
            </a:r>
            <a:r>
              <a:rPr sz="2000" dirty="0">
                <a:solidFill>
                  <a:srgbClr val="313131"/>
                </a:solidFill>
                <a:latin typeface="Arial MT"/>
                <a:cs typeface="Arial MT"/>
              </a:rPr>
              <a:t>heights</a:t>
            </a:r>
            <a:r>
              <a:rPr sz="2000" spc="-55" dirty="0">
                <a:solidFill>
                  <a:srgbClr val="313131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13131"/>
                </a:solidFill>
                <a:latin typeface="Arial MT"/>
                <a:cs typeface="Arial MT"/>
              </a:rPr>
              <a:t>and</a:t>
            </a:r>
            <a:r>
              <a:rPr sz="2000" spc="-50" dirty="0">
                <a:solidFill>
                  <a:srgbClr val="313131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13131"/>
                </a:solidFill>
                <a:latin typeface="Arial MT"/>
                <a:cs typeface="Arial MT"/>
              </a:rPr>
              <a:t>do</a:t>
            </a:r>
            <a:r>
              <a:rPr sz="2000" spc="-50" dirty="0">
                <a:solidFill>
                  <a:srgbClr val="313131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13131"/>
                </a:solidFill>
                <a:latin typeface="Arial MT"/>
                <a:cs typeface="Arial MT"/>
              </a:rPr>
              <a:t>things</a:t>
            </a:r>
            <a:r>
              <a:rPr sz="2000" spc="-50" dirty="0">
                <a:solidFill>
                  <a:srgbClr val="313131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13131"/>
                </a:solidFill>
                <a:latin typeface="Arial MT"/>
                <a:cs typeface="Arial MT"/>
              </a:rPr>
              <a:t>like</a:t>
            </a:r>
            <a:r>
              <a:rPr sz="2000" spc="-50" dirty="0">
                <a:solidFill>
                  <a:srgbClr val="313131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13131"/>
                </a:solidFill>
                <a:latin typeface="Arial MT"/>
                <a:cs typeface="Arial MT"/>
              </a:rPr>
              <a:t>tell</a:t>
            </a:r>
            <a:r>
              <a:rPr sz="2000" spc="-50" dirty="0">
                <a:solidFill>
                  <a:srgbClr val="313131"/>
                </a:solidFill>
                <a:latin typeface="Arial MT"/>
                <a:cs typeface="Arial MT"/>
              </a:rPr>
              <a:t> a </a:t>
            </a:r>
            <a:r>
              <a:rPr sz="2000" dirty="0">
                <a:solidFill>
                  <a:srgbClr val="313131"/>
                </a:solidFill>
                <a:latin typeface="Arial MT"/>
                <a:cs typeface="Arial MT"/>
              </a:rPr>
              <a:t>man</a:t>
            </a:r>
            <a:r>
              <a:rPr sz="2000" spc="-40" dirty="0">
                <a:solidFill>
                  <a:srgbClr val="313131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13131"/>
                </a:solidFill>
                <a:latin typeface="Arial MT"/>
                <a:cs typeface="Arial MT"/>
              </a:rPr>
              <a:t>how</a:t>
            </a:r>
            <a:r>
              <a:rPr sz="2000" spc="-35" dirty="0">
                <a:solidFill>
                  <a:srgbClr val="313131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13131"/>
                </a:solidFill>
                <a:latin typeface="Arial MT"/>
                <a:cs typeface="Arial MT"/>
              </a:rPr>
              <a:t>tall</a:t>
            </a:r>
            <a:r>
              <a:rPr sz="2000" spc="-35" dirty="0">
                <a:solidFill>
                  <a:srgbClr val="313131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13131"/>
                </a:solidFill>
                <a:latin typeface="Arial MT"/>
                <a:cs typeface="Arial MT"/>
              </a:rPr>
              <a:t>we</a:t>
            </a:r>
            <a:r>
              <a:rPr sz="2000" spc="-40" dirty="0">
                <a:solidFill>
                  <a:srgbClr val="313131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13131"/>
                </a:solidFill>
                <a:latin typeface="Arial MT"/>
                <a:cs typeface="Arial MT"/>
              </a:rPr>
              <a:t>expect</a:t>
            </a:r>
            <a:r>
              <a:rPr sz="2000" spc="-35" dirty="0">
                <a:solidFill>
                  <a:srgbClr val="313131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13131"/>
                </a:solidFill>
                <a:latin typeface="Arial MT"/>
                <a:cs typeface="Arial MT"/>
              </a:rPr>
              <a:t>his</a:t>
            </a:r>
            <a:r>
              <a:rPr sz="2000" spc="-35" dirty="0">
                <a:solidFill>
                  <a:srgbClr val="313131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13131"/>
                </a:solidFill>
                <a:latin typeface="Arial MT"/>
                <a:cs typeface="Arial MT"/>
              </a:rPr>
              <a:t>son</a:t>
            </a:r>
            <a:r>
              <a:rPr sz="2000" spc="-40" dirty="0">
                <a:solidFill>
                  <a:srgbClr val="313131"/>
                </a:solidFill>
                <a:latin typeface="Arial MT"/>
                <a:cs typeface="Arial MT"/>
              </a:rPr>
              <a:t> </a:t>
            </a:r>
            <a:r>
              <a:rPr sz="2000" spc="-25" dirty="0">
                <a:solidFill>
                  <a:srgbClr val="313131"/>
                </a:solidFill>
                <a:latin typeface="Arial MT"/>
                <a:cs typeface="Arial MT"/>
              </a:rPr>
              <a:t>to </a:t>
            </a:r>
            <a:r>
              <a:rPr sz="2000" dirty="0">
                <a:solidFill>
                  <a:srgbClr val="313131"/>
                </a:solidFill>
                <a:latin typeface="Arial MT"/>
                <a:cs typeface="Arial MT"/>
              </a:rPr>
              <a:t>be...before</a:t>
            </a:r>
            <a:r>
              <a:rPr sz="2000" spc="-45" dirty="0">
                <a:solidFill>
                  <a:srgbClr val="313131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13131"/>
                </a:solidFill>
                <a:latin typeface="Arial MT"/>
                <a:cs typeface="Arial MT"/>
              </a:rPr>
              <a:t>he</a:t>
            </a:r>
            <a:r>
              <a:rPr sz="2000" spc="-40" dirty="0">
                <a:solidFill>
                  <a:srgbClr val="313131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13131"/>
                </a:solidFill>
                <a:latin typeface="Arial MT"/>
                <a:cs typeface="Arial MT"/>
              </a:rPr>
              <a:t>even</a:t>
            </a:r>
            <a:r>
              <a:rPr sz="2000" spc="-40" dirty="0">
                <a:solidFill>
                  <a:srgbClr val="313131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13131"/>
                </a:solidFill>
                <a:latin typeface="Arial MT"/>
                <a:cs typeface="Arial MT"/>
              </a:rPr>
              <a:t>has</a:t>
            </a:r>
            <a:r>
              <a:rPr sz="2000" spc="-40" dirty="0">
                <a:solidFill>
                  <a:srgbClr val="313131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13131"/>
                </a:solidFill>
                <a:latin typeface="Arial MT"/>
                <a:cs typeface="Arial MT"/>
              </a:rPr>
              <a:t>a</a:t>
            </a:r>
            <a:r>
              <a:rPr sz="2000" spc="-40" dirty="0">
                <a:solidFill>
                  <a:srgbClr val="313131"/>
                </a:solidFill>
                <a:latin typeface="Arial MT"/>
                <a:cs typeface="Arial MT"/>
              </a:rPr>
              <a:t> </a:t>
            </a:r>
            <a:r>
              <a:rPr sz="2000" spc="-20" dirty="0">
                <a:solidFill>
                  <a:srgbClr val="313131"/>
                </a:solidFill>
                <a:latin typeface="Arial MT"/>
                <a:cs typeface="Arial MT"/>
              </a:rPr>
              <a:t>son!</a:t>
            </a:r>
            <a:endParaRPr sz="20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359141" y="1325035"/>
            <a:ext cx="4610430" cy="3184525"/>
          </a:xfrm>
          <a:prstGeom prst="rect">
            <a:avLst/>
          </a:prstGeom>
        </p:spPr>
      </p:pic>
    </p:spTree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Example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84725" y="1246104"/>
            <a:ext cx="3853179" cy="36639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66040">
              <a:lnSpc>
                <a:spcPct val="113599"/>
              </a:lnSpc>
              <a:spcBef>
                <a:spcPts val="100"/>
              </a:spcBef>
            </a:pPr>
            <a:r>
              <a:rPr sz="2200" dirty="0">
                <a:solidFill>
                  <a:srgbClr val="313131"/>
                </a:solidFill>
                <a:latin typeface="Roboto"/>
                <a:cs typeface="Roboto"/>
              </a:rPr>
              <a:t>Our</a:t>
            </a:r>
            <a:r>
              <a:rPr sz="2200" spc="-95" dirty="0">
                <a:solidFill>
                  <a:srgbClr val="313131"/>
                </a:solidFill>
                <a:latin typeface="Roboto"/>
                <a:cs typeface="Roboto"/>
              </a:rPr>
              <a:t> </a:t>
            </a:r>
            <a:r>
              <a:rPr sz="2200" dirty="0">
                <a:solidFill>
                  <a:srgbClr val="313131"/>
                </a:solidFill>
                <a:latin typeface="Roboto"/>
                <a:cs typeface="Roboto"/>
              </a:rPr>
              <a:t>goal</a:t>
            </a:r>
            <a:r>
              <a:rPr sz="2200" spc="-95" dirty="0">
                <a:solidFill>
                  <a:srgbClr val="313131"/>
                </a:solidFill>
                <a:latin typeface="Roboto"/>
                <a:cs typeface="Roboto"/>
              </a:rPr>
              <a:t> </a:t>
            </a:r>
            <a:r>
              <a:rPr sz="2200" dirty="0">
                <a:solidFill>
                  <a:srgbClr val="313131"/>
                </a:solidFill>
                <a:latin typeface="Roboto"/>
                <a:cs typeface="Roboto"/>
              </a:rPr>
              <a:t>with</a:t>
            </a:r>
            <a:r>
              <a:rPr sz="2200" spc="-100" dirty="0">
                <a:solidFill>
                  <a:srgbClr val="313131"/>
                </a:solidFill>
                <a:latin typeface="Roboto"/>
                <a:cs typeface="Roboto"/>
              </a:rPr>
              <a:t> </a:t>
            </a:r>
            <a:r>
              <a:rPr sz="2200" spc="-10" dirty="0">
                <a:solidFill>
                  <a:srgbClr val="313131"/>
                </a:solidFill>
                <a:latin typeface="Roboto"/>
                <a:cs typeface="Roboto"/>
              </a:rPr>
              <a:t>linear</a:t>
            </a:r>
            <a:r>
              <a:rPr sz="2200" spc="-90" dirty="0">
                <a:solidFill>
                  <a:srgbClr val="313131"/>
                </a:solidFill>
                <a:latin typeface="Roboto"/>
                <a:cs typeface="Roboto"/>
              </a:rPr>
              <a:t> </a:t>
            </a:r>
            <a:r>
              <a:rPr sz="2200" spc="-10" dirty="0">
                <a:solidFill>
                  <a:srgbClr val="313131"/>
                </a:solidFill>
                <a:latin typeface="Roboto"/>
                <a:cs typeface="Roboto"/>
              </a:rPr>
              <a:t>regression </a:t>
            </a:r>
            <a:r>
              <a:rPr sz="2200" dirty="0">
                <a:solidFill>
                  <a:srgbClr val="313131"/>
                </a:solidFill>
                <a:latin typeface="Roboto"/>
                <a:cs typeface="Roboto"/>
              </a:rPr>
              <a:t>is</a:t>
            </a:r>
            <a:r>
              <a:rPr sz="2200" spc="-35" dirty="0">
                <a:solidFill>
                  <a:srgbClr val="313131"/>
                </a:solidFill>
                <a:latin typeface="Roboto"/>
                <a:cs typeface="Roboto"/>
              </a:rPr>
              <a:t> </a:t>
            </a:r>
            <a:r>
              <a:rPr sz="2200" dirty="0">
                <a:solidFill>
                  <a:srgbClr val="313131"/>
                </a:solidFill>
                <a:latin typeface="Roboto"/>
                <a:cs typeface="Roboto"/>
              </a:rPr>
              <a:t>to</a:t>
            </a:r>
            <a:r>
              <a:rPr sz="2200" spc="-25" dirty="0">
                <a:solidFill>
                  <a:srgbClr val="313131"/>
                </a:solidFill>
                <a:latin typeface="Roboto"/>
                <a:cs typeface="Roboto"/>
              </a:rPr>
              <a:t> </a:t>
            </a:r>
            <a:r>
              <a:rPr sz="2200" b="1" dirty="0">
                <a:solidFill>
                  <a:srgbClr val="313131"/>
                </a:solidFill>
                <a:latin typeface="Roboto"/>
                <a:cs typeface="Roboto"/>
              </a:rPr>
              <a:t>minimize</a:t>
            </a:r>
            <a:r>
              <a:rPr sz="2200" b="1" spc="-35" dirty="0">
                <a:solidFill>
                  <a:srgbClr val="313131"/>
                </a:solidFill>
                <a:latin typeface="Roboto"/>
                <a:cs typeface="Roboto"/>
              </a:rPr>
              <a:t> </a:t>
            </a:r>
            <a:r>
              <a:rPr sz="2200" b="1" dirty="0">
                <a:solidFill>
                  <a:srgbClr val="313131"/>
                </a:solidFill>
                <a:latin typeface="Roboto"/>
                <a:cs typeface="Roboto"/>
              </a:rPr>
              <a:t>the</a:t>
            </a:r>
            <a:r>
              <a:rPr sz="2200" b="1" spc="-30" dirty="0">
                <a:solidFill>
                  <a:srgbClr val="313131"/>
                </a:solidFill>
                <a:latin typeface="Roboto"/>
                <a:cs typeface="Roboto"/>
              </a:rPr>
              <a:t> </a:t>
            </a:r>
            <a:r>
              <a:rPr sz="2200" b="1" spc="-10" dirty="0">
                <a:solidFill>
                  <a:srgbClr val="313131"/>
                </a:solidFill>
                <a:latin typeface="Roboto"/>
                <a:cs typeface="Roboto"/>
              </a:rPr>
              <a:t>vertical </a:t>
            </a:r>
            <a:r>
              <a:rPr sz="2200" b="1" dirty="0">
                <a:solidFill>
                  <a:srgbClr val="313131"/>
                </a:solidFill>
                <a:latin typeface="Roboto"/>
                <a:cs typeface="Roboto"/>
              </a:rPr>
              <a:t>distance</a:t>
            </a:r>
            <a:r>
              <a:rPr sz="2200" b="1" spc="-80" dirty="0">
                <a:solidFill>
                  <a:srgbClr val="313131"/>
                </a:solidFill>
                <a:latin typeface="Roboto"/>
                <a:cs typeface="Roboto"/>
              </a:rPr>
              <a:t> </a:t>
            </a:r>
            <a:r>
              <a:rPr sz="2200" dirty="0">
                <a:solidFill>
                  <a:srgbClr val="313131"/>
                </a:solidFill>
                <a:latin typeface="Roboto"/>
                <a:cs typeface="Roboto"/>
              </a:rPr>
              <a:t>between</a:t>
            </a:r>
            <a:r>
              <a:rPr sz="2200" spc="-80" dirty="0">
                <a:solidFill>
                  <a:srgbClr val="313131"/>
                </a:solidFill>
                <a:latin typeface="Roboto"/>
                <a:cs typeface="Roboto"/>
              </a:rPr>
              <a:t> </a:t>
            </a:r>
            <a:r>
              <a:rPr sz="2200" dirty="0">
                <a:solidFill>
                  <a:srgbClr val="313131"/>
                </a:solidFill>
                <a:latin typeface="Roboto"/>
                <a:cs typeface="Roboto"/>
              </a:rPr>
              <a:t>all</a:t>
            </a:r>
            <a:r>
              <a:rPr sz="2200" spc="-80" dirty="0">
                <a:solidFill>
                  <a:srgbClr val="313131"/>
                </a:solidFill>
                <a:latin typeface="Roboto"/>
                <a:cs typeface="Roboto"/>
              </a:rPr>
              <a:t> </a:t>
            </a:r>
            <a:r>
              <a:rPr sz="2200" dirty="0">
                <a:solidFill>
                  <a:srgbClr val="313131"/>
                </a:solidFill>
                <a:latin typeface="Roboto"/>
                <a:cs typeface="Roboto"/>
              </a:rPr>
              <a:t>the</a:t>
            </a:r>
            <a:r>
              <a:rPr sz="2200" spc="-85" dirty="0">
                <a:solidFill>
                  <a:srgbClr val="313131"/>
                </a:solidFill>
                <a:latin typeface="Roboto"/>
                <a:cs typeface="Roboto"/>
              </a:rPr>
              <a:t> </a:t>
            </a:r>
            <a:r>
              <a:rPr sz="2200" spc="-20" dirty="0">
                <a:solidFill>
                  <a:srgbClr val="313131"/>
                </a:solidFill>
                <a:latin typeface="Roboto"/>
                <a:cs typeface="Roboto"/>
              </a:rPr>
              <a:t>data </a:t>
            </a:r>
            <a:r>
              <a:rPr sz="2200" spc="-10" dirty="0">
                <a:solidFill>
                  <a:srgbClr val="313131"/>
                </a:solidFill>
                <a:latin typeface="Roboto"/>
                <a:cs typeface="Roboto"/>
              </a:rPr>
              <a:t>points</a:t>
            </a:r>
            <a:r>
              <a:rPr sz="2200" spc="-90" dirty="0">
                <a:solidFill>
                  <a:srgbClr val="313131"/>
                </a:solidFill>
                <a:latin typeface="Roboto"/>
                <a:cs typeface="Roboto"/>
              </a:rPr>
              <a:t> </a:t>
            </a:r>
            <a:r>
              <a:rPr sz="2200" dirty="0">
                <a:solidFill>
                  <a:srgbClr val="313131"/>
                </a:solidFill>
                <a:latin typeface="Roboto"/>
                <a:cs typeface="Roboto"/>
              </a:rPr>
              <a:t>and</a:t>
            </a:r>
            <a:r>
              <a:rPr sz="2200" spc="-95" dirty="0">
                <a:solidFill>
                  <a:srgbClr val="313131"/>
                </a:solidFill>
                <a:latin typeface="Roboto"/>
                <a:cs typeface="Roboto"/>
              </a:rPr>
              <a:t> </a:t>
            </a:r>
            <a:r>
              <a:rPr sz="2200" dirty="0">
                <a:solidFill>
                  <a:srgbClr val="313131"/>
                </a:solidFill>
                <a:latin typeface="Roboto"/>
                <a:cs typeface="Roboto"/>
              </a:rPr>
              <a:t>our</a:t>
            </a:r>
            <a:r>
              <a:rPr sz="2200" spc="-85" dirty="0">
                <a:solidFill>
                  <a:srgbClr val="313131"/>
                </a:solidFill>
                <a:latin typeface="Roboto"/>
                <a:cs typeface="Roboto"/>
              </a:rPr>
              <a:t> </a:t>
            </a:r>
            <a:r>
              <a:rPr sz="2200" spc="-10" dirty="0">
                <a:solidFill>
                  <a:srgbClr val="313131"/>
                </a:solidFill>
                <a:latin typeface="Roboto"/>
                <a:cs typeface="Roboto"/>
              </a:rPr>
              <a:t>line.</a:t>
            </a:r>
            <a:endParaRPr sz="2200">
              <a:latin typeface="Roboto"/>
              <a:cs typeface="Roboto"/>
            </a:endParaRPr>
          </a:p>
          <a:p>
            <a:pPr marL="12700" marR="5080">
              <a:lnSpc>
                <a:spcPct val="113599"/>
              </a:lnSpc>
              <a:spcBef>
                <a:spcPts val="1650"/>
              </a:spcBef>
            </a:pPr>
            <a:r>
              <a:rPr sz="2200" dirty="0">
                <a:solidFill>
                  <a:srgbClr val="313131"/>
                </a:solidFill>
                <a:latin typeface="Roboto"/>
                <a:cs typeface="Roboto"/>
              </a:rPr>
              <a:t>So</a:t>
            </a:r>
            <a:r>
              <a:rPr sz="2200" spc="-60" dirty="0">
                <a:solidFill>
                  <a:srgbClr val="313131"/>
                </a:solidFill>
                <a:latin typeface="Roboto"/>
                <a:cs typeface="Roboto"/>
              </a:rPr>
              <a:t> </a:t>
            </a:r>
            <a:r>
              <a:rPr sz="2200" dirty="0">
                <a:solidFill>
                  <a:srgbClr val="313131"/>
                </a:solidFill>
                <a:latin typeface="Roboto"/>
                <a:cs typeface="Roboto"/>
              </a:rPr>
              <a:t>in</a:t>
            </a:r>
            <a:r>
              <a:rPr sz="2200" spc="-60" dirty="0">
                <a:solidFill>
                  <a:srgbClr val="313131"/>
                </a:solidFill>
                <a:latin typeface="Roboto"/>
                <a:cs typeface="Roboto"/>
              </a:rPr>
              <a:t> </a:t>
            </a:r>
            <a:r>
              <a:rPr sz="2200" spc="-20" dirty="0">
                <a:solidFill>
                  <a:srgbClr val="313131"/>
                </a:solidFill>
                <a:latin typeface="Roboto"/>
                <a:cs typeface="Roboto"/>
              </a:rPr>
              <a:t>determining</a:t>
            </a:r>
            <a:r>
              <a:rPr sz="2200" spc="-60" dirty="0">
                <a:solidFill>
                  <a:srgbClr val="313131"/>
                </a:solidFill>
                <a:latin typeface="Roboto"/>
                <a:cs typeface="Roboto"/>
              </a:rPr>
              <a:t> </a:t>
            </a:r>
            <a:r>
              <a:rPr sz="2200" dirty="0">
                <a:solidFill>
                  <a:srgbClr val="313131"/>
                </a:solidFill>
                <a:latin typeface="Roboto"/>
                <a:cs typeface="Roboto"/>
              </a:rPr>
              <a:t>the</a:t>
            </a:r>
            <a:r>
              <a:rPr sz="2200" spc="-50" dirty="0">
                <a:solidFill>
                  <a:srgbClr val="313131"/>
                </a:solidFill>
                <a:latin typeface="Roboto"/>
                <a:cs typeface="Roboto"/>
              </a:rPr>
              <a:t> </a:t>
            </a:r>
            <a:r>
              <a:rPr sz="2200" b="1" dirty="0">
                <a:solidFill>
                  <a:srgbClr val="313131"/>
                </a:solidFill>
                <a:latin typeface="Roboto"/>
                <a:cs typeface="Roboto"/>
              </a:rPr>
              <a:t>best</a:t>
            </a:r>
            <a:r>
              <a:rPr sz="2200" b="1" spc="-60" dirty="0">
                <a:solidFill>
                  <a:srgbClr val="313131"/>
                </a:solidFill>
                <a:latin typeface="Roboto"/>
                <a:cs typeface="Roboto"/>
              </a:rPr>
              <a:t> </a:t>
            </a:r>
            <a:r>
              <a:rPr sz="2200" b="1" spc="-10" dirty="0">
                <a:solidFill>
                  <a:srgbClr val="313131"/>
                </a:solidFill>
                <a:latin typeface="Roboto"/>
                <a:cs typeface="Roboto"/>
              </a:rPr>
              <a:t>line</a:t>
            </a:r>
            <a:r>
              <a:rPr sz="2200" spc="-10" dirty="0">
                <a:solidFill>
                  <a:srgbClr val="313131"/>
                </a:solidFill>
                <a:latin typeface="Roboto"/>
                <a:cs typeface="Roboto"/>
              </a:rPr>
              <a:t>, </a:t>
            </a:r>
            <a:r>
              <a:rPr sz="2200" dirty="0">
                <a:solidFill>
                  <a:srgbClr val="313131"/>
                </a:solidFill>
                <a:latin typeface="Roboto"/>
                <a:cs typeface="Roboto"/>
              </a:rPr>
              <a:t>we</a:t>
            </a:r>
            <a:r>
              <a:rPr sz="2200" spc="-45" dirty="0">
                <a:solidFill>
                  <a:srgbClr val="313131"/>
                </a:solidFill>
                <a:latin typeface="Roboto"/>
                <a:cs typeface="Roboto"/>
              </a:rPr>
              <a:t> </a:t>
            </a:r>
            <a:r>
              <a:rPr sz="2200" dirty="0">
                <a:solidFill>
                  <a:srgbClr val="313131"/>
                </a:solidFill>
                <a:latin typeface="Roboto"/>
                <a:cs typeface="Roboto"/>
              </a:rPr>
              <a:t>are</a:t>
            </a:r>
            <a:r>
              <a:rPr sz="2200" spc="-45" dirty="0">
                <a:solidFill>
                  <a:srgbClr val="313131"/>
                </a:solidFill>
                <a:latin typeface="Roboto"/>
                <a:cs typeface="Roboto"/>
              </a:rPr>
              <a:t> </a:t>
            </a:r>
            <a:r>
              <a:rPr sz="2200" spc="-20" dirty="0">
                <a:solidFill>
                  <a:srgbClr val="313131"/>
                </a:solidFill>
                <a:latin typeface="Roboto"/>
                <a:cs typeface="Roboto"/>
              </a:rPr>
              <a:t>attempting</a:t>
            </a:r>
            <a:r>
              <a:rPr sz="2200" spc="-35" dirty="0">
                <a:solidFill>
                  <a:srgbClr val="313131"/>
                </a:solidFill>
                <a:latin typeface="Roboto"/>
                <a:cs typeface="Roboto"/>
              </a:rPr>
              <a:t> </a:t>
            </a:r>
            <a:r>
              <a:rPr sz="2200" dirty="0">
                <a:solidFill>
                  <a:srgbClr val="313131"/>
                </a:solidFill>
                <a:latin typeface="Roboto"/>
                <a:cs typeface="Roboto"/>
              </a:rPr>
              <a:t>to</a:t>
            </a:r>
            <a:r>
              <a:rPr sz="2200" spc="-40" dirty="0">
                <a:solidFill>
                  <a:srgbClr val="313131"/>
                </a:solidFill>
                <a:latin typeface="Roboto"/>
                <a:cs typeface="Roboto"/>
              </a:rPr>
              <a:t> </a:t>
            </a:r>
            <a:r>
              <a:rPr sz="2200" spc="-10" dirty="0">
                <a:solidFill>
                  <a:srgbClr val="313131"/>
                </a:solidFill>
                <a:latin typeface="Roboto"/>
                <a:cs typeface="Roboto"/>
              </a:rPr>
              <a:t>minimize </a:t>
            </a:r>
            <a:r>
              <a:rPr sz="2200" dirty="0">
                <a:solidFill>
                  <a:srgbClr val="313131"/>
                </a:solidFill>
                <a:latin typeface="Roboto"/>
                <a:cs typeface="Roboto"/>
              </a:rPr>
              <a:t>the</a:t>
            </a:r>
            <a:r>
              <a:rPr sz="2200" spc="-75" dirty="0">
                <a:solidFill>
                  <a:srgbClr val="313131"/>
                </a:solidFill>
                <a:latin typeface="Roboto"/>
                <a:cs typeface="Roboto"/>
              </a:rPr>
              <a:t> </a:t>
            </a:r>
            <a:r>
              <a:rPr sz="2200" spc="-20" dirty="0">
                <a:solidFill>
                  <a:srgbClr val="313131"/>
                </a:solidFill>
                <a:latin typeface="Roboto"/>
                <a:cs typeface="Roboto"/>
              </a:rPr>
              <a:t>distance</a:t>
            </a:r>
            <a:r>
              <a:rPr sz="2200" spc="-75" dirty="0">
                <a:solidFill>
                  <a:srgbClr val="313131"/>
                </a:solidFill>
                <a:latin typeface="Roboto"/>
                <a:cs typeface="Roboto"/>
              </a:rPr>
              <a:t> </a:t>
            </a:r>
            <a:r>
              <a:rPr sz="2200" dirty="0">
                <a:solidFill>
                  <a:srgbClr val="313131"/>
                </a:solidFill>
                <a:latin typeface="Roboto"/>
                <a:cs typeface="Roboto"/>
              </a:rPr>
              <a:t>between</a:t>
            </a:r>
            <a:r>
              <a:rPr sz="2200" spc="-45" dirty="0">
                <a:solidFill>
                  <a:srgbClr val="313131"/>
                </a:solidFill>
                <a:latin typeface="Roboto"/>
                <a:cs typeface="Roboto"/>
              </a:rPr>
              <a:t> </a:t>
            </a:r>
            <a:r>
              <a:rPr sz="2200" b="1" dirty="0">
                <a:solidFill>
                  <a:srgbClr val="313131"/>
                </a:solidFill>
                <a:latin typeface="Roboto"/>
                <a:cs typeface="Roboto"/>
              </a:rPr>
              <a:t>all</a:t>
            </a:r>
            <a:r>
              <a:rPr sz="2200" b="1" spc="-70" dirty="0">
                <a:solidFill>
                  <a:srgbClr val="313131"/>
                </a:solidFill>
                <a:latin typeface="Roboto"/>
                <a:cs typeface="Roboto"/>
              </a:rPr>
              <a:t> </a:t>
            </a:r>
            <a:r>
              <a:rPr sz="2200" spc="-25" dirty="0">
                <a:solidFill>
                  <a:srgbClr val="313131"/>
                </a:solidFill>
                <a:latin typeface="Roboto"/>
                <a:cs typeface="Roboto"/>
              </a:rPr>
              <a:t>the </a:t>
            </a:r>
            <a:r>
              <a:rPr sz="2200" spc="-10" dirty="0">
                <a:solidFill>
                  <a:srgbClr val="313131"/>
                </a:solidFill>
                <a:latin typeface="Roboto"/>
                <a:cs typeface="Roboto"/>
              </a:rPr>
              <a:t>points</a:t>
            </a:r>
            <a:r>
              <a:rPr sz="2200" spc="-90" dirty="0">
                <a:solidFill>
                  <a:srgbClr val="313131"/>
                </a:solidFill>
                <a:latin typeface="Roboto"/>
                <a:cs typeface="Roboto"/>
              </a:rPr>
              <a:t> </a:t>
            </a:r>
            <a:r>
              <a:rPr sz="2200" dirty="0">
                <a:solidFill>
                  <a:srgbClr val="313131"/>
                </a:solidFill>
                <a:latin typeface="Roboto"/>
                <a:cs typeface="Roboto"/>
              </a:rPr>
              <a:t>and</a:t>
            </a:r>
            <a:r>
              <a:rPr sz="2200" spc="-90" dirty="0">
                <a:solidFill>
                  <a:srgbClr val="313131"/>
                </a:solidFill>
                <a:latin typeface="Roboto"/>
                <a:cs typeface="Roboto"/>
              </a:rPr>
              <a:t> </a:t>
            </a:r>
            <a:r>
              <a:rPr sz="2200" dirty="0">
                <a:solidFill>
                  <a:srgbClr val="313131"/>
                </a:solidFill>
                <a:latin typeface="Roboto"/>
                <a:cs typeface="Roboto"/>
              </a:rPr>
              <a:t>their</a:t>
            </a:r>
            <a:r>
              <a:rPr sz="2200" spc="-90" dirty="0">
                <a:solidFill>
                  <a:srgbClr val="313131"/>
                </a:solidFill>
                <a:latin typeface="Roboto"/>
                <a:cs typeface="Roboto"/>
              </a:rPr>
              <a:t> </a:t>
            </a:r>
            <a:r>
              <a:rPr sz="2200" spc="-20" dirty="0">
                <a:solidFill>
                  <a:srgbClr val="313131"/>
                </a:solidFill>
                <a:latin typeface="Roboto"/>
                <a:cs typeface="Roboto"/>
              </a:rPr>
              <a:t>distance</a:t>
            </a:r>
            <a:r>
              <a:rPr sz="2200" spc="-90" dirty="0">
                <a:solidFill>
                  <a:srgbClr val="313131"/>
                </a:solidFill>
                <a:latin typeface="Roboto"/>
                <a:cs typeface="Roboto"/>
              </a:rPr>
              <a:t> </a:t>
            </a:r>
            <a:r>
              <a:rPr sz="2200" spc="-25" dirty="0">
                <a:solidFill>
                  <a:srgbClr val="313131"/>
                </a:solidFill>
                <a:latin typeface="Roboto"/>
                <a:cs typeface="Roboto"/>
              </a:rPr>
              <a:t>to</a:t>
            </a:r>
            <a:r>
              <a:rPr sz="2200" spc="550" dirty="0">
                <a:solidFill>
                  <a:srgbClr val="313131"/>
                </a:solidFill>
                <a:latin typeface="Roboto"/>
                <a:cs typeface="Roboto"/>
              </a:rPr>
              <a:t> </a:t>
            </a:r>
            <a:r>
              <a:rPr sz="2200" dirty="0">
                <a:solidFill>
                  <a:srgbClr val="313131"/>
                </a:solidFill>
                <a:latin typeface="Roboto"/>
                <a:cs typeface="Roboto"/>
              </a:rPr>
              <a:t>our</a:t>
            </a:r>
            <a:r>
              <a:rPr sz="2200" spc="-85" dirty="0">
                <a:solidFill>
                  <a:srgbClr val="313131"/>
                </a:solidFill>
                <a:latin typeface="Roboto"/>
                <a:cs typeface="Roboto"/>
              </a:rPr>
              <a:t> </a:t>
            </a:r>
            <a:r>
              <a:rPr sz="2200" spc="-10" dirty="0">
                <a:solidFill>
                  <a:srgbClr val="313131"/>
                </a:solidFill>
                <a:latin typeface="Roboto"/>
                <a:cs typeface="Roboto"/>
              </a:rPr>
              <a:t>line.</a:t>
            </a:r>
            <a:endParaRPr sz="2200">
              <a:latin typeface="Roboto"/>
              <a:cs typeface="Roboto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215750" y="1229975"/>
            <a:ext cx="4928250" cy="3470774"/>
          </a:xfrm>
          <a:prstGeom prst="rect">
            <a:avLst/>
          </a:prstGeom>
        </p:spPr>
      </p:pic>
    </p:spTree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Example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11700" y="1397741"/>
            <a:ext cx="3796665" cy="2692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3599"/>
              </a:lnSpc>
              <a:spcBef>
                <a:spcPts val="100"/>
              </a:spcBef>
            </a:pPr>
            <a:r>
              <a:rPr sz="2200" dirty="0">
                <a:solidFill>
                  <a:srgbClr val="313131"/>
                </a:solidFill>
                <a:latin typeface="Roboto"/>
                <a:cs typeface="Roboto"/>
              </a:rPr>
              <a:t>There</a:t>
            </a:r>
            <a:r>
              <a:rPr sz="2200" spc="-55" dirty="0">
                <a:solidFill>
                  <a:srgbClr val="313131"/>
                </a:solidFill>
                <a:latin typeface="Roboto"/>
                <a:cs typeface="Roboto"/>
              </a:rPr>
              <a:t> </a:t>
            </a:r>
            <a:r>
              <a:rPr sz="2200" dirty="0">
                <a:solidFill>
                  <a:srgbClr val="313131"/>
                </a:solidFill>
                <a:latin typeface="Roboto"/>
                <a:cs typeface="Roboto"/>
              </a:rPr>
              <a:t>are</a:t>
            </a:r>
            <a:r>
              <a:rPr sz="2200" spc="-55" dirty="0">
                <a:solidFill>
                  <a:srgbClr val="313131"/>
                </a:solidFill>
                <a:latin typeface="Roboto"/>
                <a:cs typeface="Roboto"/>
              </a:rPr>
              <a:t> </a:t>
            </a:r>
            <a:r>
              <a:rPr sz="2200" dirty="0">
                <a:solidFill>
                  <a:srgbClr val="313131"/>
                </a:solidFill>
                <a:latin typeface="Roboto"/>
                <a:cs typeface="Roboto"/>
              </a:rPr>
              <a:t>lots</a:t>
            </a:r>
            <a:r>
              <a:rPr sz="2200" spc="-45" dirty="0">
                <a:solidFill>
                  <a:srgbClr val="313131"/>
                </a:solidFill>
                <a:latin typeface="Roboto"/>
                <a:cs typeface="Roboto"/>
              </a:rPr>
              <a:t> </a:t>
            </a:r>
            <a:r>
              <a:rPr sz="2200" dirty="0">
                <a:solidFill>
                  <a:srgbClr val="313131"/>
                </a:solidFill>
                <a:latin typeface="Roboto"/>
                <a:cs typeface="Roboto"/>
              </a:rPr>
              <a:t>of</a:t>
            </a:r>
            <a:r>
              <a:rPr sz="2200" spc="-50" dirty="0">
                <a:solidFill>
                  <a:srgbClr val="313131"/>
                </a:solidFill>
                <a:latin typeface="Roboto"/>
                <a:cs typeface="Roboto"/>
              </a:rPr>
              <a:t> </a:t>
            </a:r>
            <a:r>
              <a:rPr sz="2200" spc="-10" dirty="0">
                <a:solidFill>
                  <a:srgbClr val="313131"/>
                </a:solidFill>
                <a:latin typeface="Roboto"/>
                <a:cs typeface="Roboto"/>
              </a:rPr>
              <a:t>different </a:t>
            </a:r>
            <a:r>
              <a:rPr sz="2200" spc="-20" dirty="0">
                <a:solidFill>
                  <a:srgbClr val="313131"/>
                </a:solidFill>
                <a:latin typeface="Roboto"/>
                <a:cs typeface="Roboto"/>
              </a:rPr>
              <a:t>ways</a:t>
            </a:r>
            <a:r>
              <a:rPr sz="2200" spc="-85" dirty="0">
                <a:solidFill>
                  <a:srgbClr val="313131"/>
                </a:solidFill>
                <a:latin typeface="Roboto"/>
                <a:cs typeface="Roboto"/>
              </a:rPr>
              <a:t> </a:t>
            </a:r>
            <a:r>
              <a:rPr sz="2200" dirty="0">
                <a:solidFill>
                  <a:srgbClr val="313131"/>
                </a:solidFill>
                <a:latin typeface="Roboto"/>
                <a:cs typeface="Roboto"/>
              </a:rPr>
              <a:t>to</a:t>
            </a:r>
            <a:r>
              <a:rPr sz="2200" spc="-85" dirty="0">
                <a:solidFill>
                  <a:srgbClr val="313131"/>
                </a:solidFill>
                <a:latin typeface="Roboto"/>
                <a:cs typeface="Roboto"/>
              </a:rPr>
              <a:t> </a:t>
            </a:r>
            <a:r>
              <a:rPr sz="2200" dirty="0">
                <a:solidFill>
                  <a:srgbClr val="313131"/>
                </a:solidFill>
                <a:latin typeface="Roboto"/>
                <a:cs typeface="Roboto"/>
              </a:rPr>
              <a:t>minimize</a:t>
            </a:r>
            <a:r>
              <a:rPr sz="2200" spc="-90" dirty="0">
                <a:solidFill>
                  <a:srgbClr val="313131"/>
                </a:solidFill>
                <a:latin typeface="Roboto"/>
                <a:cs typeface="Roboto"/>
              </a:rPr>
              <a:t> </a:t>
            </a:r>
            <a:r>
              <a:rPr sz="2200" spc="-10" dirty="0">
                <a:solidFill>
                  <a:srgbClr val="313131"/>
                </a:solidFill>
                <a:latin typeface="Roboto"/>
                <a:cs typeface="Roboto"/>
              </a:rPr>
              <a:t>this,</a:t>
            </a:r>
            <a:r>
              <a:rPr sz="2200" spc="-85" dirty="0">
                <a:solidFill>
                  <a:srgbClr val="313131"/>
                </a:solidFill>
                <a:latin typeface="Roboto"/>
                <a:cs typeface="Roboto"/>
              </a:rPr>
              <a:t> </a:t>
            </a:r>
            <a:r>
              <a:rPr sz="2200" dirty="0">
                <a:solidFill>
                  <a:srgbClr val="313131"/>
                </a:solidFill>
                <a:latin typeface="Roboto"/>
                <a:cs typeface="Roboto"/>
              </a:rPr>
              <a:t>(sum</a:t>
            </a:r>
            <a:r>
              <a:rPr sz="2200" spc="-85" dirty="0">
                <a:solidFill>
                  <a:srgbClr val="313131"/>
                </a:solidFill>
                <a:latin typeface="Roboto"/>
                <a:cs typeface="Roboto"/>
              </a:rPr>
              <a:t> </a:t>
            </a:r>
            <a:r>
              <a:rPr sz="2200" spc="-25" dirty="0">
                <a:solidFill>
                  <a:srgbClr val="313131"/>
                </a:solidFill>
                <a:latin typeface="Roboto"/>
                <a:cs typeface="Roboto"/>
              </a:rPr>
              <a:t>of </a:t>
            </a:r>
            <a:r>
              <a:rPr sz="2200" spc="-20" dirty="0">
                <a:solidFill>
                  <a:srgbClr val="313131"/>
                </a:solidFill>
                <a:latin typeface="Roboto"/>
                <a:cs typeface="Roboto"/>
              </a:rPr>
              <a:t>squared</a:t>
            </a:r>
            <a:r>
              <a:rPr sz="2200" spc="-90" dirty="0">
                <a:solidFill>
                  <a:srgbClr val="313131"/>
                </a:solidFill>
                <a:latin typeface="Roboto"/>
                <a:cs typeface="Roboto"/>
              </a:rPr>
              <a:t> </a:t>
            </a:r>
            <a:r>
              <a:rPr sz="2200" spc="-10" dirty="0">
                <a:solidFill>
                  <a:srgbClr val="313131"/>
                </a:solidFill>
                <a:latin typeface="Roboto"/>
                <a:cs typeface="Roboto"/>
              </a:rPr>
              <a:t>errors,</a:t>
            </a:r>
            <a:r>
              <a:rPr sz="2200" spc="-85" dirty="0">
                <a:solidFill>
                  <a:srgbClr val="313131"/>
                </a:solidFill>
                <a:latin typeface="Roboto"/>
                <a:cs typeface="Roboto"/>
              </a:rPr>
              <a:t> </a:t>
            </a:r>
            <a:r>
              <a:rPr sz="2200" dirty="0">
                <a:solidFill>
                  <a:srgbClr val="313131"/>
                </a:solidFill>
                <a:latin typeface="Roboto"/>
                <a:cs typeface="Roboto"/>
              </a:rPr>
              <a:t>sum</a:t>
            </a:r>
            <a:r>
              <a:rPr sz="2200" spc="-80" dirty="0">
                <a:solidFill>
                  <a:srgbClr val="313131"/>
                </a:solidFill>
                <a:latin typeface="Roboto"/>
                <a:cs typeface="Roboto"/>
              </a:rPr>
              <a:t> </a:t>
            </a:r>
            <a:r>
              <a:rPr sz="2200" spc="-25" dirty="0">
                <a:solidFill>
                  <a:srgbClr val="313131"/>
                </a:solidFill>
                <a:latin typeface="Roboto"/>
                <a:cs typeface="Roboto"/>
              </a:rPr>
              <a:t>of </a:t>
            </a:r>
            <a:r>
              <a:rPr sz="2200" spc="-20" dirty="0">
                <a:solidFill>
                  <a:srgbClr val="313131"/>
                </a:solidFill>
                <a:latin typeface="Roboto"/>
                <a:cs typeface="Roboto"/>
              </a:rPr>
              <a:t>absolute</a:t>
            </a:r>
            <a:r>
              <a:rPr sz="2200" spc="-75" dirty="0">
                <a:solidFill>
                  <a:srgbClr val="313131"/>
                </a:solidFill>
                <a:latin typeface="Roboto"/>
                <a:cs typeface="Roboto"/>
              </a:rPr>
              <a:t> </a:t>
            </a:r>
            <a:r>
              <a:rPr sz="2200" spc="-10" dirty="0">
                <a:solidFill>
                  <a:srgbClr val="313131"/>
                </a:solidFill>
                <a:latin typeface="Roboto"/>
                <a:cs typeface="Roboto"/>
              </a:rPr>
              <a:t>errors,</a:t>
            </a:r>
            <a:r>
              <a:rPr sz="2200" spc="-70" dirty="0">
                <a:solidFill>
                  <a:srgbClr val="313131"/>
                </a:solidFill>
                <a:latin typeface="Roboto"/>
                <a:cs typeface="Roboto"/>
              </a:rPr>
              <a:t> </a:t>
            </a:r>
            <a:r>
              <a:rPr sz="2200" dirty="0">
                <a:solidFill>
                  <a:srgbClr val="313131"/>
                </a:solidFill>
                <a:latin typeface="Roboto"/>
                <a:cs typeface="Roboto"/>
              </a:rPr>
              <a:t>etc),</a:t>
            </a:r>
            <a:r>
              <a:rPr sz="2200" spc="-70" dirty="0">
                <a:solidFill>
                  <a:srgbClr val="313131"/>
                </a:solidFill>
                <a:latin typeface="Roboto"/>
                <a:cs typeface="Roboto"/>
              </a:rPr>
              <a:t> </a:t>
            </a:r>
            <a:r>
              <a:rPr sz="2200" dirty="0">
                <a:solidFill>
                  <a:srgbClr val="313131"/>
                </a:solidFill>
                <a:latin typeface="Roboto"/>
                <a:cs typeface="Roboto"/>
              </a:rPr>
              <a:t>but</a:t>
            </a:r>
            <a:r>
              <a:rPr sz="2200" spc="-70" dirty="0">
                <a:solidFill>
                  <a:srgbClr val="313131"/>
                </a:solidFill>
                <a:latin typeface="Roboto"/>
                <a:cs typeface="Roboto"/>
              </a:rPr>
              <a:t> </a:t>
            </a:r>
            <a:r>
              <a:rPr sz="2200" spc="-25" dirty="0">
                <a:solidFill>
                  <a:srgbClr val="313131"/>
                </a:solidFill>
                <a:latin typeface="Roboto"/>
                <a:cs typeface="Roboto"/>
              </a:rPr>
              <a:t>all </a:t>
            </a:r>
            <a:r>
              <a:rPr sz="2200" dirty="0">
                <a:solidFill>
                  <a:srgbClr val="313131"/>
                </a:solidFill>
                <a:latin typeface="Roboto"/>
                <a:cs typeface="Roboto"/>
              </a:rPr>
              <a:t>these</a:t>
            </a:r>
            <a:r>
              <a:rPr sz="2200" spc="-95" dirty="0">
                <a:solidFill>
                  <a:srgbClr val="313131"/>
                </a:solidFill>
                <a:latin typeface="Roboto"/>
                <a:cs typeface="Roboto"/>
              </a:rPr>
              <a:t> </a:t>
            </a:r>
            <a:r>
              <a:rPr sz="2200" dirty="0">
                <a:solidFill>
                  <a:srgbClr val="313131"/>
                </a:solidFill>
                <a:latin typeface="Roboto"/>
                <a:cs typeface="Roboto"/>
              </a:rPr>
              <a:t>methods</a:t>
            </a:r>
            <a:r>
              <a:rPr sz="2200" spc="-85" dirty="0">
                <a:solidFill>
                  <a:srgbClr val="313131"/>
                </a:solidFill>
                <a:latin typeface="Roboto"/>
                <a:cs typeface="Roboto"/>
              </a:rPr>
              <a:t> </a:t>
            </a:r>
            <a:r>
              <a:rPr sz="2200" dirty="0">
                <a:solidFill>
                  <a:srgbClr val="313131"/>
                </a:solidFill>
                <a:latin typeface="Roboto"/>
                <a:cs typeface="Roboto"/>
              </a:rPr>
              <a:t>have</a:t>
            </a:r>
            <a:r>
              <a:rPr sz="2200" spc="-90" dirty="0">
                <a:solidFill>
                  <a:srgbClr val="313131"/>
                </a:solidFill>
                <a:latin typeface="Roboto"/>
                <a:cs typeface="Roboto"/>
              </a:rPr>
              <a:t> </a:t>
            </a:r>
            <a:r>
              <a:rPr sz="2200" dirty="0">
                <a:solidFill>
                  <a:srgbClr val="313131"/>
                </a:solidFill>
                <a:latin typeface="Roboto"/>
                <a:cs typeface="Roboto"/>
              </a:rPr>
              <a:t>a</a:t>
            </a:r>
            <a:r>
              <a:rPr sz="2200" spc="-95" dirty="0">
                <a:solidFill>
                  <a:srgbClr val="313131"/>
                </a:solidFill>
                <a:latin typeface="Roboto"/>
                <a:cs typeface="Roboto"/>
              </a:rPr>
              <a:t> </a:t>
            </a:r>
            <a:r>
              <a:rPr sz="2200" spc="-10" dirty="0">
                <a:solidFill>
                  <a:srgbClr val="313131"/>
                </a:solidFill>
                <a:latin typeface="Roboto"/>
                <a:cs typeface="Roboto"/>
              </a:rPr>
              <a:t>general </a:t>
            </a:r>
            <a:r>
              <a:rPr sz="2200" dirty="0">
                <a:solidFill>
                  <a:srgbClr val="313131"/>
                </a:solidFill>
                <a:latin typeface="Roboto"/>
                <a:cs typeface="Roboto"/>
              </a:rPr>
              <a:t>goal</a:t>
            </a:r>
            <a:r>
              <a:rPr sz="2200" spc="-50" dirty="0">
                <a:solidFill>
                  <a:srgbClr val="313131"/>
                </a:solidFill>
                <a:latin typeface="Roboto"/>
                <a:cs typeface="Roboto"/>
              </a:rPr>
              <a:t> </a:t>
            </a:r>
            <a:r>
              <a:rPr sz="2200" dirty="0">
                <a:solidFill>
                  <a:srgbClr val="313131"/>
                </a:solidFill>
                <a:latin typeface="Roboto"/>
                <a:cs typeface="Roboto"/>
              </a:rPr>
              <a:t>of</a:t>
            </a:r>
            <a:r>
              <a:rPr sz="2200" spc="-50" dirty="0">
                <a:solidFill>
                  <a:srgbClr val="313131"/>
                </a:solidFill>
                <a:latin typeface="Roboto"/>
                <a:cs typeface="Roboto"/>
              </a:rPr>
              <a:t> </a:t>
            </a:r>
            <a:r>
              <a:rPr sz="2200" spc="-20" dirty="0">
                <a:solidFill>
                  <a:srgbClr val="313131"/>
                </a:solidFill>
                <a:latin typeface="Roboto"/>
                <a:cs typeface="Roboto"/>
              </a:rPr>
              <a:t>minimizing</a:t>
            </a:r>
            <a:r>
              <a:rPr sz="2200" spc="-45" dirty="0">
                <a:solidFill>
                  <a:srgbClr val="313131"/>
                </a:solidFill>
                <a:latin typeface="Roboto"/>
                <a:cs typeface="Roboto"/>
              </a:rPr>
              <a:t> </a:t>
            </a:r>
            <a:r>
              <a:rPr sz="2200" spc="-20" dirty="0">
                <a:solidFill>
                  <a:srgbClr val="313131"/>
                </a:solidFill>
                <a:latin typeface="Roboto"/>
                <a:cs typeface="Roboto"/>
              </a:rPr>
              <a:t>this </a:t>
            </a:r>
            <a:r>
              <a:rPr sz="2200" spc="-10" dirty="0">
                <a:solidFill>
                  <a:srgbClr val="313131"/>
                </a:solidFill>
                <a:latin typeface="Roboto"/>
                <a:cs typeface="Roboto"/>
              </a:rPr>
              <a:t>distance.</a:t>
            </a:r>
            <a:endParaRPr sz="2200" dirty="0">
              <a:latin typeface="Roboto"/>
              <a:cs typeface="Roboto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265156" y="1328787"/>
            <a:ext cx="4798559" cy="3310204"/>
          </a:xfrm>
          <a:prstGeom prst="rect">
            <a:avLst/>
          </a:prstGeom>
        </p:spPr>
      </p:pic>
    </p:spTree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681221" y="1051777"/>
            <a:ext cx="3865657" cy="2907148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Example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4151081" cy="217335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122555">
              <a:lnSpc>
                <a:spcPct val="113599"/>
              </a:lnSpc>
              <a:spcBef>
                <a:spcPts val="100"/>
              </a:spcBef>
            </a:pPr>
            <a:r>
              <a:rPr dirty="0"/>
              <a:t>For</a:t>
            </a:r>
            <a:r>
              <a:rPr spc="-60" dirty="0"/>
              <a:t> </a:t>
            </a:r>
            <a:r>
              <a:rPr dirty="0"/>
              <a:t>example,</a:t>
            </a:r>
            <a:r>
              <a:rPr spc="-55" dirty="0"/>
              <a:t> </a:t>
            </a:r>
            <a:r>
              <a:rPr dirty="0"/>
              <a:t>one</a:t>
            </a:r>
            <a:r>
              <a:rPr spc="-60" dirty="0"/>
              <a:t> </a:t>
            </a:r>
            <a:r>
              <a:rPr dirty="0"/>
              <a:t>of</a:t>
            </a:r>
            <a:r>
              <a:rPr spc="-55" dirty="0"/>
              <a:t> </a:t>
            </a:r>
            <a:r>
              <a:rPr dirty="0"/>
              <a:t>the</a:t>
            </a:r>
            <a:r>
              <a:rPr spc="-55" dirty="0"/>
              <a:t> </a:t>
            </a:r>
            <a:r>
              <a:rPr spc="-20" dirty="0"/>
              <a:t>most </a:t>
            </a:r>
            <a:r>
              <a:rPr spc="-10" dirty="0"/>
              <a:t>popular</a:t>
            </a:r>
            <a:r>
              <a:rPr spc="-95" dirty="0"/>
              <a:t> </a:t>
            </a:r>
            <a:r>
              <a:rPr dirty="0"/>
              <a:t>methods</a:t>
            </a:r>
            <a:r>
              <a:rPr spc="-90" dirty="0"/>
              <a:t> </a:t>
            </a:r>
            <a:r>
              <a:rPr dirty="0"/>
              <a:t>is</a:t>
            </a:r>
            <a:r>
              <a:rPr spc="-90" dirty="0"/>
              <a:t> </a:t>
            </a:r>
            <a:r>
              <a:rPr dirty="0"/>
              <a:t>the</a:t>
            </a:r>
            <a:r>
              <a:rPr spc="-90" dirty="0"/>
              <a:t> </a:t>
            </a:r>
            <a:r>
              <a:rPr spc="-10" dirty="0"/>
              <a:t>least squares</a:t>
            </a:r>
            <a:r>
              <a:rPr spc="-125" dirty="0"/>
              <a:t> </a:t>
            </a:r>
            <a:r>
              <a:rPr spc="-10" dirty="0"/>
              <a:t>method.</a:t>
            </a:r>
          </a:p>
          <a:p>
            <a:pPr marL="12700" marR="5080">
              <a:lnSpc>
                <a:spcPct val="113599"/>
              </a:lnSpc>
              <a:spcBef>
                <a:spcPts val="1650"/>
              </a:spcBef>
            </a:pPr>
            <a:r>
              <a:rPr dirty="0"/>
              <a:t>Here</a:t>
            </a:r>
            <a:r>
              <a:rPr spc="-80" dirty="0"/>
              <a:t> </a:t>
            </a:r>
            <a:r>
              <a:rPr dirty="0"/>
              <a:t>we</a:t>
            </a:r>
            <a:r>
              <a:rPr spc="-75" dirty="0"/>
              <a:t> </a:t>
            </a:r>
            <a:r>
              <a:rPr dirty="0"/>
              <a:t>have</a:t>
            </a:r>
            <a:r>
              <a:rPr spc="-75" dirty="0"/>
              <a:t> </a:t>
            </a:r>
            <a:r>
              <a:rPr dirty="0"/>
              <a:t>blue</a:t>
            </a:r>
            <a:r>
              <a:rPr spc="-80" dirty="0"/>
              <a:t> </a:t>
            </a:r>
            <a:r>
              <a:rPr dirty="0"/>
              <a:t>data</a:t>
            </a:r>
            <a:r>
              <a:rPr spc="-75" dirty="0"/>
              <a:t> </a:t>
            </a:r>
            <a:r>
              <a:rPr spc="-10" dirty="0"/>
              <a:t>points </a:t>
            </a:r>
            <a:r>
              <a:rPr dirty="0"/>
              <a:t>along</a:t>
            </a:r>
            <a:r>
              <a:rPr spc="-85" dirty="0"/>
              <a:t> </a:t>
            </a:r>
            <a:r>
              <a:rPr dirty="0"/>
              <a:t>an</a:t>
            </a:r>
            <a:r>
              <a:rPr spc="-85" dirty="0"/>
              <a:t> </a:t>
            </a:r>
            <a:r>
              <a:rPr dirty="0"/>
              <a:t>x</a:t>
            </a:r>
            <a:r>
              <a:rPr spc="-85" dirty="0"/>
              <a:t> </a:t>
            </a:r>
            <a:r>
              <a:rPr dirty="0"/>
              <a:t>and</a:t>
            </a:r>
            <a:r>
              <a:rPr spc="-85" dirty="0"/>
              <a:t> </a:t>
            </a:r>
            <a:r>
              <a:rPr dirty="0"/>
              <a:t>y</a:t>
            </a:r>
            <a:r>
              <a:rPr spc="-85" dirty="0"/>
              <a:t> </a:t>
            </a:r>
            <a:r>
              <a:rPr spc="-10" dirty="0"/>
              <a:t>axis.</a:t>
            </a: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382262" y="3356612"/>
            <a:ext cx="165524" cy="165524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713387" y="3200612"/>
            <a:ext cx="165524" cy="165524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304162" y="1951962"/>
            <a:ext cx="165524" cy="165524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8099362" y="2488987"/>
            <a:ext cx="165524" cy="165524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797062" y="3044612"/>
            <a:ext cx="165524" cy="165524"/>
          </a:xfrm>
          <a:prstGeom prst="rect">
            <a:avLst/>
          </a:prstGeom>
        </p:spPr>
      </p:pic>
      <p:sp>
        <p:nvSpPr>
          <p:cNvPr id="11" name="object 11"/>
          <p:cNvSpPr/>
          <p:nvPr/>
        </p:nvSpPr>
        <p:spPr>
          <a:xfrm>
            <a:off x="5240925" y="3958925"/>
            <a:ext cx="68580" cy="97790"/>
          </a:xfrm>
          <a:custGeom>
            <a:avLst/>
            <a:gdLst/>
            <a:ahLst/>
            <a:cxnLst/>
            <a:rect l="l" t="t" r="r" b="b"/>
            <a:pathLst>
              <a:path w="68579" h="97789">
                <a:moveTo>
                  <a:pt x="68099" y="97499"/>
                </a:moveTo>
                <a:lnTo>
                  <a:pt x="0" y="97499"/>
                </a:lnTo>
                <a:lnTo>
                  <a:pt x="0" y="0"/>
                </a:lnTo>
                <a:lnTo>
                  <a:pt x="68099" y="0"/>
                </a:lnTo>
                <a:lnTo>
                  <a:pt x="68099" y="97499"/>
                </a:lnTo>
                <a:close/>
              </a:path>
            </a:pathLst>
          </a:custGeom>
          <a:solidFill>
            <a:srgbClr val="EEEEE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7984125" y="1901525"/>
            <a:ext cx="68580" cy="97790"/>
          </a:xfrm>
          <a:custGeom>
            <a:avLst/>
            <a:gdLst/>
            <a:ahLst/>
            <a:cxnLst/>
            <a:rect l="l" t="t" r="r" b="b"/>
            <a:pathLst>
              <a:path w="68579" h="97789">
                <a:moveTo>
                  <a:pt x="68099" y="97499"/>
                </a:moveTo>
                <a:lnTo>
                  <a:pt x="0" y="97499"/>
                </a:lnTo>
                <a:lnTo>
                  <a:pt x="0" y="0"/>
                </a:lnTo>
                <a:lnTo>
                  <a:pt x="68099" y="0"/>
                </a:lnTo>
                <a:lnTo>
                  <a:pt x="68099" y="97499"/>
                </a:lnTo>
                <a:close/>
              </a:path>
            </a:pathLst>
          </a:custGeom>
          <a:solidFill>
            <a:srgbClr val="EEEEEE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681220" y="1534388"/>
            <a:ext cx="3865657" cy="2907148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Example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384725" y="1246104"/>
            <a:ext cx="3505835" cy="21399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196850">
              <a:lnSpc>
                <a:spcPct val="113599"/>
              </a:lnSpc>
              <a:spcBef>
                <a:spcPts val="100"/>
              </a:spcBef>
            </a:pPr>
            <a:r>
              <a:rPr sz="2200" dirty="0">
                <a:solidFill>
                  <a:srgbClr val="313131"/>
                </a:solidFill>
                <a:latin typeface="Roboto"/>
                <a:cs typeface="Roboto"/>
              </a:rPr>
              <a:t>Now</a:t>
            </a:r>
            <a:r>
              <a:rPr sz="2200" spc="-40" dirty="0">
                <a:solidFill>
                  <a:srgbClr val="313131"/>
                </a:solidFill>
                <a:latin typeface="Roboto"/>
                <a:cs typeface="Roboto"/>
              </a:rPr>
              <a:t> </a:t>
            </a:r>
            <a:r>
              <a:rPr sz="2200" dirty="0">
                <a:solidFill>
                  <a:srgbClr val="313131"/>
                </a:solidFill>
                <a:latin typeface="Roboto"/>
                <a:cs typeface="Roboto"/>
              </a:rPr>
              <a:t>we</a:t>
            </a:r>
            <a:r>
              <a:rPr sz="2200" spc="-40" dirty="0">
                <a:solidFill>
                  <a:srgbClr val="313131"/>
                </a:solidFill>
                <a:latin typeface="Roboto"/>
                <a:cs typeface="Roboto"/>
              </a:rPr>
              <a:t> </a:t>
            </a:r>
            <a:r>
              <a:rPr sz="2200" dirty="0">
                <a:solidFill>
                  <a:srgbClr val="313131"/>
                </a:solidFill>
                <a:latin typeface="Roboto"/>
                <a:cs typeface="Roboto"/>
              </a:rPr>
              <a:t>want</a:t>
            </a:r>
            <a:r>
              <a:rPr sz="2200" spc="-35" dirty="0">
                <a:solidFill>
                  <a:srgbClr val="313131"/>
                </a:solidFill>
                <a:latin typeface="Roboto"/>
                <a:cs typeface="Roboto"/>
              </a:rPr>
              <a:t> </a:t>
            </a:r>
            <a:r>
              <a:rPr sz="2200" dirty="0">
                <a:solidFill>
                  <a:srgbClr val="313131"/>
                </a:solidFill>
                <a:latin typeface="Roboto"/>
                <a:cs typeface="Roboto"/>
              </a:rPr>
              <a:t>to</a:t>
            </a:r>
            <a:r>
              <a:rPr sz="2200" spc="-35" dirty="0">
                <a:solidFill>
                  <a:srgbClr val="313131"/>
                </a:solidFill>
                <a:latin typeface="Roboto"/>
                <a:cs typeface="Roboto"/>
              </a:rPr>
              <a:t> </a:t>
            </a:r>
            <a:r>
              <a:rPr sz="2200" dirty="0">
                <a:solidFill>
                  <a:srgbClr val="313131"/>
                </a:solidFill>
                <a:latin typeface="Roboto"/>
                <a:cs typeface="Roboto"/>
              </a:rPr>
              <a:t>fit</a:t>
            </a:r>
            <a:r>
              <a:rPr sz="2200" spc="-40" dirty="0">
                <a:solidFill>
                  <a:srgbClr val="313131"/>
                </a:solidFill>
                <a:latin typeface="Roboto"/>
                <a:cs typeface="Roboto"/>
              </a:rPr>
              <a:t> </a:t>
            </a:r>
            <a:r>
              <a:rPr sz="2200" dirty="0">
                <a:solidFill>
                  <a:srgbClr val="313131"/>
                </a:solidFill>
                <a:latin typeface="Roboto"/>
                <a:cs typeface="Roboto"/>
              </a:rPr>
              <a:t>a</a:t>
            </a:r>
            <a:r>
              <a:rPr sz="2200" spc="-40" dirty="0">
                <a:solidFill>
                  <a:srgbClr val="313131"/>
                </a:solidFill>
                <a:latin typeface="Roboto"/>
                <a:cs typeface="Roboto"/>
              </a:rPr>
              <a:t> </a:t>
            </a:r>
            <a:r>
              <a:rPr sz="2200" spc="-10" dirty="0">
                <a:solidFill>
                  <a:srgbClr val="313131"/>
                </a:solidFill>
                <a:latin typeface="Roboto"/>
                <a:cs typeface="Roboto"/>
              </a:rPr>
              <a:t>linear </a:t>
            </a:r>
            <a:r>
              <a:rPr sz="2200" spc="-20" dirty="0">
                <a:solidFill>
                  <a:srgbClr val="313131"/>
                </a:solidFill>
                <a:latin typeface="Roboto"/>
                <a:cs typeface="Roboto"/>
              </a:rPr>
              <a:t>regression</a:t>
            </a:r>
            <a:r>
              <a:rPr sz="2200" spc="-60" dirty="0">
                <a:solidFill>
                  <a:srgbClr val="313131"/>
                </a:solidFill>
                <a:latin typeface="Roboto"/>
                <a:cs typeface="Roboto"/>
              </a:rPr>
              <a:t> </a:t>
            </a:r>
            <a:r>
              <a:rPr sz="2200" spc="-10" dirty="0">
                <a:solidFill>
                  <a:srgbClr val="313131"/>
                </a:solidFill>
                <a:latin typeface="Roboto"/>
                <a:cs typeface="Roboto"/>
              </a:rPr>
              <a:t>line.</a:t>
            </a:r>
            <a:endParaRPr sz="2200">
              <a:latin typeface="Roboto"/>
              <a:cs typeface="Roboto"/>
            </a:endParaRPr>
          </a:p>
          <a:p>
            <a:pPr marL="12700" marR="5080">
              <a:lnSpc>
                <a:spcPct val="113599"/>
              </a:lnSpc>
              <a:spcBef>
                <a:spcPts val="1650"/>
              </a:spcBef>
            </a:pPr>
            <a:r>
              <a:rPr sz="2200" dirty="0">
                <a:solidFill>
                  <a:srgbClr val="313131"/>
                </a:solidFill>
                <a:latin typeface="Roboto"/>
                <a:cs typeface="Roboto"/>
              </a:rPr>
              <a:t>The</a:t>
            </a:r>
            <a:r>
              <a:rPr sz="2200" spc="-65" dirty="0">
                <a:solidFill>
                  <a:srgbClr val="313131"/>
                </a:solidFill>
                <a:latin typeface="Roboto"/>
                <a:cs typeface="Roboto"/>
              </a:rPr>
              <a:t> </a:t>
            </a:r>
            <a:r>
              <a:rPr sz="2200" spc="-20" dirty="0">
                <a:solidFill>
                  <a:srgbClr val="313131"/>
                </a:solidFill>
                <a:latin typeface="Roboto"/>
                <a:cs typeface="Roboto"/>
              </a:rPr>
              <a:t>question</a:t>
            </a:r>
            <a:r>
              <a:rPr sz="2200" spc="-60" dirty="0">
                <a:solidFill>
                  <a:srgbClr val="313131"/>
                </a:solidFill>
                <a:latin typeface="Roboto"/>
                <a:cs typeface="Roboto"/>
              </a:rPr>
              <a:t> </a:t>
            </a:r>
            <a:r>
              <a:rPr sz="2200" dirty="0">
                <a:solidFill>
                  <a:srgbClr val="313131"/>
                </a:solidFill>
                <a:latin typeface="Roboto"/>
                <a:cs typeface="Roboto"/>
              </a:rPr>
              <a:t>is,</a:t>
            </a:r>
            <a:r>
              <a:rPr sz="2200" spc="-60" dirty="0">
                <a:solidFill>
                  <a:srgbClr val="313131"/>
                </a:solidFill>
                <a:latin typeface="Roboto"/>
                <a:cs typeface="Roboto"/>
              </a:rPr>
              <a:t> </a:t>
            </a:r>
            <a:r>
              <a:rPr sz="2200" dirty="0">
                <a:solidFill>
                  <a:srgbClr val="313131"/>
                </a:solidFill>
                <a:latin typeface="Roboto"/>
                <a:cs typeface="Roboto"/>
              </a:rPr>
              <a:t>how</a:t>
            </a:r>
            <a:r>
              <a:rPr sz="2200" spc="-60" dirty="0">
                <a:solidFill>
                  <a:srgbClr val="313131"/>
                </a:solidFill>
                <a:latin typeface="Roboto"/>
                <a:cs typeface="Roboto"/>
              </a:rPr>
              <a:t> </a:t>
            </a:r>
            <a:r>
              <a:rPr sz="2200" dirty="0">
                <a:solidFill>
                  <a:srgbClr val="313131"/>
                </a:solidFill>
                <a:latin typeface="Roboto"/>
                <a:cs typeface="Roboto"/>
              </a:rPr>
              <a:t>do</a:t>
            </a:r>
            <a:r>
              <a:rPr sz="2200" spc="-55" dirty="0">
                <a:solidFill>
                  <a:srgbClr val="313131"/>
                </a:solidFill>
                <a:latin typeface="Roboto"/>
                <a:cs typeface="Roboto"/>
              </a:rPr>
              <a:t> </a:t>
            </a:r>
            <a:r>
              <a:rPr sz="2200" spc="-25" dirty="0">
                <a:solidFill>
                  <a:srgbClr val="313131"/>
                </a:solidFill>
                <a:latin typeface="Roboto"/>
                <a:cs typeface="Roboto"/>
              </a:rPr>
              <a:t>we </a:t>
            </a:r>
            <a:r>
              <a:rPr sz="2200" dirty="0">
                <a:solidFill>
                  <a:srgbClr val="313131"/>
                </a:solidFill>
                <a:latin typeface="Roboto"/>
                <a:cs typeface="Roboto"/>
              </a:rPr>
              <a:t>decide</a:t>
            </a:r>
            <a:r>
              <a:rPr sz="2200" spc="-85" dirty="0">
                <a:solidFill>
                  <a:srgbClr val="313131"/>
                </a:solidFill>
                <a:latin typeface="Roboto"/>
                <a:cs typeface="Roboto"/>
              </a:rPr>
              <a:t> </a:t>
            </a:r>
            <a:r>
              <a:rPr sz="2200" spc="-10" dirty="0">
                <a:solidFill>
                  <a:srgbClr val="313131"/>
                </a:solidFill>
                <a:latin typeface="Roboto"/>
                <a:cs typeface="Roboto"/>
              </a:rPr>
              <a:t>which</a:t>
            </a:r>
            <a:r>
              <a:rPr sz="2200" spc="-85" dirty="0">
                <a:solidFill>
                  <a:srgbClr val="313131"/>
                </a:solidFill>
                <a:latin typeface="Roboto"/>
                <a:cs typeface="Roboto"/>
              </a:rPr>
              <a:t> </a:t>
            </a:r>
            <a:r>
              <a:rPr sz="2200" dirty="0">
                <a:solidFill>
                  <a:srgbClr val="313131"/>
                </a:solidFill>
                <a:latin typeface="Roboto"/>
                <a:cs typeface="Roboto"/>
              </a:rPr>
              <a:t>line</a:t>
            </a:r>
            <a:r>
              <a:rPr sz="2200" spc="-85" dirty="0">
                <a:solidFill>
                  <a:srgbClr val="313131"/>
                </a:solidFill>
                <a:latin typeface="Roboto"/>
                <a:cs typeface="Roboto"/>
              </a:rPr>
              <a:t> </a:t>
            </a:r>
            <a:r>
              <a:rPr sz="2200" dirty="0">
                <a:solidFill>
                  <a:srgbClr val="313131"/>
                </a:solidFill>
                <a:latin typeface="Roboto"/>
                <a:cs typeface="Roboto"/>
              </a:rPr>
              <a:t>is</a:t>
            </a:r>
            <a:r>
              <a:rPr sz="2200" spc="-80" dirty="0">
                <a:solidFill>
                  <a:srgbClr val="313131"/>
                </a:solidFill>
                <a:latin typeface="Roboto"/>
                <a:cs typeface="Roboto"/>
              </a:rPr>
              <a:t> </a:t>
            </a:r>
            <a:r>
              <a:rPr sz="2200" dirty="0">
                <a:solidFill>
                  <a:srgbClr val="313131"/>
                </a:solidFill>
                <a:latin typeface="Roboto"/>
                <a:cs typeface="Roboto"/>
              </a:rPr>
              <a:t>the</a:t>
            </a:r>
            <a:r>
              <a:rPr sz="2200" spc="-85" dirty="0">
                <a:solidFill>
                  <a:srgbClr val="313131"/>
                </a:solidFill>
                <a:latin typeface="Roboto"/>
                <a:cs typeface="Roboto"/>
              </a:rPr>
              <a:t> </a:t>
            </a:r>
            <a:r>
              <a:rPr sz="2200" spc="-20" dirty="0">
                <a:solidFill>
                  <a:srgbClr val="313131"/>
                </a:solidFill>
                <a:latin typeface="Roboto"/>
                <a:cs typeface="Roboto"/>
              </a:rPr>
              <a:t>best </a:t>
            </a:r>
            <a:r>
              <a:rPr sz="2200" spc="-10" dirty="0">
                <a:solidFill>
                  <a:srgbClr val="313131"/>
                </a:solidFill>
                <a:latin typeface="Roboto"/>
                <a:cs typeface="Roboto"/>
              </a:rPr>
              <a:t>fitting</a:t>
            </a:r>
            <a:r>
              <a:rPr sz="2200" spc="-85" dirty="0">
                <a:solidFill>
                  <a:srgbClr val="313131"/>
                </a:solidFill>
                <a:latin typeface="Roboto"/>
                <a:cs typeface="Roboto"/>
              </a:rPr>
              <a:t> </a:t>
            </a:r>
            <a:r>
              <a:rPr sz="2200" spc="-20" dirty="0">
                <a:solidFill>
                  <a:srgbClr val="313131"/>
                </a:solidFill>
                <a:latin typeface="Roboto"/>
                <a:cs typeface="Roboto"/>
              </a:rPr>
              <a:t>one?</a:t>
            </a:r>
            <a:endParaRPr sz="2200">
              <a:latin typeface="Roboto"/>
              <a:cs typeface="Roboto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4783925" y="1602424"/>
            <a:ext cx="3681095" cy="2765425"/>
            <a:chOff x="4783925" y="1602424"/>
            <a:chExt cx="3681095" cy="2765425"/>
          </a:xfrm>
        </p:grpSpPr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382262" y="3356612"/>
              <a:ext cx="165524" cy="165524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713387" y="3200612"/>
              <a:ext cx="165524" cy="165524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304162" y="1951962"/>
              <a:ext cx="165524" cy="165524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099362" y="2488987"/>
              <a:ext cx="165524" cy="165524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797062" y="3044612"/>
              <a:ext cx="165524" cy="165524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5240922" y="1901532"/>
              <a:ext cx="2811780" cy="2155190"/>
            </a:xfrm>
            <a:custGeom>
              <a:avLst/>
              <a:gdLst/>
              <a:ahLst/>
              <a:cxnLst/>
              <a:rect l="l" t="t" r="r" b="b"/>
              <a:pathLst>
                <a:path w="2811779" h="2155190">
                  <a:moveTo>
                    <a:pt x="68097" y="2057400"/>
                  </a:moveTo>
                  <a:lnTo>
                    <a:pt x="0" y="2057400"/>
                  </a:lnTo>
                  <a:lnTo>
                    <a:pt x="0" y="2154898"/>
                  </a:lnTo>
                  <a:lnTo>
                    <a:pt x="68097" y="2154898"/>
                  </a:lnTo>
                  <a:lnTo>
                    <a:pt x="68097" y="2057400"/>
                  </a:lnTo>
                  <a:close/>
                </a:path>
                <a:path w="2811779" h="2155190">
                  <a:moveTo>
                    <a:pt x="2811297" y="0"/>
                  </a:moveTo>
                  <a:lnTo>
                    <a:pt x="2743200" y="0"/>
                  </a:lnTo>
                  <a:lnTo>
                    <a:pt x="2743200" y="97497"/>
                  </a:lnTo>
                  <a:lnTo>
                    <a:pt x="2811297" y="97497"/>
                  </a:lnTo>
                  <a:lnTo>
                    <a:pt x="2811297" y="0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822025" y="1640524"/>
              <a:ext cx="3604895" cy="2689225"/>
            </a:xfrm>
            <a:custGeom>
              <a:avLst/>
              <a:gdLst/>
              <a:ahLst/>
              <a:cxnLst/>
              <a:rect l="l" t="t" r="r" b="b"/>
              <a:pathLst>
                <a:path w="3604895" h="2689225">
                  <a:moveTo>
                    <a:pt x="0" y="2688599"/>
                  </a:moveTo>
                  <a:lnTo>
                    <a:pt x="3604499" y="0"/>
                  </a:lnTo>
                </a:path>
              </a:pathLst>
            </a:custGeom>
            <a:ln w="76199">
              <a:solidFill>
                <a:srgbClr val="42424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681220" y="1534388"/>
            <a:ext cx="3865657" cy="2907148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pc="-10" dirty="0"/>
              <a:t>E</a:t>
            </a:r>
            <a:r>
              <a:rPr spc="-10" dirty="0"/>
              <a:t>xample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384725" y="1246104"/>
            <a:ext cx="3823335" cy="32829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3599"/>
              </a:lnSpc>
              <a:spcBef>
                <a:spcPts val="100"/>
              </a:spcBef>
            </a:pPr>
            <a:r>
              <a:rPr sz="2200" dirty="0">
                <a:solidFill>
                  <a:srgbClr val="313131"/>
                </a:solidFill>
                <a:latin typeface="Roboto"/>
                <a:cs typeface="Roboto"/>
              </a:rPr>
              <a:t>We’ll</a:t>
            </a:r>
            <a:r>
              <a:rPr sz="2200" spc="-105" dirty="0">
                <a:solidFill>
                  <a:srgbClr val="313131"/>
                </a:solidFill>
                <a:latin typeface="Roboto"/>
                <a:cs typeface="Roboto"/>
              </a:rPr>
              <a:t> </a:t>
            </a:r>
            <a:r>
              <a:rPr sz="2200" dirty="0">
                <a:solidFill>
                  <a:srgbClr val="313131"/>
                </a:solidFill>
                <a:latin typeface="Roboto"/>
                <a:cs typeface="Roboto"/>
              </a:rPr>
              <a:t>use</a:t>
            </a:r>
            <a:r>
              <a:rPr sz="2200" spc="-110" dirty="0">
                <a:solidFill>
                  <a:srgbClr val="313131"/>
                </a:solidFill>
                <a:latin typeface="Roboto"/>
                <a:cs typeface="Roboto"/>
              </a:rPr>
              <a:t> </a:t>
            </a:r>
            <a:r>
              <a:rPr sz="2200" dirty="0">
                <a:solidFill>
                  <a:srgbClr val="313131"/>
                </a:solidFill>
                <a:latin typeface="Roboto"/>
                <a:cs typeface="Roboto"/>
              </a:rPr>
              <a:t>the</a:t>
            </a:r>
            <a:r>
              <a:rPr sz="2200" spc="-110" dirty="0">
                <a:solidFill>
                  <a:srgbClr val="313131"/>
                </a:solidFill>
                <a:latin typeface="Roboto"/>
                <a:cs typeface="Roboto"/>
              </a:rPr>
              <a:t> </a:t>
            </a:r>
            <a:r>
              <a:rPr sz="2200" dirty="0">
                <a:solidFill>
                  <a:srgbClr val="313131"/>
                </a:solidFill>
                <a:latin typeface="Roboto"/>
                <a:cs typeface="Roboto"/>
              </a:rPr>
              <a:t>Least</a:t>
            </a:r>
            <a:r>
              <a:rPr sz="2200" spc="-105" dirty="0">
                <a:solidFill>
                  <a:srgbClr val="313131"/>
                </a:solidFill>
                <a:latin typeface="Roboto"/>
                <a:cs typeface="Roboto"/>
              </a:rPr>
              <a:t> </a:t>
            </a:r>
            <a:r>
              <a:rPr sz="2200" spc="-10" dirty="0">
                <a:solidFill>
                  <a:srgbClr val="313131"/>
                </a:solidFill>
                <a:latin typeface="Roboto"/>
                <a:cs typeface="Roboto"/>
              </a:rPr>
              <a:t>Squares </a:t>
            </a:r>
            <a:r>
              <a:rPr sz="2200" dirty="0">
                <a:solidFill>
                  <a:srgbClr val="313131"/>
                </a:solidFill>
                <a:latin typeface="Roboto"/>
                <a:cs typeface="Roboto"/>
              </a:rPr>
              <a:t>Method,</a:t>
            </a:r>
            <a:r>
              <a:rPr sz="2200" spc="-100" dirty="0">
                <a:solidFill>
                  <a:srgbClr val="313131"/>
                </a:solidFill>
                <a:latin typeface="Roboto"/>
                <a:cs typeface="Roboto"/>
              </a:rPr>
              <a:t> </a:t>
            </a:r>
            <a:r>
              <a:rPr sz="2200" dirty="0">
                <a:solidFill>
                  <a:srgbClr val="313131"/>
                </a:solidFill>
                <a:latin typeface="Roboto"/>
                <a:cs typeface="Roboto"/>
              </a:rPr>
              <a:t>which</a:t>
            </a:r>
            <a:r>
              <a:rPr sz="2200" spc="-85" dirty="0">
                <a:solidFill>
                  <a:srgbClr val="313131"/>
                </a:solidFill>
                <a:latin typeface="Roboto"/>
                <a:cs typeface="Roboto"/>
              </a:rPr>
              <a:t> </a:t>
            </a:r>
            <a:r>
              <a:rPr sz="2200" dirty="0">
                <a:solidFill>
                  <a:srgbClr val="242729"/>
                </a:solidFill>
                <a:latin typeface="Roboto"/>
                <a:cs typeface="Roboto"/>
              </a:rPr>
              <a:t>is</a:t>
            </a:r>
            <a:r>
              <a:rPr sz="2200" spc="-95" dirty="0">
                <a:solidFill>
                  <a:srgbClr val="242729"/>
                </a:solidFill>
                <a:latin typeface="Roboto"/>
                <a:cs typeface="Roboto"/>
              </a:rPr>
              <a:t> </a:t>
            </a:r>
            <a:r>
              <a:rPr sz="2200" dirty="0">
                <a:solidFill>
                  <a:srgbClr val="242729"/>
                </a:solidFill>
                <a:latin typeface="Roboto"/>
                <a:cs typeface="Roboto"/>
              </a:rPr>
              <a:t>fitted</a:t>
            </a:r>
            <a:r>
              <a:rPr sz="2200" spc="-100" dirty="0">
                <a:solidFill>
                  <a:srgbClr val="242729"/>
                </a:solidFill>
                <a:latin typeface="Roboto"/>
                <a:cs typeface="Roboto"/>
              </a:rPr>
              <a:t> </a:t>
            </a:r>
            <a:r>
              <a:rPr sz="2200" spc="-25" dirty="0">
                <a:solidFill>
                  <a:srgbClr val="242729"/>
                </a:solidFill>
                <a:latin typeface="Roboto"/>
                <a:cs typeface="Roboto"/>
              </a:rPr>
              <a:t>by </a:t>
            </a:r>
            <a:r>
              <a:rPr sz="2200" spc="-20" dirty="0">
                <a:solidFill>
                  <a:srgbClr val="242729"/>
                </a:solidFill>
                <a:latin typeface="Roboto"/>
                <a:cs typeface="Roboto"/>
              </a:rPr>
              <a:t>minimizing</a:t>
            </a:r>
            <a:r>
              <a:rPr sz="2200" spc="-40" dirty="0">
                <a:solidFill>
                  <a:srgbClr val="242729"/>
                </a:solidFill>
                <a:latin typeface="Roboto"/>
                <a:cs typeface="Roboto"/>
              </a:rPr>
              <a:t> </a:t>
            </a:r>
            <a:r>
              <a:rPr sz="2200" dirty="0">
                <a:solidFill>
                  <a:srgbClr val="242729"/>
                </a:solidFill>
                <a:latin typeface="Roboto"/>
                <a:cs typeface="Roboto"/>
              </a:rPr>
              <a:t>the</a:t>
            </a:r>
            <a:r>
              <a:rPr sz="2200" spc="-30" dirty="0">
                <a:solidFill>
                  <a:srgbClr val="242729"/>
                </a:solidFill>
                <a:latin typeface="Roboto"/>
                <a:cs typeface="Roboto"/>
              </a:rPr>
              <a:t> </a:t>
            </a:r>
            <a:r>
              <a:rPr sz="2200" b="1" i="1" spc="155" dirty="0">
                <a:solidFill>
                  <a:srgbClr val="242729"/>
                </a:solidFill>
                <a:latin typeface="Roboto Cn"/>
                <a:cs typeface="Roboto Cn"/>
              </a:rPr>
              <a:t>sum</a:t>
            </a:r>
            <a:r>
              <a:rPr sz="2200" b="1" i="1" spc="20" dirty="0">
                <a:solidFill>
                  <a:srgbClr val="242729"/>
                </a:solidFill>
                <a:latin typeface="Roboto Cn"/>
                <a:cs typeface="Roboto Cn"/>
              </a:rPr>
              <a:t> </a:t>
            </a:r>
            <a:r>
              <a:rPr sz="2200" b="1" i="1" spc="100" dirty="0">
                <a:solidFill>
                  <a:srgbClr val="242729"/>
                </a:solidFill>
                <a:latin typeface="Roboto Cn"/>
                <a:cs typeface="Roboto Cn"/>
              </a:rPr>
              <a:t>of</a:t>
            </a:r>
            <a:r>
              <a:rPr sz="2200" b="1" i="1" spc="20" dirty="0">
                <a:solidFill>
                  <a:srgbClr val="242729"/>
                </a:solidFill>
                <a:latin typeface="Roboto Cn"/>
                <a:cs typeface="Roboto Cn"/>
              </a:rPr>
              <a:t> </a:t>
            </a:r>
            <a:r>
              <a:rPr sz="2200" b="1" i="1" spc="110" dirty="0">
                <a:solidFill>
                  <a:srgbClr val="242729"/>
                </a:solidFill>
                <a:latin typeface="Roboto Cn"/>
                <a:cs typeface="Roboto Cn"/>
              </a:rPr>
              <a:t>squares </a:t>
            </a:r>
            <a:r>
              <a:rPr sz="2200" b="1" i="1" spc="100" dirty="0">
                <a:solidFill>
                  <a:srgbClr val="242729"/>
                </a:solidFill>
                <a:latin typeface="Roboto Cn"/>
                <a:cs typeface="Roboto Cn"/>
              </a:rPr>
              <a:t>of</a:t>
            </a:r>
            <a:r>
              <a:rPr sz="2200" b="1" i="1" spc="55" dirty="0">
                <a:solidFill>
                  <a:srgbClr val="242729"/>
                </a:solidFill>
                <a:latin typeface="Roboto Cn"/>
                <a:cs typeface="Roboto Cn"/>
              </a:rPr>
              <a:t> </a:t>
            </a:r>
            <a:r>
              <a:rPr sz="2200" b="1" i="1" spc="95" dirty="0">
                <a:solidFill>
                  <a:srgbClr val="242729"/>
                </a:solidFill>
                <a:latin typeface="Roboto Cn"/>
                <a:cs typeface="Roboto Cn"/>
              </a:rPr>
              <a:t>the</a:t>
            </a:r>
            <a:r>
              <a:rPr sz="2200" b="1" i="1" spc="60" dirty="0">
                <a:solidFill>
                  <a:srgbClr val="242729"/>
                </a:solidFill>
                <a:latin typeface="Roboto Cn"/>
                <a:cs typeface="Roboto Cn"/>
              </a:rPr>
              <a:t> </a:t>
            </a:r>
            <a:r>
              <a:rPr sz="2200" b="1" i="1" spc="85" dirty="0">
                <a:solidFill>
                  <a:srgbClr val="242729"/>
                </a:solidFill>
                <a:latin typeface="Roboto Cn"/>
                <a:cs typeface="Roboto Cn"/>
              </a:rPr>
              <a:t>residuals.</a:t>
            </a:r>
            <a:endParaRPr sz="2200">
              <a:latin typeface="Roboto Cn"/>
              <a:cs typeface="Roboto Cn"/>
            </a:endParaRPr>
          </a:p>
          <a:p>
            <a:pPr marL="12700" marR="200025">
              <a:lnSpc>
                <a:spcPct val="113599"/>
              </a:lnSpc>
              <a:spcBef>
                <a:spcPts val="1650"/>
              </a:spcBef>
            </a:pPr>
            <a:r>
              <a:rPr sz="2200" dirty="0">
                <a:solidFill>
                  <a:srgbClr val="242729"/>
                </a:solidFill>
                <a:latin typeface="Roboto"/>
                <a:cs typeface="Roboto"/>
              </a:rPr>
              <a:t>The</a:t>
            </a:r>
            <a:r>
              <a:rPr sz="2200" spc="-45" dirty="0">
                <a:solidFill>
                  <a:srgbClr val="242729"/>
                </a:solidFill>
                <a:latin typeface="Roboto"/>
                <a:cs typeface="Roboto"/>
              </a:rPr>
              <a:t> </a:t>
            </a:r>
            <a:r>
              <a:rPr sz="2200" spc="-20" dirty="0">
                <a:solidFill>
                  <a:srgbClr val="242729"/>
                </a:solidFill>
                <a:latin typeface="Roboto"/>
                <a:cs typeface="Roboto"/>
              </a:rPr>
              <a:t>residuals</a:t>
            </a:r>
            <a:r>
              <a:rPr sz="2200" spc="-40" dirty="0">
                <a:solidFill>
                  <a:srgbClr val="242729"/>
                </a:solidFill>
                <a:latin typeface="Roboto"/>
                <a:cs typeface="Roboto"/>
              </a:rPr>
              <a:t> </a:t>
            </a:r>
            <a:r>
              <a:rPr sz="2200" dirty="0">
                <a:solidFill>
                  <a:srgbClr val="242729"/>
                </a:solidFill>
                <a:latin typeface="Roboto"/>
                <a:cs typeface="Roboto"/>
              </a:rPr>
              <a:t>for</a:t>
            </a:r>
            <a:r>
              <a:rPr sz="2200" spc="-35" dirty="0">
                <a:solidFill>
                  <a:srgbClr val="242729"/>
                </a:solidFill>
                <a:latin typeface="Roboto"/>
                <a:cs typeface="Roboto"/>
              </a:rPr>
              <a:t> </a:t>
            </a:r>
            <a:r>
              <a:rPr sz="2200" spc="-25" dirty="0">
                <a:solidFill>
                  <a:srgbClr val="242729"/>
                </a:solidFill>
                <a:latin typeface="Roboto"/>
                <a:cs typeface="Roboto"/>
              </a:rPr>
              <a:t>an </a:t>
            </a:r>
            <a:r>
              <a:rPr sz="2200" spc="-20" dirty="0">
                <a:solidFill>
                  <a:srgbClr val="242729"/>
                </a:solidFill>
                <a:latin typeface="Roboto"/>
                <a:cs typeface="Roboto"/>
              </a:rPr>
              <a:t>observation</a:t>
            </a:r>
            <a:r>
              <a:rPr sz="2200" spc="-65" dirty="0">
                <a:solidFill>
                  <a:srgbClr val="242729"/>
                </a:solidFill>
                <a:latin typeface="Roboto"/>
                <a:cs typeface="Roboto"/>
              </a:rPr>
              <a:t> </a:t>
            </a:r>
            <a:r>
              <a:rPr sz="2200" dirty="0">
                <a:solidFill>
                  <a:srgbClr val="242729"/>
                </a:solidFill>
                <a:latin typeface="Roboto"/>
                <a:cs typeface="Roboto"/>
              </a:rPr>
              <a:t>is</a:t>
            </a:r>
            <a:r>
              <a:rPr sz="2200" spc="-65" dirty="0">
                <a:solidFill>
                  <a:srgbClr val="242729"/>
                </a:solidFill>
                <a:latin typeface="Roboto"/>
                <a:cs typeface="Roboto"/>
              </a:rPr>
              <a:t> </a:t>
            </a:r>
            <a:r>
              <a:rPr sz="2200" dirty="0">
                <a:solidFill>
                  <a:srgbClr val="242729"/>
                </a:solidFill>
                <a:latin typeface="Roboto"/>
                <a:cs typeface="Roboto"/>
              </a:rPr>
              <a:t>the</a:t>
            </a:r>
            <a:r>
              <a:rPr sz="2200" spc="-70" dirty="0">
                <a:solidFill>
                  <a:srgbClr val="242729"/>
                </a:solidFill>
                <a:latin typeface="Roboto"/>
                <a:cs typeface="Roboto"/>
              </a:rPr>
              <a:t> </a:t>
            </a:r>
            <a:r>
              <a:rPr sz="2200" spc="-10" dirty="0">
                <a:solidFill>
                  <a:srgbClr val="242729"/>
                </a:solidFill>
                <a:latin typeface="Roboto"/>
                <a:cs typeface="Roboto"/>
              </a:rPr>
              <a:t>difference </a:t>
            </a:r>
            <a:r>
              <a:rPr sz="2200" dirty="0">
                <a:solidFill>
                  <a:srgbClr val="242729"/>
                </a:solidFill>
                <a:latin typeface="Roboto"/>
                <a:cs typeface="Roboto"/>
              </a:rPr>
              <a:t>between</a:t>
            </a:r>
            <a:r>
              <a:rPr sz="2200" spc="-100" dirty="0">
                <a:solidFill>
                  <a:srgbClr val="242729"/>
                </a:solidFill>
                <a:latin typeface="Roboto"/>
                <a:cs typeface="Roboto"/>
              </a:rPr>
              <a:t> </a:t>
            </a:r>
            <a:r>
              <a:rPr sz="2200" dirty="0">
                <a:solidFill>
                  <a:srgbClr val="242729"/>
                </a:solidFill>
                <a:latin typeface="Roboto"/>
                <a:cs typeface="Roboto"/>
              </a:rPr>
              <a:t>the</a:t>
            </a:r>
            <a:r>
              <a:rPr sz="2200" spc="-95" dirty="0">
                <a:solidFill>
                  <a:srgbClr val="242729"/>
                </a:solidFill>
                <a:latin typeface="Roboto"/>
                <a:cs typeface="Roboto"/>
              </a:rPr>
              <a:t> </a:t>
            </a:r>
            <a:r>
              <a:rPr sz="2200" spc="-20" dirty="0">
                <a:solidFill>
                  <a:srgbClr val="242729"/>
                </a:solidFill>
                <a:latin typeface="Roboto"/>
                <a:cs typeface="Roboto"/>
              </a:rPr>
              <a:t>observation</a:t>
            </a:r>
            <a:r>
              <a:rPr sz="2200" spc="-85" dirty="0">
                <a:solidFill>
                  <a:srgbClr val="242729"/>
                </a:solidFill>
                <a:latin typeface="Roboto"/>
                <a:cs typeface="Roboto"/>
              </a:rPr>
              <a:t> </a:t>
            </a:r>
            <a:r>
              <a:rPr sz="2200" spc="-20" dirty="0">
                <a:solidFill>
                  <a:srgbClr val="242729"/>
                </a:solidFill>
                <a:latin typeface="Roboto"/>
                <a:cs typeface="Roboto"/>
              </a:rPr>
              <a:t>(the </a:t>
            </a:r>
            <a:r>
              <a:rPr sz="2200" spc="-85" dirty="0">
                <a:solidFill>
                  <a:srgbClr val="242729"/>
                </a:solidFill>
                <a:latin typeface="Roboto"/>
                <a:cs typeface="Roboto"/>
              </a:rPr>
              <a:t>y-</a:t>
            </a:r>
            <a:r>
              <a:rPr sz="2200" spc="-70" dirty="0">
                <a:solidFill>
                  <a:srgbClr val="242729"/>
                </a:solidFill>
                <a:latin typeface="Roboto"/>
                <a:cs typeface="Roboto"/>
              </a:rPr>
              <a:t>value) </a:t>
            </a:r>
            <a:r>
              <a:rPr sz="2200" dirty="0">
                <a:solidFill>
                  <a:srgbClr val="242729"/>
                </a:solidFill>
                <a:latin typeface="Roboto"/>
                <a:cs typeface="Roboto"/>
              </a:rPr>
              <a:t>and</a:t>
            </a:r>
            <a:r>
              <a:rPr sz="2200" spc="-70" dirty="0">
                <a:solidFill>
                  <a:srgbClr val="242729"/>
                </a:solidFill>
                <a:latin typeface="Roboto"/>
                <a:cs typeface="Roboto"/>
              </a:rPr>
              <a:t> </a:t>
            </a:r>
            <a:r>
              <a:rPr sz="2200" dirty="0">
                <a:solidFill>
                  <a:srgbClr val="242729"/>
                </a:solidFill>
                <a:latin typeface="Roboto"/>
                <a:cs typeface="Roboto"/>
              </a:rPr>
              <a:t>the</a:t>
            </a:r>
            <a:r>
              <a:rPr sz="2200" spc="-70" dirty="0">
                <a:solidFill>
                  <a:srgbClr val="242729"/>
                </a:solidFill>
                <a:latin typeface="Roboto"/>
                <a:cs typeface="Roboto"/>
              </a:rPr>
              <a:t> </a:t>
            </a:r>
            <a:r>
              <a:rPr sz="2200" dirty="0">
                <a:solidFill>
                  <a:srgbClr val="242729"/>
                </a:solidFill>
                <a:latin typeface="Roboto"/>
                <a:cs typeface="Roboto"/>
              </a:rPr>
              <a:t>fitted</a:t>
            </a:r>
            <a:r>
              <a:rPr sz="2200" spc="-75" dirty="0">
                <a:solidFill>
                  <a:srgbClr val="242729"/>
                </a:solidFill>
                <a:latin typeface="Roboto"/>
                <a:cs typeface="Roboto"/>
              </a:rPr>
              <a:t> </a:t>
            </a:r>
            <a:r>
              <a:rPr sz="2200" spc="-10" dirty="0">
                <a:solidFill>
                  <a:srgbClr val="242729"/>
                </a:solidFill>
                <a:latin typeface="Roboto"/>
                <a:cs typeface="Roboto"/>
              </a:rPr>
              <a:t>line.</a:t>
            </a:r>
            <a:endParaRPr sz="2200">
              <a:latin typeface="Roboto"/>
              <a:cs typeface="Roboto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4783925" y="1602424"/>
            <a:ext cx="3681095" cy="2765425"/>
            <a:chOff x="4783925" y="1602424"/>
            <a:chExt cx="3681095" cy="2765425"/>
          </a:xfrm>
        </p:grpSpPr>
        <p:sp>
          <p:nvSpPr>
            <p:cNvPr id="7" name="object 7"/>
            <p:cNvSpPr/>
            <p:nvPr/>
          </p:nvSpPr>
          <p:spPr>
            <a:xfrm>
              <a:off x="5465025" y="1864649"/>
              <a:ext cx="2717800" cy="2023110"/>
            </a:xfrm>
            <a:custGeom>
              <a:avLst/>
              <a:gdLst/>
              <a:ahLst/>
              <a:cxnLst/>
              <a:rect l="l" t="t" r="r" b="b"/>
              <a:pathLst>
                <a:path w="2717800" h="2023110">
                  <a:moveTo>
                    <a:pt x="0" y="2022624"/>
                  </a:moveTo>
                  <a:lnTo>
                    <a:pt x="0" y="1652724"/>
                  </a:lnTo>
                </a:path>
                <a:path w="2717800" h="2023110">
                  <a:moveTo>
                    <a:pt x="414799" y="1683474"/>
                  </a:moveTo>
                  <a:lnTo>
                    <a:pt x="414799" y="1313574"/>
                  </a:lnTo>
                </a:path>
                <a:path w="2717800" h="2023110">
                  <a:moveTo>
                    <a:pt x="1331124" y="1340724"/>
                  </a:moveTo>
                  <a:lnTo>
                    <a:pt x="1331124" y="970824"/>
                  </a:lnTo>
                </a:path>
                <a:path w="2717800" h="2023110">
                  <a:moveTo>
                    <a:pt x="1921899" y="580249"/>
                  </a:moveTo>
                  <a:lnTo>
                    <a:pt x="1921899" y="210349"/>
                  </a:lnTo>
                </a:path>
                <a:path w="2717800" h="2023110">
                  <a:moveTo>
                    <a:pt x="2717099" y="629099"/>
                  </a:moveTo>
                  <a:lnTo>
                    <a:pt x="2717699" y="0"/>
                  </a:lnTo>
                </a:path>
              </a:pathLst>
            </a:custGeom>
            <a:ln w="38099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822025" y="1640524"/>
              <a:ext cx="3604895" cy="2689225"/>
            </a:xfrm>
            <a:custGeom>
              <a:avLst/>
              <a:gdLst/>
              <a:ahLst/>
              <a:cxnLst/>
              <a:rect l="l" t="t" r="r" b="b"/>
              <a:pathLst>
                <a:path w="3604895" h="2689225">
                  <a:moveTo>
                    <a:pt x="0" y="2688599"/>
                  </a:moveTo>
                  <a:lnTo>
                    <a:pt x="3604499" y="0"/>
                  </a:lnTo>
                </a:path>
              </a:pathLst>
            </a:custGeom>
            <a:ln w="76199">
              <a:solidFill>
                <a:srgbClr val="42424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382262" y="3356612"/>
              <a:ext cx="165524" cy="165524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713387" y="3200612"/>
              <a:ext cx="165524" cy="165524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304162" y="1951962"/>
              <a:ext cx="165524" cy="165524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099362" y="2488987"/>
              <a:ext cx="165524" cy="165524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797062" y="3044612"/>
              <a:ext cx="165524" cy="165524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Modern Writer">
  <a:themeElements>
    <a:clrScheme name="Modern Writer">
      <a:dk1>
        <a:srgbClr val="E91D63"/>
      </a:dk1>
      <a:lt1>
        <a:srgbClr val="FFFFFF"/>
      </a:lt1>
      <a:dk2>
        <a:srgbClr val="424242"/>
      </a:dk2>
      <a:lt2>
        <a:srgbClr val="999999"/>
      </a:lt2>
      <a:accent1>
        <a:srgbClr val="607D8B"/>
      </a:accent1>
      <a:accent2>
        <a:srgbClr val="673AB7"/>
      </a:accent2>
      <a:accent3>
        <a:srgbClr val="9C26B0"/>
      </a:accent3>
      <a:accent4>
        <a:srgbClr val="0090AC"/>
      </a:accent4>
      <a:accent5>
        <a:srgbClr val="01AFD1"/>
      </a:accent5>
      <a:accent6>
        <a:srgbClr val="F8E71C"/>
      </a:accent6>
      <a:hlink>
        <a:srgbClr val="01AFD1"/>
      </a:hlink>
      <a:folHlink>
        <a:srgbClr val="01AFD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201</TotalTime>
  <Words>3948</Words>
  <Application>Microsoft Macintosh PowerPoint</Application>
  <PresentationFormat>On-screen Show (16:9)</PresentationFormat>
  <Paragraphs>647</Paragraphs>
  <Slides>128</Slides>
  <Notes>112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128</vt:i4>
      </vt:variant>
    </vt:vector>
  </HeadingPairs>
  <TitlesOfParts>
    <vt:vector size="141" baseType="lpstr">
      <vt:lpstr>Arial</vt:lpstr>
      <vt:lpstr>Calibri</vt:lpstr>
      <vt:lpstr>Roboto Cn</vt:lpstr>
      <vt:lpstr>Overpass</vt:lpstr>
      <vt:lpstr>Montserrat</vt:lpstr>
      <vt:lpstr>Oswald</vt:lpstr>
      <vt:lpstr>Calibri Light</vt:lpstr>
      <vt:lpstr>Source Code Pro</vt:lpstr>
      <vt:lpstr>Roboto</vt:lpstr>
      <vt:lpstr>Arial MT</vt:lpstr>
      <vt:lpstr>Simple Light</vt:lpstr>
      <vt:lpstr>Custom Design</vt:lpstr>
      <vt:lpstr>Modern Writer</vt:lpstr>
      <vt:lpstr>   BGK 601 – Week 2 What is Machine Learning?</vt:lpstr>
      <vt:lpstr>Makine Öğrenme Ne Demek?</vt:lpstr>
      <vt:lpstr>Yapay Zeka / Makine Öğrenme / Derin Öğrenme</vt:lpstr>
      <vt:lpstr>Makine Öğrenmesi ve Veri Bilimi</vt:lpstr>
      <vt:lpstr>Machine Learning  </vt:lpstr>
      <vt:lpstr>Machine Learning 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Supervised Learning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Overfitting and Underfitting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Evaluating Performance</vt:lpstr>
      <vt:lpstr>Model Evaluation  </vt:lpstr>
      <vt:lpstr>Model Evaluation   </vt:lpstr>
      <vt:lpstr>Model Evaluation   </vt:lpstr>
      <vt:lpstr>Model Evaluation   </vt:lpstr>
      <vt:lpstr>Model Evaluation   </vt:lpstr>
      <vt:lpstr>Model Evaluation   </vt:lpstr>
      <vt:lpstr>Model Evaluation   </vt:lpstr>
      <vt:lpstr>Model Evaluation   </vt:lpstr>
      <vt:lpstr>Model Evaluation   </vt:lpstr>
      <vt:lpstr>Model Evaluation   </vt:lpstr>
      <vt:lpstr>Model Evaluation   </vt:lpstr>
      <vt:lpstr>Model Evaluation   </vt:lpstr>
      <vt:lpstr>Model Evaluation   </vt:lpstr>
      <vt:lpstr>Model Evaluation   </vt:lpstr>
      <vt:lpstr>Model Evaluation   </vt:lpstr>
      <vt:lpstr>Model Evaluation   </vt:lpstr>
      <vt:lpstr>Model Evaluation   </vt:lpstr>
      <vt:lpstr>Model Evaluation   </vt:lpstr>
      <vt:lpstr>Model Evaluation   </vt:lpstr>
      <vt:lpstr>Model Evaluation   </vt:lpstr>
      <vt:lpstr>Model Evaluation   </vt:lpstr>
      <vt:lpstr>Model Evaluation   </vt:lpstr>
      <vt:lpstr>Model Evaluation   </vt:lpstr>
      <vt:lpstr>Model Evaluation   </vt:lpstr>
      <vt:lpstr>Model Evaluation   </vt:lpstr>
      <vt:lpstr>Model Evaluation  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Hata Oranları</vt:lpstr>
      <vt:lpstr>Baz Oran Yanılgısı (Base Rate Fallacy)</vt:lpstr>
      <vt:lpstr>Evaluating Performance</vt:lpstr>
      <vt:lpstr>Evaluating Regression</vt:lpstr>
      <vt:lpstr>Evaluating Regression </vt:lpstr>
      <vt:lpstr>Evaluating Regression </vt:lpstr>
      <vt:lpstr>Evaluating Regression </vt:lpstr>
      <vt:lpstr>Evaluating Regression </vt:lpstr>
      <vt:lpstr>Evaluating Regression </vt:lpstr>
      <vt:lpstr>Evaluating Regression </vt:lpstr>
      <vt:lpstr>Evaluating Regression </vt:lpstr>
      <vt:lpstr>Evaluating Regression </vt:lpstr>
      <vt:lpstr>Evaluating Regression </vt:lpstr>
      <vt:lpstr>Machine Learning  </vt:lpstr>
      <vt:lpstr>Machine Learning  </vt:lpstr>
      <vt:lpstr>Machine Learning  </vt:lpstr>
      <vt:lpstr>Evaluating Regression </vt:lpstr>
      <vt:lpstr>Unsupervised Learning</vt:lpstr>
      <vt:lpstr>Machine Learning  </vt:lpstr>
      <vt:lpstr>Machine Learning  </vt:lpstr>
      <vt:lpstr>Machine Learning  </vt:lpstr>
      <vt:lpstr>Machine Learning  </vt:lpstr>
      <vt:lpstr>Machine Learning  </vt:lpstr>
      <vt:lpstr>Machine Learning  </vt:lpstr>
      <vt:lpstr>PowerPoint Presentation</vt:lpstr>
      <vt:lpstr>Machine Learning  </vt:lpstr>
      <vt:lpstr>PowerPoint Presentation</vt:lpstr>
      <vt:lpstr>PowerPoint Presentation</vt:lpstr>
      <vt:lpstr>History</vt:lpstr>
      <vt:lpstr>History</vt:lpstr>
      <vt:lpstr>Example</vt:lpstr>
      <vt:lpstr>Example</vt:lpstr>
      <vt:lpstr>Example</vt:lpstr>
      <vt:lpstr>Example</vt:lpstr>
      <vt:lpstr>Example</vt:lpstr>
      <vt:lpstr>Example</vt:lpstr>
      <vt:lpstr>Example</vt:lpstr>
      <vt:lpstr>Example</vt:lpstr>
      <vt:lpstr>Example</vt:lpstr>
      <vt:lpstr>Example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Kemal  Bıçakcı</cp:lastModifiedBy>
  <cp:revision>6</cp:revision>
  <dcterms:modified xsi:type="dcterms:W3CDTF">2026-02-14T11:20:54Z</dcterms:modified>
</cp:coreProperties>
</file>