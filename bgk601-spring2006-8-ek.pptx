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453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Eval Notebook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Adım Adım Açıklama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Prompt engineering’i ölçerek anlatan notebook’un her hücresini ayrı </a:t>
            </a:r>
            <a:r>
              <a:rPr lang="en-US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ayrı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anlamaya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çalışacağız</a:t>
            </a: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1698796" y="3593990"/>
            <a:ext cx="2833447" cy="886968"/>
          </a:xfrm>
          <a:prstGeom prst="roundRect">
            <a:avLst>
              <a:gd name="adj" fmla="val 28846"/>
            </a:avLst>
          </a:prstGeom>
          <a:solidFill>
            <a:srgbClr val="355CFF"/>
          </a:solidFill>
          <a:ln w="12700">
            <a:solidFill>
              <a:srgbClr val="35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68773" y="391403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sezgi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yeterli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değil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metrik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en-US" sz="1400" b="1" dirty="0" err="1">
                <a:solidFill>
                  <a:srgbClr val="FFFFFF"/>
                </a:solidFill>
              </a:rPr>
              <a:t>önemli</a:t>
            </a: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41008" y="708660"/>
            <a:ext cx="4937760" cy="53035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09728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864" y="117043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01. Kurulum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09728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1170432"/>
            <a:ext cx="149961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02. Veri </a:t>
            </a:r>
            <a:r>
              <a:rPr lang="en-US" sz="1400" b="1" dirty="0" err="1">
                <a:solidFill>
                  <a:srgbClr val="355CFF"/>
                </a:solidFill>
              </a:rPr>
              <a:t>kümesi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60020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2742" y="1737360"/>
            <a:ext cx="185464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03. Prompt </a:t>
            </a:r>
            <a:r>
              <a:rPr lang="en-US" sz="1400" b="1" dirty="0" err="1">
                <a:solidFill>
                  <a:srgbClr val="355CFF"/>
                </a:solidFill>
              </a:rPr>
              <a:t>adayları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15400" y="1600200"/>
            <a:ext cx="1645920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704" y="16733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04. API çağrısı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59" y="2103120"/>
            <a:ext cx="1820849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212140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05.Skorlama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21256" y="2121408"/>
            <a:ext cx="2560320" cy="384048"/>
          </a:xfrm>
          <a:prstGeom prst="roundRect">
            <a:avLst>
              <a:gd name="adj" fmla="val 47619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2800" y="220410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CFF"/>
                </a:solidFill>
              </a:rPr>
              <a:t>06. Özet ve hata analizi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76872" y="2871216"/>
            <a:ext cx="3785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Notebook </a:t>
            </a:r>
            <a:r>
              <a:rPr lang="en-US" sz="1600" b="1" dirty="0" err="1">
                <a:solidFill>
                  <a:srgbClr val="111827"/>
                </a:solidFill>
              </a:rPr>
              <a:t>neyi</a:t>
            </a:r>
            <a:r>
              <a:rPr lang="en-US" sz="1600" b="1" dirty="0">
                <a:solidFill>
                  <a:srgbClr val="111827"/>
                </a:solidFill>
              </a:rPr>
              <a:t> </a:t>
            </a:r>
            <a:r>
              <a:rPr lang="en-US" sz="1600" b="1" dirty="0" err="1">
                <a:solidFill>
                  <a:srgbClr val="111827"/>
                </a:solidFill>
              </a:rPr>
              <a:t>amaçlıyor</a:t>
            </a:r>
            <a:r>
              <a:rPr lang="en-US" sz="1600" b="1" dirty="0">
                <a:solidFill>
                  <a:srgbClr val="111827"/>
                </a:solidFill>
              </a:rPr>
              <a:t>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76872" y="3127248"/>
            <a:ext cx="378561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Aynı model kullanıldığında bile prompt tasarımı; doğruluğu, JSON uyumunu, gecikmeyi ve token maliyetini değiştirebilir.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Notebook’un büyük resmi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Önce akışı netleştirelim: bu bir mini değerlendirme hattı.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Amaç: “en iyi prompt hangisi?” sorusuna hisle değil veriyle cevap vermek.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Görev: kısa e-postaları iki alanda sınıflandırmak: priority ve category.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Beklenen çıktı: makinenin okuyabileceği JSON.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Karşılaştırma ölçütleri: doğruluk, exact match, valid JSON oranı, latency ve token kullanımı.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427381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838861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56832" y="966877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Veri kümesi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56832" y="1222909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10 etiketli örnek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98280" y="838861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62872" y="966877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Promptlar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62872" y="1222909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v1 / v2 / v3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92240" y="2027581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2155597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API çağrısı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411629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Responses API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2027581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62872" y="2155597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Skorlama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62872" y="2352193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gold label karşılaştırması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3262021"/>
            <a:ext cx="18288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36992" y="3390037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Özet tablo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27053" y="3616252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prompt bazında metrikler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4359301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5CFF"/>
                </a:solidFill>
              </a:rPr>
              <a:t>Akış: her prompt × her örnek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Kurulum hücresi ne yapıyor?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İlk kod hücresi API ile konuşmaya hazır bir çalışma ortamı kurar.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669280" cy="288036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545336"/>
            <a:ext cx="53400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"OPENAI_API_KEY"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"gpt-5-mini"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1463040"/>
            <a:ext cx="45720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85432" y="159105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import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85432" y="1847088"/>
            <a:ext cx="4242816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Gerekli modülleri yükler: JSON parse, süre ölçme, tablo oluşturma ve OpenAI istemcisi.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2560320"/>
            <a:ext cx="4572000" cy="1051560"/>
          </a:xfrm>
          <a:prstGeom prst="roundRect">
            <a:avLst>
              <a:gd name="adj" fmla="val 5217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85432" y="268833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OPENAI_API_KEY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85432" y="2944368"/>
            <a:ext cx="424281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Anahtar environment variable içinden okunur; notebook içine düz metin yazmamak daha güvenlidir.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379476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392277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client = OpenAI(...)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85432" y="4178808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Bu nesne üzerinden daha sonra client.responses.create(...) çağrısı yapılır.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20840" y="489204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85432" y="502005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85432" y="5236332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Tüm deney boyunca aynı modeli kullanıyoruz ki fark modelden değil prompt’tan gelsin.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Veri kümesi hücresi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Notebook içindeki dataset, elimizdeki “doğru cevapları” tutar.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545336"/>
            <a:ext cx="515721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"Our production API has been down..."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"priority"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"high"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"category"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"support"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df_gold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Her örnekte giriş metni (email) ve iki adet gold label var.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Gold label, model çıktısını karşılaştıracağımız referans cevaptır.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df_gold sadece bu veriyi daha rahat görmek için oluşturulan tablo </a:t>
            </a:r>
            <a:r>
              <a:rPr lang="en-US" sz="1800" dirty="0" err="1">
                <a:solidFill>
                  <a:srgbClr val="111827"/>
                </a:solidFill>
              </a:rPr>
              <a:t>halidir</a:t>
            </a:r>
            <a:r>
              <a:rPr lang="en-US" sz="1800" dirty="0">
                <a:solidFill>
                  <a:srgbClr val="111827"/>
                </a:solidFill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Prompt adayları hücresi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Aynı görev için üç farklı talimat tasarımı tanımlanıyor.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846320" cy="20574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545336"/>
            <a:ext cx="4517136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"prompt_v1_minimal"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"Classify the email..."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"prompt_v2_clearer"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"You are an email triage assistant..."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"prompt_v3_rule_based"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"Task... labels... rules..."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92277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v1 — minimal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178808"/>
            <a:ext cx="259689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Sadece görevi söyler. Etiketlerin anlamını veya hata davranışını pek netleştirmez.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22192" y="3794760"/>
            <a:ext cx="2926080" cy="1325880"/>
          </a:xfrm>
          <a:prstGeom prst="roundRect">
            <a:avLst>
              <a:gd name="adj" fmla="val 4138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86784" y="3922776"/>
            <a:ext cx="25968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v2 — clearer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86784" y="4178808"/>
            <a:ext cx="259689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Rol verir ve alanları açık söyler. Çıktı formatını daha belirgin hale getirir.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3794760"/>
            <a:ext cx="4389120" cy="1325880"/>
          </a:xfrm>
          <a:prstGeom prst="roundRect">
            <a:avLst>
              <a:gd name="adj" fmla="val 4138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68312" y="3922776"/>
            <a:ext cx="4059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v3 — rule-based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68312" y="4178808"/>
            <a:ext cx="4059936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Etiket tanımlarını, izin verilen değerleri ve “JSON only” kuralını ekler.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554480"/>
            <a:ext cx="4389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Burada test edilen şey model değil; prompt tasarımının kalitesi.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Prompt uzadıkça bazen kalite artar, bazen de sadece maliyet artar.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Notebook bu farkı ölçmek için tasarlanmıştır.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Etiket uzayı ve yardımcı sabitler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Modelin hangi değerleri döndürmesinin kabul edilebilir olduğunu önce tanımlarız.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728216"/>
            <a:ext cx="4517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ALLOWED_PRIORITIES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"medium"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"low"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ALLOWED_CATEGORIES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"meeting"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"support"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"sales"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"other"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 kümeler “label space” kontrolü için kullanılır.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Model geçerli JSON üretse bile yanlış etiket adı döndürebilir.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Örnek: “urgent” veya “technical_support” çıktısı parse olur ama kabul edilmez.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4572000" cy="1417320"/>
          </a:xfrm>
          <a:prstGeom prst="roundRect">
            <a:avLst>
              <a:gd name="adj" fmla="val 3871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82512" y="177393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Neden önemli?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82512" y="2029968"/>
            <a:ext cx="4242816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Sadece JSON geçerli olması yetmez; değerler de önceden belirlenmiş şemaya uymalıdır. Bu, gerçek uygulamalarda entegrasyon kırılmalarını azaltır.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extract_text_from_response() fonksiyonu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API cevabının içinden modelin yazdığı metni çıkarmak için kullanılır.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486400" cy="3749040"/>
          </a:xfrm>
          <a:prstGeom prst="roundRect">
            <a:avLst>
              <a:gd name="adj" fmla="val 14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545336"/>
            <a:ext cx="515721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extract_text_from_response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hasattr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"output_text"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getattr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"content"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64592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Önce en kolay yolu dener: output_text alanı varsa onu alır.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Yoksa response.output içindeki parçalardan text alanlarını toplamaya çalışır.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 sayede SDK yanıt yapısı biraz değişse bile notebook daha dayanıklı olur.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4206240"/>
            <a:ext cx="4572000" cy="1097280"/>
          </a:xfrm>
          <a:prstGeom prst="roundRect">
            <a:avLst>
              <a:gd name="adj" fmla="val 5000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6832" y="433425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Kısa yorum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6832" y="4590288"/>
            <a:ext cx="424281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Bu fonksiyonun işi modelin cevabını “ham metin”e indirgemektir. Sonraki adımda bu ham metin JSON parse edilmeye çalışılacaktır.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Notebook’un kalbi: call_model()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Burada prompt API’ye gönderilir, süre ölçülür ve çıktı parse edilir.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572768"/>
            <a:ext cx="479145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f"Email:\n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4892040" cy="1234440"/>
          </a:xfrm>
          <a:prstGeom prst="roundRect">
            <a:avLst>
              <a:gd name="adj" fmla="val 4444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91072" y="1545336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instructions = prompt_text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91072" y="1801368"/>
            <a:ext cx="456285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Bu alan sistem/developer </a:t>
            </a:r>
            <a:r>
              <a:rPr lang="en-US" sz="1400" dirty="0" err="1">
                <a:solidFill>
                  <a:srgbClr val="6B7280"/>
                </a:solidFill>
              </a:rPr>
              <a:t>katmanı</a:t>
            </a:r>
            <a:r>
              <a:rPr lang="en-US" sz="1400" dirty="0">
                <a:solidFill>
                  <a:srgbClr val="6B7280"/>
                </a:solidFill>
              </a:rPr>
              <a:t> (system prompt) </a:t>
            </a:r>
            <a:r>
              <a:rPr lang="en-US" sz="1400" dirty="0" err="1">
                <a:solidFill>
                  <a:srgbClr val="6B7280"/>
                </a:solidFill>
              </a:rPr>
              <a:t>gibi</a:t>
            </a:r>
            <a:r>
              <a:rPr lang="en-US" sz="1400" dirty="0">
                <a:solidFill>
                  <a:srgbClr val="6B7280"/>
                </a:solidFill>
              </a:rPr>
              <a:t> düşünülebilir. Modelin nasıl davranacağını ve hangi formatı izleyeceğini burada tanımlıyoruz.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834640"/>
            <a:ext cx="4892040" cy="1005840"/>
          </a:xfrm>
          <a:prstGeom prst="roundRect">
            <a:avLst>
              <a:gd name="adj" fmla="val 5455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2962656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input = email_text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91072" y="3218688"/>
            <a:ext cx="45628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Bu ise kullanıcı girdisi gibi davranır. Yani modelin işleyeceği gerçek örnek burada verilir.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337560"/>
            <a:ext cx="52120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Aynı model kullanılır, sadece prompt_text değişir.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API çağrısı öncesi ve sonrası süre alınır: latency ölçülür.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Ardından usage alanlarından token bilgileri toplanır.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Son aşamada raw_text, JSON parse denemesinden geçirilir.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System prompt ve user prompt ayrımı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545336"/>
            <a:ext cx="51114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system_prompt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f"Classify this email:\n\n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89033" y="1276187"/>
            <a:ext cx="4572000" cy="1051560"/>
          </a:xfrm>
          <a:prstGeom prst="roundRect">
            <a:avLst>
              <a:gd name="adj" fmla="val 5217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3625" y="1404203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System / developer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3625" y="1660235"/>
            <a:ext cx="424281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Rol, kurallar, izin verilen etiketler, “JSON only” gibi kalıcı davranış kuralları.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89033" y="2556347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3625" y="2684363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User prompt / input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3625" y="2940395"/>
            <a:ext cx="42428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Her örnekte değişen gerçek içerik: burada e-posta metni.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A48B48-D42E-ACCD-834E-321DF6B0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41226" cy="679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18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score_prediction() fonksiyonu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Modelin cevabını gold label ile karşılaştıran bölüm.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577840" cy="214884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82496"/>
            <a:ext cx="524865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pred_priority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"priority"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pred_category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parsed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priority_correct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pred_priority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gold_priority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category_correct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pred_category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gold_category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exact_match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priority_correct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category_correct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Geçerli JSON yoksa skorlar sıfır döner.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priority ve category ayrı ayrı değerlendirilir.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exact_match, iki alanın da aynı anda doğru olduğu daha katı metriktir.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label_space_valid ise etiketlerin izin verilen kümeye uyup uymadığını </a:t>
            </a:r>
            <a:r>
              <a:rPr lang="en-US" sz="1800" dirty="0" err="1">
                <a:solidFill>
                  <a:srgbClr val="111827"/>
                </a:solidFill>
              </a:rPr>
              <a:t>kontrol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111827"/>
                </a:solidFill>
              </a:rPr>
              <a:t>eder</a:t>
            </a:r>
            <a:r>
              <a:rPr lang="en-US" sz="1800" dirty="0">
                <a:solidFill>
                  <a:srgbClr val="111827"/>
                </a:solidFill>
              </a:rPr>
              <a:t> (</a:t>
            </a:r>
            <a:r>
              <a:rPr lang="en-US" sz="1800" dirty="0" err="1">
                <a:solidFill>
                  <a:srgbClr val="111827"/>
                </a:solidFill>
              </a:rPr>
              <a:t>burada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111827"/>
                </a:solidFill>
              </a:rPr>
              <a:t>gösterilmiyor</a:t>
            </a:r>
            <a:r>
              <a:rPr lang="en-US" sz="1800" dirty="0">
                <a:solidFill>
                  <a:srgbClr val="111827"/>
                </a:solidFill>
              </a:rPr>
              <a:t>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0" y="1737360"/>
            <a:ext cx="4572000" cy="1143000"/>
          </a:xfrm>
          <a:prstGeom prst="roundRect">
            <a:avLst>
              <a:gd name="adj" fmla="val 4800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48272" y="186537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Neden iki doğruluk var?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48272" y="2121408"/>
            <a:ext cx="424281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Bazen model category’yi doğru bulur ama priority’yi kaçırır. Tek bir skora bakmak bu ayrıntıyı gizleyebilir.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2461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48272" y="337413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Gerçek dünya yorumu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8272" y="3630168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Üretim sistemlerinde genellikle birden fazla metrik gerekir; tek accuracy oranı yeterli olmaz.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Deney döngüsü: her prompt × her örnek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Asıl mini-eval burada gerçekleşir.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852160" cy="246888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1545336"/>
            <a:ext cx="55229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prompt_name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prompt_text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call_model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prompt_text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score_prediction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"priority"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"parsed"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all_rows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({...})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df_results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all_rows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Dış döngü promptlar arasında dolaşır.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İç döngü veri kümesindeki tüm örnekleri gezir.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Örnek sayısı × prompt sayısı kadar API çağrısı oluşur.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Her satırda hem model cevabı hem de metrikler saklanır.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0" y="1645920"/>
            <a:ext cx="4572000" cy="1051560"/>
          </a:xfrm>
          <a:prstGeom prst="roundRect">
            <a:avLst>
              <a:gd name="adj" fmla="val 5217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31152" y="177393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Örnek hesap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1152" y="2029968"/>
            <a:ext cx="424281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3 prompt ve 10 örnek varsa toplam 30 çalıştırma yapılır. Bu, küçük sınıf içi laboratuvarlar için yönetilebilir bir ölçektir.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306324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31152" y="319125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Neden tablo?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1152" y="3447288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Sonuçları satır bazında tutmak, sonra groupby ile prompt bazında özet çıkarmayı çok kolaylaştırır.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Özet metrik tablosu nasıl okunur?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df_results satır bazında; summary ise prompt bazında ortalamaları toplar.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760720" cy="288036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45336"/>
            <a:ext cx="543153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"prompt_name"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as_index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accuracy_priority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"priority_correct"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accuracy_category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"category_correct"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exact_match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"exact_match"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valid_json_rate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"valid_json"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avg_latency_sec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"latency_sec"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avg_total_tokens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"total_tokens"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"mean"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60020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39712" y="172821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accuracy_priority / category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9712" y="1984248"/>
            <a:ext cx="42428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Her alan için ayrı doğruluk. Nerede hata yapıldığını daha iyi gösterir.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269748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39712" y="282549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exact_match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39712" y="308152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 katı metrik: iki alan da aynı anda doğru olmalı.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3703320"/>
            <a:ext cx="4572000" cy="868680"/>
          </a:xfrm>
          <a:prstGeom prst="roundRect">
            <a:avLst>
              <a:gd name="adj" fmla="val 6316"/>
            </a:avLst>
          </a:prstGeom>
          <a:solidFill>
            <a:srgbClr val="EAF0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9712" y="383133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valid_json_rate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39712" y="4087368"/>
            <a:ext cx="424281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Cevapların ne kadarının parse edilebilir ve makinece kullanılabilir olduğunu gösterir.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475488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9712" y="4882896"/>
            <a:ext cx="42428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avg_total_tokens + latency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9712" y="5138928"/>
            <a:ext cx="424281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Kalite kadar maliyet ve hız boyutunu da görünür kılar; bazen en iyi prompt en pahalı prompttur.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Hata analizi hücresi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Sadece özet tabloya bakmak yetmez; hangi örneklerde neden hata yapıldı görmek gerekir.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146304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905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1591056"/>
            <a:ext cx="51114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df_results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df_results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"exact_match"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"prompt_name"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"email"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"gold_priority"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"gold_category"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"pred_priority"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"pred_category"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"valid_json"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"raw_text"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794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Bu hücre sadece başarısız örnekleri listeler.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Model support ile sales’ı mı karıştırdı?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JSON dışı açıklama mı ekledi?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Priority doğru ama category yanlış mı geldi?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16459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DDF8F4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837944"/>
            <a:ext cx="4425696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“hangi prompt kazandı?” kadar “neden kaybetti?” </a:t>
            </a:r>
            <a:r>
              <a:rPr lang="en-US" sz="1400" dirty="0" err="1">
                <a:solidFill>
                  <a:srgbClr val="6B7280"/>
                </a:solidFill>
              </a:rPr>
              <a:t>sorusu</a:t>
            </a:r>
            <a:r>
              <a:rPr lang="en-US" sz="1400" dirty="0">
                <a:solidFill>
                  <a:srgbClr val="6B7280"/>
                </a:solidFill>
              </a:rPr>
              <a:t> da </a:t>
            </a:r>
            <a:r>
              <a:rPr lang="en-US" sz="1400" dirty="0" err="1">
                <a:solidFill>
                  <a:srgbClr val="6B7280"/>
                </a:solidFill>
              </a:rPr>
              <a:t>önemlidir</a:t>
            </a:r>
            <a:r>
              <a:rPr lang="en-US" sz="1400" dirty="0">
                <a:solidFill>
                  <a:srgbClr val="6B7280"/>
                </a:solidFill>
              </a:rPr>
              <a:t>. Asıl öğrenme çoğu zaman hatalardan gelir.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24612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65392" y="3374136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Ana </a:t>
            </a:r>
            <a:r>
              <a:rPr lang="en-US" sz="1600" b="1" dirty="0" err="1">
                <a:solidFill>
                  <a:srgbClr val="111827"/>
                </a:solidFill>
              </a:rPr>
              <a:t>Mesaj</a:t>
            </a:r>
            <a:r>
              <a:rPr lang="en-US" sz="1600" b="1" dirty="0">
                <a:solidFill>
                  <a:srgbClr val="111827"/>
                </a:solidFill>
              </a:rPr>
              <a:t>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3630168"/>
            <a:ext cx="4425696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Prompt engineering bir optimizasyon problemidir; tek bir sayı her şeyi anlatmaz.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A952B1-63CB-4E29-4E3B-597AB02F7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05"/>
            <a:ext cx="11408138" cy="646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66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 </a:t>
            </a:r>
            <a:r>
              <a:rPr lang="en-US" sz="3000" b="1" dirty="0" err="1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Söz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Bu notebook’un ana dersi: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5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“Aynı model bile, farklı prompt ile ölçülebilir biçimde farklı davranır.”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48463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3419856"/>
            <a:ext cx="4517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Bir sonraki adım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675888"/>
            <a:ext cx="4517136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İsterseniz aynı yapıyı structured outputs, function/tool calling veya siber güvenlik ticket’ları için uyarlayabilirsiniz.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123444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8288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Özet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prompt → instructions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veri → input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çıktı → JSON parse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skor → gold label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karar → </a:t>
            </a:r>
            <a:r>
              <a:rPr lang="en-US" sz="2000" dirty="0" err="1">
                <a:solidFill>
                  <a:srgbClr val="FFFFFF"/>
                </a:solidFill>
              </a:rPr>
              <a:t>özet</a:t>
            </a:r>
            <a:r>
              <a:rPr lang="en-US" sz="2000" dirty="0">
                <a:solidFill>
                  <a:srgbClr val="FFFFFF"/>
                </a:solidFill>
              </a:rPr>
              <a:t> + </a:t>
            </a:r>
            <a:r>
              <a:rPr lang="en-US" sz="2000" dirty="0" err="1">
                <a:solidFill>
                  <a:srgbClr val="FFFFFF"/>
                </a:solidFill>
              </a:rPr>
              <a:t>hata</a:t>
            </a:r>
            <a:r>
              <a:rPr lang="en-US" sz="2000" dirty="0">
                <a:solidFill>
                  <a:srgbClr val="FFFFFF"/>
                </a:solidFill>
              </a:rPr>
              <a:t> </a:t>
            </a:r>
            <a:r>
              <a:rPr lang="en-US" sz="2000" dirty="0" err="1">
                <a:solidFill>
                  <a:srgbClr val="FFFFFF"/>
                </a:solidFill>
              </a:rPr>
              <a:t>analizi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1956</Words>
  <Application>Microsoft Macintosh PowerPoint</Application>
  <PresentationFormat>Widescreen</PresentationFormat>
  <Paragraphs>160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Eval Notebook Açıklaması</dc:title>
  <dc:subject>Prompt evaluation notebook walkthrough</dc:subject>
  <dc:creator>OpenAI</dc:creator>
  <cp:lastModifiedBy>Kemal  Bıçakcı</cp:lastModifiedBy>
  <cp:revision>4</cp:revision>
  <dcterms:created xsi:type="dcterms:W3CDTF">2026-04-07T06:34:16Z</dcterms:created>
  <dcterms:modified xsi:type="dcterms:W3CDTF">2026-04-07T09:28:13Z</dcterms:modified>
</cp:coreProperties>
</file>